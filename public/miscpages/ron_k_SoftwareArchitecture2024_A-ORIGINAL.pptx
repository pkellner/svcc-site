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393" r:id="rId3"/>
    <p:sldId id="402" r:id="rId4"/>
    <p:sldId id="312" r:id="rId5"/>
    <p:sldId id="313" r:id="rId6"/>
    <p:sldId id="389" r:id="rId7"/>
    <p:sldId id="399" r:id="rId8"/>
    <p:sldId id="395" r:id="rId9"/>
    <p:sldId id="314" r:id="rId10"/>
    <p:sldId id="267" r:id="rId11"/>
    <p:sldId id="400" r:id="rId12"/>
    <p:sldId id="390" r:id="rId13"/>
    <p:sldId id="269" r:id="rId14"/>
    <p:sldId id="270" r:id="rId15"/>
    <p:sldId id="268" r:id="rId16"/>
    <p:sldId id="322" r:id="rId17"/>
    <p:sldId id="288" r:id="rId18"/>
    <p:sldId id="289" r:id="rId19"/>
    <p:sldId id="323" r:id="rId20"/>
    <p:sldId id="324" r:id="rId21"/>
    <p:sldId id="326" r:id="rId22"/>
    <p:sldId id="327" r:id="rId23"/>
    <p:sldId id="328" r:id="rId24"/>
    <p:sldId id="329" r:id="rId25"/>
    <p:sldId id="365" r:id="rId26"/>
    <p:sldId id="294" r:id="rId27"/>
    <p:sldId id="330" r:id="rId28"/>
    <p:sldId id="403" r:id="rId29"/>
    <p:sldId id="331" r:id="rId30"/>
    <p:sldId id="332" r:id="rId31"/>
    <p:sldId id="298" r:id="rId32"/>
    <p:sldId id="307" r:id="rId33"/>
    <p:sldId id="413" r:id="rId34"/>
    <p:sldId id="414" r:id="rId35"/>
    <p:sldId id="409" r:id="rId36"/>
    <p:sldId id="283" r:id="rId37"/>
    <p:sldId id="284" r:id="rId38"/>
    <p:sldId id="299" r:id="rId39"/>
    <p:sldId id="341" r:id="rId40"/>
    <p:sldId id="301" r:id="rId41"/>
    <p:sldId id="391" r:id="rId42"/>
    <p:sldId id="302" r:id="rId43"/>
    <p:sldId id="405" r:id="rId44"/>
    <p:sldId id="285" r:id="rId45"/>
    <p:sldId id="392" r:id="rId46"/>
    <p:sldId id="303" r:id="rId47"/>
    <p:sldId id="304" r:id="rId48"/>
    <p:sldId id="305" r:id="rId49"/>
    <p:sldId id="344" r:id="rId50"/>
    <p:sldId id="411" r:id="rId51"/>
    <p:sldId id="415" r:id="rId52"/>
    <p:sldId id="447" r:id="rId53"/>
    <p:sldId id="449" r:id="rId54"/>
    <p:sldId id="448" r:id="rId55"/>
    <p:sldId id="450" r:id="rId56"/>
    <p:sldId id="266" r:id="rId57"/>
  </p:sldIdLst>
  <p:sldSz cx="9144000" cy="6858000" type="screen4x3"/>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cki" initials="VK" lastIdx="1" clrIdx="0">
    <p:extLst>
      <p:ext uri="{19B8F6BF-5375-455C-9EA6-DF929625EA0E}">
        <p15:presenceInfo xmlns:p15="http://schemas.microsoft.com/office/powerpoint/2012/main" userId="Vick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820D19-A9CB-4E4C-BA78-51C57B88F351}" v="10" dt="2023-11-06T21:31:29.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05" autoAdjust="0"/>
  </p:normalViewPr>
  <p:slideViewPr>
    <p:cSldViewPr>
      <p:cViewPr varScale="1">
        <p:scale>
          <a:sx n="100" d="100"/>
          <a:sy n="100" d="100"/>
        </p:scale>
        <p:origin x="1188" y="7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 Kleinman" userId="14efe2945b547bf8" providerId="LiveId" clId="{B7820D19-A9CB-4E4C-BA78-51C57B88F351}"/>
    <pc:docChg chg="undo custSel addSld delSld modSld sldOrd">
      <pc:chgData name="Ron Kleinman" userId="14efe2945b547bf8" providerId="LiveId" clId="{B7820D19-A9CB-4E4C-BA78-51C57B88F351}" dt="2023-11-06T21:36:08.777" v="1433" actId="26606"/>
      <pc:docMkLst>
        <pc:docMk/>
      </pc:docMkLst>
      <pc:sldChg chg="del">
        <pc:chgData name="Ron Kleinman" userId="14efe2945b547bf8" providerId="LiveId" clId="{B7820D19-A9CB-4E4C-BA78-51C57B88F351}" dt="2023-11-06T20:16:14.578" v="2" actId="47"/>
        <pc:sldMkLst>
          <pc:docMk/>
          <pc:sldMk cId="3366529927" sldId="257"/>
        </pc:sldMkLst>
      </pc:sldChg>
      <pc:sldChg chg="modSp mod ord">
        <pc:chgData name="Ron Kleinman" userId="14efe2945b547bf8" providerId="LiveId" clId="{B7820D19-A9CB-4E4C-BA78-51C57B88F351}" dt="2023-11-06T21:00:11.187" v="930" actId="20577"/>
        <pc:sldMkLst>
          <pc:docMk/>
          <pc:sldMk cId="782373532" sldId="268"/>
        </pc:sldMkLst>
        <pc:spChg chg="mod">
          <ac:chgData name="Ron Kleinman" userId="14efe2945b547bf8" providerId="LiveId" clId="{B7820D19-A9CB-4E4C-BA78-51C57B88F351}" dt="2023-11-06T21:00:11.187" v="930" actId="20577"/>
          <ac:spMkLst>
            <pc:docMk/>
            <pc:sldMk cId="782373532" sldId="268"/>
            <ac:spMk id="3" creationId="{00000000-0000-0000-0000-000000000000}"/>
          </ac:spMkLst>
        </pc:spChg>
      </pc:sldChg>
      <pc:sldChg chg="del">
        <pc:chgData name="Ron Kleinman" userId="14efe2945b547bf8" providerId="LiveId" clId="{B7820D19-A9CB-4E4C-BA78-51C57B88F351}" dt="2023-11-06T20:25:32.148" v="74" actId="47"/>
        <pc:sldMkLst>
          <pc:docMk/>
          <pc:sldMk cId="3937838304" sldId="286"/>
        </pc:sldMkLst>
      </pc:sldChg>
      <pc:sldChg chg="del">
        <pc:chgData name="Ron Kleinman" userId="14efe2945b547bf8" providerId="LiveId" clId="{B7820D19-A9CB-4E4C-BA78-51C57B88F351}" dt="2023-11-06T20:25:40.788" v="75" actId="47"/>
        <pc:sldMkLst>
          <pc:docMk/>
          <pc:sldMk cId="4259305392" sldId="287"/>
        </pc:sldMkLst>
      </pc:sldChg>
      <pc:sldChg chg="del">
        <pc:chgData name="Ron Kleinman" userId="14efe2945b547bf8" providerId="LiveId" clId="{B7820D19-A9CB-4E4C-BA78-51C57B88F351}" dt="2023-11-06T20:51:07.984" v="817" actId="47"/>
        <pc:sldMkLst>
          <pc:docMk/>
          <pc:sldMk cId="1444470090" sldId="296"/>
        </pc:sldMkLst>
      </pc:sldChg>
      <pc:sldChg chg="add del ord">
        <pc:chgData name="Ron Kleinman" userId="14efe2945b547bf8" providerId="LiveId" clId="{B7820D19-A9CB-4E4C-BA78-51C57B88F351}" dt="2023-11-06T20:51:43.643" v="824"/>
        <pc:sldMkLst>
          <pc:docMk/>
          <pc:sldMk cId="2622518921" sldId="307"/>
        </pc:sldMkLst>
      </pc:sldChg>
      <pc:sldChg chg="modSp mod">
        <pc:chgData name="Ron Kleinman" userId="14efe2945b547bf8" providerId="LiveId" clId="{B7820D19-A9CB-4E4C-BA78-51C57B88F351}" dt="2023-11-06T21:01:09.965" v="933" actId="15"/>
        <pc:sldMkLst>
          <pc:docMk/>
          <pc:sldMk cId="3139160846" sldId="322"/>
        </pc:sldMkLst>
        <pc:spChg chg="mod">
          <ac:chgData name="Ron Kleinman" userId="14efe2945b547bf8" providerId="LiveId" clId="{B7820D19-A9CB-4E4C-BA78-51C57B88F351}" dt="2023-11-06T21:01:09.965" v="933" actId="15"/>
          <ac:spMkLst>
            <pc:docMk/>
            <pc:sldMk cId="3139160846" sldId="322"/>
            <ac:spMk id="3" creationId="{00000000-0000-0000-0000-000000000000}"/>
          </ac:spMkLst>
        </pc:spChg>
      </pc:sldChg>
      <pc:sldChg chg="modSp mod">
        <pc:chgData name="Ron Kleinman" userId="14efe2945b547bf8" providerId="LiveId" clId="{B7820D19-A9CB-4E4C-BA78-51C57B88F351}" dt="2023-11-06T21:02:19.786" v="937" actId="20577"/>
        <pc:sldMkLst>
          <pc:docMk/>
          <pc:sldMk cId="2997494457" sldId="323"/>
        </pc:sldMkLst>
        <pc:spChg chg="mod">
          <ac:chgData name="Ron Kleinman" userId="14efe2945b547bf8" providerId="LiveId" clId="{B7820D19-A9CB-4E4C-BA78-51C57B88F351}" dt="2023-11-06T21:02:19.786" v="937" actId="20577"/>
          <ac:spMkLst>
            <pc:docMk/>
            <pc:sldMk cId="2997494457" sldId="323"/>
            <ac:spMk id="2" creationId="{00000000-0000-0000-0000-000000000000}"/>
          </ac:spMkLst>
        </pc:spChg>
      </pc:sldChg>
      <pc:sldChg chg="modSp mod">
        <pc:chgData name="Ron Kleinman" userId="14efe2945b547bf8" providerId="LiveId" clId="{B7820D19-A9CB-4E4C-BA78-51C57B88F351}" dt="2023-11-06T21:02:29.688" v="943" actId="20577"/>
        <pc:sldMkLst>
          <pc:docMk/>
          <pc:sldMk cId="291984581" sldId="324"/>
        </pc:sldMkLst>
        <pc:spChg chg="mod">
          <ac:chgData name="Ron Kleinman" userId="14efe2945b547bf8" providerId="LiveId" clId="{B7820D19-A9CB-4E4C-BA78-51C57B88F351}" dt="2023-11-06T21:02:29.688" v="943" actId="20577"/>
          <ac:spMkLst>
            <pc:docMk/>
            <pc:sldMk cId="291984581" sldId="324"/>
            <ac:spMk id="2" creationId="{00000000-0000-0000-0000-000000000000}"/>
          </ac:spMkLst>
        </pc:spChg>
      </pc:sldChg>
      <pc:sldChg chg="modSp mod">
        <pc:chgData name="Ron Kleinman" userId="14efe2945b547bf8" providerId="LiveId" clId="{B7820D19-A9CB-4E4C-BA78-51C57B88F351}" dt="2023-11-06T21:02:41.809" v="947" actId="20577"/>
        <pc:sldMkLst>
          <pc:docMk/>
          <pc:sldMk cId="1988081999" sldId="326"/>
        </pc:sldMkLst>
        <pc:spChg chg="mod">
          <ac:chgData name="Ron Kleinman" userId="14efe2945b547bf8" providerId="LiveId" clId="{B7820D19-A9CB-4E4C-BA78-51C57B88F351}" dt="2023-11-06T21:02:41.809" v="947" actId="20577"/>
          <ac:spMkLst>
            <pc:docMk/>
            <pc:sldMk cId="1988081999" sldId="326"/>
            <ac:spMk id="2" creationId="{00000000-0000-0000-0000-000000000000}"/>
          </ac:spMkLst>
        </pc:spChg>
      </pc:sldChg>
      <pc:sldChg chg="modSp mod">
        <pc:chgData name="Ron Kleinman" userId="14efe2945b547bf8" providerId="LiveId" clId="{B7820D19-A9CB-4E4C-BA78-51C57B88F351}" dt="2023-11-06T21:02:58.069" v="948" actId="115"/>
        <pc:sldMkLst>
          <pc:docMk/>
          <pc:sldMk cId="626755251" sldId="327"/>
        </pc:sldMkLst>
        <pc:spChg chg="mod">
          <ac:chgData name="Ron Kleinman" userId="14efe2945b547bf8" providerId="LiveId" clId="{B7820D19-A9CB-4E4C-BA78-51C57B88F351}" dt="2023-11-06T21:02:58.069" v="948" actId="115"/>
          <ac:spMkLst>
            <pc:docMk/>
            <pc:sldMk cId="626755251" sldId="327"/>
            <ac:spMk id="3" creationId="{00000000-0000-0000-0000-000000000000}"/>
          </ac:spMkLst>
        </pc:spChg>
      </pc:sldChg>
      <pc:sldChg chg="del">
        <pc:chgData name="Ron Kleinman" userId="14efe2945b547bf8" providerId="LiveId" clId="{B7820D19-A9CB-4E4C-BA78-51C57B88F351}" dt="2023-11-06T20:15:35.428" v="0" actId="47"/>
        <pc:sldMkLst>
          <pc:docMk/>
          <pc:sldMk cId="2986401081" sldId="337"/>
        </pc:sldMkLst>
      </pc:sldChg>
      <pc:sldChg chg="del">
        <pc:chgData name="Ron Kleinman" userId="14efe2945b547bf8" providerId="LiveId" clId="{B7820D19-A9CB-4E4C-BA78-51C57B88F351}" dt="2023-11-06T20:51:09.639" v="818" actId="47"/>
        <pc:sldMkLst>
          <pc:docMk/>
          <pc:sldMk cId="824220357" sldId="338"/>
        </pc:sldMkLst>
      </pc:sldChg>
      <pc:sldChg chg="del">
        <pc:chgData name="Ron Kleinman" userId="14efe2945b547bf8" providerId="LiveId" clId="{B7820D19-A9CB-4E4C-BA78-51C57B88F351}" dt="2023-11-06T20:51:06.315" v="816" actId="47"/>
        <pc:sldMkLst>
          <pc:docMk/>
          <pc:sldMk cId="3702079894" sldId="339"/>
        </pc:sldMkLst>
      </pc:sldChg>
      <pc:sldChg chg="del">
        <pc:chgData name="Ron Kleinman" userId="14efe2945b547bf8" providerId="LiveId" clId="{B7820D19-A9CB-4E4C-BA78-51C57B88F351}" dt="2023-11-06T20:15:37.051" v="1" actId="47"/>
        <pc:sldMkLst>
          <pc:docMk/>
          <pc:sldMk cId="4038758877" sldId="368"/>
        </pc:sldMkLst>
      </pc:sldChg>
      <pc:sldChg chg="del">
        <pc:chgData name="Ron Kleinman" userId="14efe2945b547bf8" providerId="LiveId" clId="{B7820D19-A9CB-4E4C-BA78-51C57B88F351}" dt="2023-11-06T20:51:02.975" v="814" actId="47"/>
        <pc:sldMkLst>
          <pc:docMk/>
          <pc:sldMk cId="4109394884" sldId="370"/>
        </pc:sldMkLst>
      </pc:sldChg>
      <pc:sldChg chg="del">
        <pc:chgData name="Ron Kleinman" userId="14efe2945b547bf8" providerId="LiveId" clId="{B7820D19-A9CB-4E4C-BA78-51C57B88F351}" dt="2023-11-06T20:27:36.030" v="84" actId="47"/>
        <pc:sldMkLst>
          <pc:docMk/>
          <pc:sldMk cId="1424721660" sldId="373"/>
        </pc:sldMkLst>
      </pc:sldChg>
      <pc:sldChg chg="del">
        <pc:chgData name="Ron Kleinman" userId="14efe2945b547bf8" providerId="LiveId" clId="{B7820D19-A9CB-4E4C-BA78-51C57B88F351}" dt="2023-11-06T20:51:04.650" v="815" actId="47"/>
        <pc:sldMkLst>
          <pc:docMk/>
          <pc:sldMk cId="2759604703" sldId="383"/>
        </pc:sldMkLst>
      </pc:sldChg>
      <pc:sldChg chg="modSp mod">
        <pc:chgData name="Ron Kleinman" userId="14efe2945b547bf8" providerId="LiveId" clId="{B7820D19-A9CB-4E4C-BA78-51C57B88F351}" dt="2023-11-06T20:27:15.538" v="83" actId="313"/>
        <pc:sldMkLst>
          <pc:docMk/>
          <pc:sldMk cId="1552503417" sldId="392"/>
        </pc:sldMkLst>
        <pc:spChg chg="mod">
          <ac:chgData name="Ron Kleinman" userId="14efe2945b547bf8" providerId="LiveId" clId="{B7820D19-A9CB-4E4C-BA78-51C57B88F351}" dt="2023-11-06T20:27:15.538" v="83" actId="313"/>
          <ac:spMkLst>
            <pc:docMk/>
            <pc:sldMk cId="1552503417" sldId="392"/>
            <ac:spMk id="6" creationId="{DEB98C3B-10E2-42B0-85B1-62AB5BDB7774}"/>
          </ac:spMkLst>
        </pc:spChg>
      </pc:sldChg>
      <pc:sldChg chg="modSp mod">
        <pc:chgData name="Ron Kleinman" userId="14efe2945b547bf8" providerId="LiveId" clId="{B7820D19-A9CB-4E4C-BA78-51C57B88F351}" dt="2023-11-06T21:11:07.586" v="1014" actId="20577"/>
        <pc:sldMkLst>
          <pc:docMk/>
          <pc:sldMk cId="1833459646" sldId="393"/>
        </pc:sldMkLst>
        <pc:spChg chg="mod">
          <ac:chgData name="Ron Kleinman" userId="14efe2945b547bf8" providerId="LiveId" clId="{B7820D19-A9CB-4E4C-BA78-51C57B88F351}" dt="2023-11-06T21:11:07.586" v="1014" actId="20577"/>
          <ac:spMkLst>
            <pc:docMk/>
            <pc:sldMk cId="1833459646" sldId="393"/>
            <ac:spMk id="3" creationId="{F3F076A9-54C9-4DF3-8948-A2D56B8473FF}"/>
          </ac:spMkLst>
        </pc:spChg>
        <pc:picChg chg="mod">
          <ac:chgData name="Ron Kleinman" userId="14efe2945b547bf8" providerId="LiveId" clId="{B7820D19-A9CB-4E4C-BA78-51C57B88F351}" dt="2023-11-06T21:09:52.712" v="965" actId="1076"/>
          <ac:picMkLst>
            <pc:docMk/>
            <pc:sldMk cId="1833459646" sldId="393"/>
            <ac:picMk id="4" creationId="{1FFFDCEC-80CD-46A4-9F44-B815CC082A1F}"/>
          </ac:picMkLst>
        </pc:picChg>
      </pc:sldChg>
      <pc:sldChg chg="modSp mod">
        <pc:chgData name="Ron Kleinman" userId="14efe2945b547bf8" providerId="LiveId" clId="{B7820D19-A9CB-4E4C-BA78-51C57B88F351}" dt="2023-11-06T20:53:45.535" v="858" actId="20577"/>
        <pc:sldMkLst>
          <pc:docMk/>
          <pc:sldMk cId="3685211773" sldId="402"/>
        </pc:sldMkLst>
        <pc:spChg chg="mod">
          <ac:chgData name="Ron Kleinman" userId="14efe2945b547bf8" providerId="LiveId" clId="{B7820D19-A9CB-4E4C-BA78-51C57B88F351}" dt="2023-11-06T20:53:45.535" v="858" actId="20577"/>
          <ac:spMkLst>
            <pc:docMk/>
            <pc:sldMk cId="3685211773" sldId="402"/>
            <ac:spMk id="2" creationId="{D7740360-747C-43E5-ACC8-0481FFCCA594}"/>
          </ac:spMkLst>
        </pc:spChg>
      </pc:sldChg>
      <pc:sldChg chg="del">
        <pc:chgData name="Ron Kleinman" userId="14efe2945b547bf8" providerId="LiveId" clId="{B7820D19-A9CB-4E4C-BA78-51C57B88F351}" dt="2023-11-06T20:51:16.474" v="820" actId="47"/>
        <pc:sldMkLst>
          <pc:docMk/>
          <pc:sldMk cId="371358072" sldId="406"/>
        </pc:sldMkLst>
      </pc:sldChg>
      <pc:sldChg chg="del">
        <pc:chgData name="Ron Kleinman" userId="14efe2945b547bf8" providerId="LiveId" clId="{B7820D19-A9CB-4E4C-BA78-51C57B88F351}" dt="2023-11-06T20:51:12.565" v="819" actId="47"/>
        <pc:sldMkLst>
          <pc:docMk/>
          <pc:sldMk cId="44884482" sldId="407"/>
        </pc:sldMkLst>
      </pc:sldChg>
      <pc:sldChg chg="modSp new del mod">
        <pc:chgData name="Ron Kleinman" userId="14efe2945b547bf8" providerId="LiveId" clId="{B7820D19-A9CB-4E4C-BA78-51C57B88F351}" dt="2023-11-06T20:51:46.451" v="825" actId="47"/>
        <pc:sldMkLst>
          <pc:docMk/>
          <pc:sldMk cId="2041777611" sldId="408"/>
        </pc:sldMkLst>
        <pc:spChg chg="mod">
          <ac:chgData name="Ron Kleinman" userId="14efe2945b547bf8" providerId="LiveId" clId="{B7820D19-A9CB-4E4C-BA78-51C57B88F351}" dt="2023-11-06T20:23:38.166" v="70" actId="1076"/>
          <ac:spMkLst>
            <pc:docMk/>
            <pc:sldMk cId="2041777611" sldId="408"/>
            <ac:spMk id="2" creationId="{85A6A063-8FF7-B33E-4DBC-7A0DE343819F}"/>
          </ac:spMkLst>
        </pc:spChg>
        <pc:spChg chg="mod">
          <ac:chgData name="Ron Kleinman" userId="14efe2945b547bf8" providerId="LiveId" clId="{B7820D19-A9CB-4E4C-BA78-51C57B88F351}" dt="2023-11-06T20:23:01.604" v="37" actId="1076"/>
          <ac:spMkLst>
            <pc:docMk/>
            <pc:sldMk cId="2041777611" sldId="408"/>
            <ac:spMk id="3" creationId="{2DD29E0B-2D48-8FB8-963E-ED4122CC8429}"/>
          </ac:spMkLst>
        </pc:spChg>
      </pc:sldChg>
      <pc:sldChg chg="add ord">
        <pc:chgData name="Ron Kleinman" userId="14efe2945b547bf8" providerId="LiveId" clId="{B7820D19-A9CB-4E4C-BA78-51C57B88F351}" dt="2023-11-06T20:23:51.925" v="73"/>
        <pc:sldMkLst>
          <pc:docMk/>
          <pc:sldMk cId="1489014045" sldId="409"/>
        </pc:sldMkLst>
      </pc:sldChg>
      <pc:sldChg chg="delSp modSp new del mod">
        <pc:chgData name="Ron Kleinman" userId="14efe2945b547bf8" providerId="LiveId" clId="{B7820D19-A9CB-4E4C-BA78-51C57B88F351}" dt="2023-11-06T20:50:45.292" v="813" actId="47"/>
        <pc:sldMkLst>
          <pc:docMk/>
          <pc:sldMk cId="2986573005" sldId="410"/>
        </pc:sldMkLst>
        <pc:spChg chg="mod">
          <ac:chgData name="Ron Kleinman" userId="14efe2945b547bf8" providerId="LiveId" clId="{B7820D19-A9CB-4E4C-BA78-51C57B88F351}" dt="2023-11-06T20:28:50.028" v="86" actId="1076"/>
          <ac:spMkLst>
            <pc:docMk/>
            <pc:sldMk cId="2986573005" sldId="410"/>
            <ac:spMk id="2" creationId="{D283B893-C785-A75E-90A0-DDF5A2052A6D}"/>
          </ac:spMkLst>
        </pc:spChg>
        <pc:spChg chg="del">
          <ac:chgData name="Ron Kleinman" userId="14efe2945b547bf8" providerId="LiveId" clId="{B7820D19-A9CB-4E4C-BA78-51C57B88F351}" dt="2023-11-06T20:28:54.760" v="87" actId="478"/>
          <ac:spMkLst>
            <pc:docMk/>
            <pc:sldMk cId="2986573005" sldId="410"/>
            <ac:spMk id="3" creationId="{ADDD5AB1-38D9-23AE-1102-563F03D7B9B7}"/>
          </ac:spMkLst>
        </pc:spChg>
      </pc:sldChg>
      <pc:sldChg chg="delSp modSp add mod">
        <pc:chgData name="Ron Kleinman" userId="14efe2945b547bf8" providerId="LiveId" clId="{B7820D19-A9CB-4E4C-BA78-51C57B88F351}" dt="2023-11-06T20:50:37.059" v="812" actId="1076"/>
        <pc:sldMkLst>
          <pc:docMk/>
          <pc:sldMk cId="1478466488" sldId="411"/>
        </pc:sldMkLst>
        <pc:spChg chg="mod">
          <ac:chgData name="Ron Kleinman" userId="14efe2945b547bf8" providerId="LiveId" clId="{B7820D19-A9CB-4E4C-BA78-51C57B88F351}" dt="2023-11-06T20:49:13.620" v="803" actId="20577"/>
          <ac:spMkLst>
            <pc:docMk/>
            <pc:sldMk cId="1478466488" sldId="411"/>
            <ac:spMk id="2" creationId="{00000000-0000-0000-0000-000000000000}"/>
          </ac:spMkLst>
        </pc:spChg>
        <pc:spChg chg="del mod">
          <ac:chgData name="Ron Kleinman" userId="14efe2945b547bf8" providerId="LiveId" clId="{B7820D19-A9CB-4E4C-BA78-51C57B88F351}" dt="2023-11-06T20:34:32.872" v="257" actId="478"/>
          <ac:spMkLst>
            <pc:docMk/>
            <pc:sldMk cId="1478466488" sldId="411"/>
            <ac:spMk id="3" creationId="{00000000-0000-0000-0000-000000000000}"/>
          </ac:spMkLst>
        </pc:spChg>
        <pc:spChg chg="mod">
          <ac:chgData name="Ron Kleinman" userId="14efe2945b547bf8" providerId="LiveId" clId="{B7820D19-A9CB-4E4C-BA78-51C57B88F351}" dt="2023-11-06T20:49:21.554" v="804" actId="1076"/>
          <ac:spMkLst>
            <pc:docMk/>
            <pc:sldMk cId="1478466488" sldId="411"/>
            <ac:spMk id="5" creationId="{00000000-0000-0000-0000-000000000000}"/>
          </ac:spMkLst>
        </pc:spChg>
        <pc:spChg chg="mod">
          <ac:chgData name="Ron Kleinman" userId="14efe2945b547bf8" providerId="LiveId" clId="{B7820D19-A9CB-4E4C-BA78-51C57B88F351}" dt="2023-11-06T20:41:22.709" v="503" actId="1035"/>
          <ac:spMkLst>
            <pc:docMk/>
            <pc:sldMk cId="1478466488" sldId="411"/>
            <ac:spMk id="11" creationId="{00000000-0000-0000-0000-000000000000}"/>
          </ac:spMkLst>
        </pc:spChg>
        <pc:spChg chg="del">
          <ac:chgData name="Ron Kleinman" userId="14efe2945b547bf8" providerId="LiveId" clId="{B7820D19-A9CB-4E4C-BA78-51C57B88F351}" dt="2023-11-06T20:30:42.028" v="161" actId="478"/>
          <ac:spMkLst>
            <pc:docMk/>
            <pc:sldMk cId="1478466488" sldId="411"/>
            <ac:spMk id="12" creationId="{00000000-0000-0000-0000-000000000000}"/>
          </ac:spMkLst>
        </pc:spChg>
        <pc:spChg chg="mod">
          <ac:chgData name="Ron Kleinman" userId="14efe2945b547bf8" providerId="LiveId" clId="{B7820D19-A9CB-4E4C-BA78-51C57B88F351}" dt="2023-11-06T20:41:22.709" v="503" actId="1035"/>
          <ac:spMkLst>
            <pc:docMk/>
            <pc:sldMk cId="1478466488" sldId="411"/>
            <ac:spMk id="14" creationId="{00000000-0000-0000-0000-000000000000}"/>
          </ac:spMkLst>
        </pc:spChg>
        <pc:spChg chg="mod">
          <ac:chgData name="Ron Kleinman" userId="14efe2945b547bf8" providerId="LiveId" clId="{B7820D19-A9CB-4E4C-BA78-51C57B88F351}" dt="2023-11-06T20:50:37.059" v="812" actId="1076"/>
          <ac:spMkLst>
            <pc:docMk/>
            <pc:sldMk cId="1478466488" sldId="411"/>
            <ac:spMk id="15" creationId="{00000000-0000-0000-0000-000000000000}"/>
          </ac:spMkLst>
        </pc:spChg>
        <pc:spChg chg="del">
          <ac:chgData name="Ron Kleinman" userId="14efe2945b547bf8" providerId="LiveId" clId="{B7820D19-A9CB-4E4C-BA78-51C57B88F351}" dt="2023-11-06T20:33:27.401" v="196" actId="478"/>
          <ac:spMkLst>
            <pc:docMk/>
            <pc:sldMk cId="1478466488" sldId="411"/>
            <ac:spMk id="16" creationId="{00000000-0000-0000-0000-000000000000}"/>
          </ac:spMkLst>
        </pc:spChg>
        <pc:spChg chg="del mod">
          <ac:chgData name="Ron Kleinman" userId="14efe2945b547bf8" providerId="LiveId" clId="{B7820D19-A9CB-4E4C-BA78-51C57B88F351}" dt="2023-11-06T20:34:36.822" v="258" actId="478"/>
          <ac:spMkLst>
            <pc:docMk/>
            <pc:sldMk cId="1478466488" sldId="411"/>
            <ac:spMk id="17" creationId="{00000000-0000-0000-0000-000000000000}"/>
          </ac:spMkLst>
        </pc:spChg>
        <pc:spChg chg="del">
          <ac:chgData name="Ron Kleinman" userId="14efe2945b547bf8" providerId="LiveId" clId="{B7820D19-A9CB-4E4C-BA78-51C57B88F351}" dt="2023-11-06T20:29:56.886" v="134" actId="478"/>
          <ac:spMkLst>
            <pc:docMk/>
            <pc:sldMk cId="1478466488" sldId="411"/>
            <ac:spMk id="34" creationId="{00000000-0000-0000-0000-000000000000}"/>
          </ac:spMkLst>
        </pc:spChg>
        <pc:spChg chg="del">
          <ac:chgData name="Ron Kleinman" userId="14efe2945b547bf8" providerId="LiveId" clId="{B7820D19-A9CB-4E4C-BA78-51C57B88F351}" dt="2023-11-06T20:30:27.384" v="158" actId="478"/>
          <ac:spMkLst>
            <pc:docMk/>
            <pc:sldMk cId="1478466488" sldId="411"/>
            <ac:spMk id="35" creationId="{00000000-0000-0000-0000-000000000000}"/>
          </ac:spMkLst>
        </pc:spChg>
        <pc:spChg chg="del">
          <ac:chgData name="Ron Kleinman" userId="14efe2945b547bf8" providerId="LiveId" clId="{B7820D19-A9CB-4E4C-BA78-51C57B88F351}" dt="2023-11-06T20:33:22.533" v="195" actId="478"/>
          <ac:spMkLst>
            <pc:docMk/>
            <pc:sldMk cId="1478466488" sldId="411"/>
            <ac:spMk id="38" creationId="{00000000-0000-0000-0000-000000000000}"/>
          </ac:spMkLst>
        </pc:spChg>
        <pc:spChg chg="del">
          <ac:chgData name="Ron Kleinman" userId="14efe2945b547bf8" providerId="LiveId" clId="{B7820D19-A9CB-4E4C-BA78-51C57B88F351}" dt="2023-11-06T20:31:24.779" v="179" actId="478"/>
          <ac:spMkLst>
            <pc:docMk/>
            <pc:sldMk cId="1478466488" sldId="411"/>
            <ac:spMk id="48" creationId="{00000000-0000-0000-0000-000000000000}"/>
          </ac:spMkLst>
        </pc:spChg>
        <pc:cxnChg chg="del mod">
          <ac:chgData name="Ron Kleinman" userId="14efe2945b547bf8" providerId="LiveId" clId="{B7820D19-A9CB-4E4C-BA78-51C57B88F351}" dt="2023-11-06T20:30:44.843" v="162" actId="478"/>
          <ac:cxnSpMkLst>
            <pc:docMk/>
            <pc:sldMk cId="1478466488" sldId="411"/>
            <ac:cxnSpMk id="13" creationId="{00000000-0000-0000-0000-000000000000}"/>
          </ac:cxnSpMkLst>
        </pc:cxnChg>
        <pc:cxnChg chg="del">
          <ac:chgData name="Ron Kleinman" userId="14efe2945b547bf8" providerId="LiveId" clId="{B7820D19-A9CB-4E4C-BA78-51C57B88F351}" dt="2023-11-06T20:30:22.622" v="157" actId="478"/>
          <ac:cxnSpMkLst>
            <pc:docMk/>
            <pc:sldMk cId="1478466488" sldId="411"/>
            <ac:cxnSpMk id="20" creationId="{00000000-0000-0000-0000-000000000000}"/>
          </ac:cxnSpMkLst>
        </pc:cxnChg>
      </pc:sldChg>
      <pc:sldChg chg="delSp add del setBg delDesignElem">
        <pc:chgData name="Ron Kleinman" userId="14efe2945b547bf8" providerId="LiveId" clId="{B7820D19-A9CB-4E4C-BA78-51C57B88F351}" dt="2023-11-06T20:57:52.042" v="865" actId="47"/>
        <pc:sldMkLst>
          <pc:docMk/>
          <pc:sldMk cId="3939801189" sldId="412"/>
        </pc:sldMkLst>
        <pc:spChg chg="del">
          <ac:chgData name="Ron Kleinman" userId="14efe2945b547bf8" providerId="LiveId" clId="{B7820D19-A9CB-4E4C-BA78-51C57B88F351}" dt="2023-11-06T20:57:13.031" v="861"/>
          <ac:spMkLst>
            <pc:docMk/>
            <pc:sldMk cId="3939801189" sldId="412"/>
            <ac:spMk id="10" creationId="{7CA0DAA6-33B8-4A25-810D-2F4D816FB40E}"/>
          </ac:spMkLst>
        </pc:spChg>
      </pc:sldChg>
      <pc:sldChg chg="add ord">
        <pc:chgData name="Ron Kleinman" userId="14efe2945b547bf8" providerId="LiveId" clId="{B7820D19-A9CB-4E4C-BA78-51C57B88F351}" dt="2023-11-06T20:57:46.782" v="864"/>
        <pc:sldMkLst>
          <pc:docMk/>
          <pc:sldMk cId="1552246335" sldId="413"/>
        </pc:sldMkLst>
      </pc:sldChg>
      <pc:sldChg chg="delSp modSp add mod setBg delDesignElem">
        <pc:chgData name="Ron Kleinman" userId="14efe2945b547bf8" providerId="LiveId" clId="{B7820D19-A9CB-4E4C-BA78-51C57B88F351}" dt="2023-11-06T21:14:21.206" v="1106" actId="20577"/>
        <pc:sldMkLst>
          <pc:docMk/>
          <pc:sldMk cId="3709890143" sldId="414"/>
        </pc:sldMkLst>
        <pc:spChg chg="mod">
          <ac:chgData name="Ron Kleinman" userId="14efe2945b547bf8" providerId="LiveId" clId="{B7820D19-A9CB-4E4C-BA78-51C57B88F351}" dt="2023-11-06T21:05:52.719" v="959" actId="27636"/>
          <ac:spMkLst>
            <pc:docMk/>
            <pc:sldMk cId="3709890143" sldId="414"/>
            <ac:spMk id="2" creationId="{67F93746-30D2-4485-978B-ECCBCAFEC2E1}"/>
          </ac:spMkLst>
        </pc:spChg>
        <pc:spChg chg="mod">
          <ac:chgData name="Ron Kleinman" userId="14efe2945b547bf8" providerId="LiveId" clId="{B7820D19-A9CB-4E4C-BA78-51C57B88F351}" dt="2023-11-06T21:14:21.206" v="1106" actId="20577"/>
          <ac:spMkLst>
            <pc:docMk/>
            <pc:sldMk cId="3709890143" sldId="414"/>
            <ac:spMk id="3" creationId="{F3F076A9-54C9-4DF3-8948-A2D56B8473FF}"/>
          </ac:spMkLst>
        </pc:spChg>
        <pc:spChg chg="del">
          <ac:chgData name="Ron Kleinman" userId="14efe2945b547bf8" providerId="LiveId" clId="{B7820D19-A9CB-4E4C-BA78-51C57B88F351}" dt="2023-11-06T21:05:09.915" v="950"/>
          <ac:spMkLst>
            <pc:docMk/>
            <pc:sldMk cId="3709890143" sldId="414"/>
            <ac:spMk id="9" creationId="{45D37F4E-DDB4-456B-97E0-9937730A039F}"/>
          </ac:spMkLst>
        </pc:spChg>
        <pc:spChg chg="del">
          <ac:chgData name="Ron Kleinman" userId="14efe2945b547bf8" providerId="LiveId" clId="{B7820D19-A9CB-4E4C-BA78-51C57B88F351}" dt="2023-11-06T21:05:09.915" v="950"/>
          <ac:spMkLst>
            <pc:docMk/>
            <pc:sldMk cId="3709890143" sldId="414"/>
            <ac:spMk id="11" creationId="{B2DD41CD-8F47-4F56-AD12-4E2FF7696987}"/>
          </ac:spMkLst>
        </pc:spChg>
        <pc:picChg chg="mod">
          <ac:chgData name="Ron Kleinman" userId="14efe2945b547bf8" providerId="LiveId" clId="{B7820D19-A9CB-4E4C-BA78-51C57B88F351}" dt="2023-11-06T21:13:38.089" v="1102" actId="1076"/>
          <ac:picMkLst>
            <pc:docMk/>
            <pc:sldMk cId="3709890143" sldId="414"/>
            <ac:picMk id="4" creationId="{1FFFDCEC-80CD-46A4-9F44-B815CC082A1F}"/>
          </ac:picMkLst>
        </pc:picChg>
      </pc:sldChg>
      <pc:sldChg chg="add">
        <pc:chgData name="Ron Kleinman" userId="14efe2945b547bf8" providerId="LiveId" clId="{B7820D19-A9CB-4E4C-BA78-51C57B88F351}" dt="2023-11-06T21:18:19.471" v="1108"/>
        <pc:sldMkLst>
          <pc:docMk/>
          <pc:sldMk cId="26167566" sldId="415"/>
        </pc:sldMkLst>
      </pc:sldChg>
      <pc:sldChg chg="addSp modSp new del mod">
        <pc:chgData name="Ron Kleinman" userId="14efe2945b547bf8" providerId="LiveId" clId="{B7820D19-A9CB-4E4C-BA78-51C57B88F351}" dt="2023-11-06T21:14:28.565" v="1107" actId="47"/>
        <pc:sldMkLst>
          <pc:docMk/>
          <pc:sldMk cId="855285405" sldId="415"/>
        </pc:sldMkLst>
        <pc:spChg chg="add mod">
          <ac:chgData name="Ron Kleinman" userId="14efe2945b547bf8" providerId="LiveId" clId="{B7820D19-A9CB-4E4C-BA78-51C57B88F351}" dt="2023-11-06T21:12:43.663" v="1097" actId="20577"/>
          <ac:spMkLst>
            <pc:docMk/>
            <pc:sldMk cId="855285405" sldId="415"/>
            <ac:spMk id="4" creationId="{0DC63523-8E0D-FBA3-4486-CC80E3E2C42E}"/>
          </ac:spMkLst>
        </pc:spChg>
      </pc:sldChg>
      <pc:sldChg chg="add del">
        <pc:chgData name="Ron Kleinman" userId="14efe2945b547bf8" providerId="LiveId" clId="{B7820D19-A9CB-4E4C-BA78-51C57B88F351}" dt="2023-11-06T21:20:30.907" v="1111" actId="47"/>
        <pc:sldMkLst>
          <pc:docMk/>
          <pc:sldMk cId="690533397" sldId="416"/>
        </pc:sldMkLst>
      </pc:sldChg>
      <pc:sldChg chg="modSp add mod">
        <pc:chgData name="Ron Kleinman" userId="14efe2945b547bf8" providerId="LiveId" clId="{B7820D19-A9CB-4E4C-BA78-51C57B88F351}" dt="2023-11-06T21:25:49.981" v="1361" actId="20577"/>
        <pc:sldMkLst>
          <pc:docMk/>
          <pc:sldMk cId="3024901275" sldId="447"/>
        </pc:sldMkLst>
        <pc:spChg chg="mod">
          <ac:chgData name="Ron Kleinman" userId="14efe2945b547bf8" providerId="LiveId" clId="{B7820D19-A9CB-4E4C-BA78-51C57B88F351}" dt="2023-11-06T21:20:40.041" v="1112" actId="20577"/>
          <ac:spMkLst>
            <pc:docMk/>
            <pc:sldMk cId="3024901275" sldId="447"/>
            <ac:spMk id="2" creationId="{00000000-0000-0000-0000-000000000000}"/>
          </ac:spMkLst>
        </pc:spChg>
        <pc:spChg chg="mod">
          <ac:chgData name="Ron Kleinman" userId="14efe2945b547bf8" providerId="LiveId" clId="{B7820D19-A9CB-4E4C-BA78-51C57B88F351}" dt="2023-11-06T21:25:49.981" v="1361" actId="20577"/>
          <ac:spMkLst>
            <pc:docMk/>
            <pc:sldMk cId="3024901275" sldId="447"/>
            <ac:spMk id="3" creationId="{00000000-0000-0000-0000-000000000000}"/>
          </ac:spMkLst>
        </pc:spChg>
      </pc:sldChg>
      <pc:sldChg chg="add">
        <pc:chgData name="Ron Kleinman" userId="14efe2945b547bf8" providerId="LiveId" clId="{B7820D19-A9CB-4E4C-BA78-51C57B88F351}" dt="2023-11-06T21:20:02.449" v="1110"/>
        <pc:sldMkLst>
          <pc:docMk/>
          <pc:sldMk cId="1652326704" sldId="448"/>
        </pc:sldMkLst>
      </pc:sldChg>
      <pc:sldChg chg="add">
        <pc:chgData name="Ron Kleinman" userId="14efe2945b547bf8" providerId="LiveId" clId="{B7820D19-A9CB-4E4C-BA78-51C57B88F351}" dt="2023-11-06T21:20:02.449" v="1110"/>
        <pc:sldMkLst>
          <pc:docMk/>
          <pc:sldMk cId="1056788260" sldId="449"/>
        </pc:sldMkLst>
      </pc:sldChg>
      <pc:sldChg chg="addSp modSp new mod setBg">
        <pc:chgData name="Ron Kleinman" userId="14efe2945b547bf8" providerId="LiveId" clId="{B7820D19-A9CB-4E4C-BA78-51C57B88F351}" dt="2023-11-06T21:36:08.777" v="1433" actId="26606"/>
        <pc:sldMkLst>
          <pc:docMk/>
          <pc:sldMk cId="4085017218" sldId="450"/>
        </pc:sldMkLst>
        <pc:spChg chg="mod ord">
          <ac:chgData name="Ron Kleinman" userId="14efe2945b547bf8" providerId="LiveId" clId="{B7820D19-A9CB-4E4C-BA78-51C57B88F351}" dt="2023-11-06T21:36:08.777" v="1433" actId="26606"/>
          <ac:spMkLst>
            <pc:docMk/>
            <pc:sldMk cId="4085017218" sldId="450"/>
            <ac:spMk id="2" creationId="{1B0077C1-65A3-8FCB-00C5-33CADAE84399}"/>
          </ac:spMkLst>
        </pc:spChg>
        <pc:spChg chg="add">
          <ac:chgData name="Ron Kleinman" userId="14efe2945b547bf8" providerId="LiveId" clId="{B7820D19-A9CB-4E4C-BA78-51C57B88F351}" dt="2023-11-06T21:36:08.777" v="1433" actId="26606"/>
          <ac:spMkLst>
            <pc:docMk/>
            <pc:sldMk cId="4085017218" sldId="450"/>
            <ac:spMk id="9" creationId="{9203DE33-2CD4-4CA8-9AF3-37C3B65133B0}"/>
          </ac:spMkLst>
        </pc:spChg>
        <pc:spChg chg="add">
          <ac:chgData name="Ron Kleinman" userId="14efe2945b547bf8" providerId="LiveId" clId="{B7820D19-A9CB-4E4C-BA78-51C57B88F351}" dt="2023-11-06T21:36:08.777" v="1433" actId="26606"/>
          <ac:spMkLst>
            <pc:docMk/>
            <pc:sldMk cId="4085017218" sldId="450"/>
            <ac:spMk id="11" creationId="{0AF57B88-1D4C-41FA-A761-EC1DD10C35CB}"/>
          </ac:spMkLst>
        </pc:spChg>
        <pc:spChg chg="add">
          <ac:chgData name="Ron Kleinman" userId="14efe2945b547bf8" providerId="LiveId" clId="{B7820D19-A9CB-4E4C-BA78-51C57B88F351}" dt="2023-11-06T21:36:08.777" v="1433" actId="26606"/>
          <ac:spMkLst>
            <pc:docMk/>
            <pc:sldMk cId="4085017218" sldId="450"/>
            <ac:spMk id="13" creationId="{D2548F45-5164-4ABB-8212-7F293FDED8D4}"/>
          </ac:spMkLst>
        </pc:spChg>
        <pc:spChg chg="add">
          <ac:chgData name="Ron Kleinman" userId="14efe2945b547bf8" providerId="LiveId" clId="{B7820D19-A9CB-4E4C-BA78-51C57B88F351}" dt="2023-11-06T21:36:08.777" v="1433" actId="26606"/>
          <ac:spMkLst>
            <pc:docMk/>
            <pc:sldMk cId="4085017218" sldId="450"/>
            <ac:spMk id="15" creationId="{5E81CCFB-7BEF-4186-86FB-D09450B4D02D}"/>
          </ac:spMkLst>
        </pc:spChg>
        <pc:picChg chg="add mod">
          <ac:chgData name="Ron Kleinman" userId="14efe2945b547bf8" providerId="LiveId" clId="{B7820D19-A9CB-4E4C-BA78-51C57B88F351}" dt="2023-11-06T21:36:08.777" v="1433" actId="26606"/>
          <ac:picMkLst>
            <pc:docMk/>
            <pc:sldMk cId="4085017218" sldId="450"/>
            <ac:picMk id="4" creationId="{7563DD15-1EE4-B2C7-F7CA-B72D5594DAC9}"/>
          </ac:picMkLst>
        </pc:picChg>
      </pc:sldChg>
      <pc:sldChg chg="add del">
        <pc:chgData name="Ron Kleinman" userId="14efe2945b547bf8" providerId="LiveId" clId="{B7820D19-A9CB-4E4C-BA78-51C57B88F351}" dt="2023-11-06T21:30:21.103" v="1420" actId="47"/>
        <pc:sldMkLst>
          <pc:docMk/>
          <pc:sldMk cId="269183646" sldId="451"/>
        </pc:sldMkLst>
      </pc:sldChg>
      <pc:sldChg chg="add del">
        <pc:chgData name="Ron Kleinman" userId="14efe2945b547bf8" providerId="LiveId" clId="{B7820D19-A9CB-4E4C-BA78-51C57B88F351}" dt="2023-11-06T21:30:23.645" v="1421" actId="47"/>
        <pc:sldMkLst>
          <pc:docMk/>
          <pc:sldMk cId="3024495335" sldId="452"/>
        </pc:sldMkLst>
      </pc:sldChg>
      <pc:sldChg chg="add del">
        <pc:chgData name="Ron Kleinman" userId="14efe2945b547bf8" providerId="LiveId" clId="{B7820D19-A9CB-4E4C-BA78-51C57B88F351}" dt="2023-11-06T21:30:27.234" v="1422" actId="47"/>
        <pc:sldMkLst>
          <pc:docMk/>
          <pc:sldMk cId="2892774716" sldId="453"/>
        </pc:sldMkLst>
      </pc:sldChg>
      <pc:sldChg chg="new del">
        <pc:chgData name="Ron Kleinman" userId="14efe2945b547bf8" providerId="LiveId" clId="{B7820D19-A9CB-4E4C-BA78-51C57B88F351}" dt="2023-11-06T21:30:28.889" v="1423" actId="47"/>
        <pc:sldMkLst>
          <pc:docMk/>
          <pc:sldMk cId="1361242853" sldId="454"/>
        </pc:sldMkLst>
      </pc:sldChg>
      <pc:sldChg chg="add del">
        <pc:chgData name="Ron Kleinman" userId="14efe2945b547bf8" providerId="LiveId" clId="{B7820D19-A9CB-4E4C-BA78-51C57B88F351}" dt="2023-11-06T21:30:53.755" v="1427" actId="47"/>
        <pc:sldMkLst>
          <pc:docMk/>
          <pc:sldMk cId="389359774" sldId="455"/>
        </pc:sldMkLst>
      </pc:sldChg>
      <pc:sldChg chg="add del">
        <pc:chgData name="Ron Kleinman" userId="14efe2945b547bf8" providerId="LiveId" clId="{B7820D19-A9CB-4E4C-BA78-51C57B88F351}" dt="2023-11-06T21:30:55.566" v="1428" actId="47"/>
        <pc:sldMkLst>
          <pc:docMk/>
          <pc:sldMk cId="2474307729" sldId="456"/>
        </pc:sldMkLst>
      </pc:sldChg>
      <pc:sldChg chg="add del">
        <pc:chgData name="Ron Kleinman" userId="14efe2945b547bf8" providerId="LiveId" clId="{B7820D19-A9CB-4E4C-BA78-51C57B88F351}" dt="2023-11-06T21:30:58.866" v="1429" actId="47"/>
        <pc:sldMkLst>
          <pc:docMk/>
          <pc:sldMk cId="39805845" sldId="457"/>
        </pc:sldMkLst>
      </pc:sldChg>
      <pc:sldChg chg="add del">
        <pc:chgData name="Ron Kleinman" userId="14efe2945b547bf8" providerId="LiveId" clId="{B7820D19-A9CB-4E4C-BA78-51C57B88F351}" dt="2023-11-06T21:30:47.574" v="1424" actId="47"/>
        <pc:sldMkLst>
          <pc:docMk/>
          <pc:sldMk cId="3657159416" sldId="458"/>
        </pc:sldMkLst>
      </pc:sldChg>
      <pc:sldChg chg="add del">
        <pc:chgData name="Ron Kleinman" userId="14efe2945b547bf8" providerId="LiveId" clId="{B7820D19-A9CB-4E4C-BA78-51C57B88F351}" dt="2023-11-06T21:30:49.121" v="1425" actId="47"/>
        <pc:sldMkLst>
          <pc:docMk/>
          <pc:sldMk cId="2739375654" sldId="459"/>
        </pc:sldMkLst>
      </pc:sldChg>
      <pc:sldChg chg="add del">
        <pc:chgData name="Ron Kleinman" userId="14efe2945b547bf8" providerId="LiveId" clId="{B7820D19-A9CB-4E4C-BA78-51C57B88F351}" dt="2023-11-06T21:30:51.412" v="1426" actId="47"/>
        <pc:sldMkLst>
          <pc:docMk/>
          <pc:sldMk cId="2810158567" sldId="4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A2E93FD-A162-4765-B0FB-8611C7B1EF10}"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2660459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2E93FD-A162-4765-B0FB-8611C7B1EF10}"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1354427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2E93FD-A162-4765-B0FB-8611C7B1EF10}"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125631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2E93FD-A162-4765-B0FB-8611C7B1EF10}" type="datetimeFigureOut">
              <a:rPr lang="en-US" smtClean="0"/>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1736196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A2E93FD-A162-4765-B0FB-8611C7B1EF10}" type="datetimeFigureOut">
              <a:rPr lang="en-US" smtClean="0"/>
              <a:t>11/6/2023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1386724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2E93FD-A162-4765-B0FB-8611C7B1EF10}" type="datetimeFigureOut">
              <a:rPr lang="en-US" smtClean="0"/>
              <a:t>11/6/2023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2385192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E93FD-A162-4765-B0FB-8611C7B1EF10}" type="datetimeFigureOut">
              <a:rPr lang="en-US" smtClean="0"/>
              <a:t>11/6/2023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4001841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2E93FD-A162-4765-B0FB-8611C7B1EF10}" type="datetimeFigureOut">
              <a:rPr lang="en-US" smtClean="0"/>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4060248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2E93FD-A162-4765-B0FB-8611C7B1EF10}" type="datetimeFigureOut">
              <a:rPr lang="en-US" smtClean="0"/>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338993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2E93FD-A162-4765-B0FB-8611C7B1EF10}"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3208363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2E93FD-A162-4765-B0FB-8611C7B1EF10}"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D2D13-8975-4833-A2F5-4A06E1C59A4C}" type="slidenum">
              <a:rPr lang="en-US" smtClean="0"/>
              <a:t>‹#›</a:t>
            </a:fld>
            <a:endParaRPr lang="en-US"/>
          </a:p>
        </p:txBody>
      </p:sp>
    </p:spTree>
    <p:extLst>
      <p:ext uri="{BB962C8B-B14F-4D97-AF65-F5344CB8AC3E}">
        <p14:creationId xmlns:p14="http://schemas.microsoft.com/office/powerpoint/2010/main" val="152491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2E93FD-A162-4765-B0FB-8611C7B1EF10}" type="datetimeFigureOut">
              <a:rPr lang="en-US" smtClean="0"/>
              <a:t>11/6/2023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D2D13-8975-4833-A2F5-4A06E1C59A4C}" type="slidenum">
              <a:rPr lang="en-US" smtClean="0"/>
              <a:t>‹#›</a:t>
            </a:fld>
            <a:endParaRPr lang="en-US"/>
          </a:p>
        </p:txBody>
      </p:sp>
    </p:spTree>
    <p:extLst>
      <p:ext uri="{BB962C8B-B14F-4D97-AF65-F5344CB8AC3E}">
        <p14:creationId xmlns:p14="http://schemas.microsoft.com/office/powerpoint/2010/main" val="1904454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hyperlink" Target="http://www.uml.org.cn/c++/pdf/DesignPatterns.pdf"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A0DAA6-33B8-4A25-810D-2F4D816FB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3729445"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8600" y="640081"/>
            <a:ext cx="3124200" cy="3681976"/>
          </a:xfrm>
          <a:noFill/>
        </p:spPr>
        <p:txBody>
          <a:bodyPr>
            <a:normAutofit/>
          </a:bodyPr>
          <a:lstStyle/>
          <a:p>
            <a:pPr algn="l"/>
            <a:r>
              <a:rPr lang="en-US" sz="3800" b="1" dirty="0">
                <a:solidFill>
                  <a:schemeClr val="bg1"/>
                </a:solidFill>
                <a:latin typeface="Arial" panose="020B0604020202020204" pitchFamily="34" charset="0"/>
                <a:cs typeface="Arial" panose="020B0604020202020204" pitchFamily="34" charset="0"/>
              </a:rPr>
              <a:t>   Software Architecture</a:t>
            </a:r>
          </a:p>
        </p:txBody>
      </p:sp>
      <p:sp>
        <p:nvSpPr>
          <p:cNvPr id="3" name="Subtitle 2"/>
          <p:cNvSpPr>
            <a:spLocks noGrp="1"/>
          </p:cNvSpPr>
          <p:nvPr>
            <p:ph type="subTitle" idx="1"/>
          </p:nvPr>
        </p:nvSpPr>
        <p:spPr>
          <a:xfrm>
            <a:off x="488480" y="4460487"/>
            <a:ext cx="2532888" cy="2245113"/>
          </a:xfrm>
          <a:noFill/>
        </p:spPr>
        <p:txBody>
          <a:bodyPr>
            <a:normAutofit/>
          </a:bodyPr>
          <a:lstStyle/>
          <a:p>
            <a:pPr algn="l"/>
            <a:r>
              <a:rPr lang="en-US" sz="1900" b="1" dirty="0">
                <a:solidFill>
                  <a:schemeClr val="bg1"/>
                </a:solidFill>
                <a:latin typeface="Arial" panose="020B0604020202020204" pitchFamily="34" charset="0"/>
                <a:cs typeface="Arial" panose="020B0604020202020204" pitchFamily="34" charset="0"/>
              </a:rPr>
              <a:t>Object Oriented Analysis &amp; Design</a:t>
            </a:r>
          </a:p>
          <a:p>
            <a:pPr algn="l"/>
            <a:endParaRPr lang="en-US" sz="1900" b="1" dirty="0">
              <a:solidFill>
                <a:schemeClr val="bg1"/>
              </a:solidFill>
              <a:latin typeface="Arial" panose="020B0604020202020204" pitchFamily="34" charset="0"/>
              <a:cs typeface="Arial" panose="020B0604020202020204" pitchFamily="34" charset="0"/>
            </a:endParaRPr>
          </a:p>
          <a:p>
            <a:pPr algn="l"/>
            <a:r>
              <a:rPr lang="en-US" sz="1900" b="1" i="1" dirty="0">
                <a:solidFill>
                  <a:schemeClr val="bg1"/>
                </a:solidFill>
                <a:latin typeface="Arial" panose="020B0604020202020204" pitchFamily="34" charset="0"/>
                <a:cs typeface="Arial" panose="020B0604020202020204" pitchFamily="34" charset="0"/>
              </a:rPr>
              <a:t>Ron Kleinman</a:t>
            </a:r>
          </a:p>
          <a:p>
            <a:pPr algn="l"/>
            <a:r>
              <a:rPr lang="en-US" sz="1900" b="1" i="1" dirty="0">
                <a:solidFill>
                  <a:schemeClr val="bg1"/>
                </a:solidFill>
                <a:latin typeface="Arial" panose="020B0604020202020204" pitchFamily="34" charset="0"/>
                <a:cs typeface="Arial" panose="020B0604020202020204" pitchFamily="34" charset="0"/>
              </a:rPr>
              <a:t>Adjunct Professor</a:t>
            </a:r>
          </a:p>
          <a:p>
            <a:pPr algn="l"/>
            <a:r>
              <a:rPr lang="en-US" sz="1900" b="1" i="1" dirty="0">
                <a:solidFill>
                  <a:schemeClr val="bg1"/>
                </a:solidFill>
                <a:latin typeface="Arial" panose="020B0604020202020204" pitchFamily="34" charset="0"/>
                <a:cs typeface="Arial" panose="020B0604020202020204" pitchFamily="34" charset="0"/>
              </a:rPr>
              <a:t>De </a:t>
            </a:r>
            <a:r>
              <a:rPr lang="en-US" sz="1900" b="1" i="1">
                <a:solidFill>
                  <a:schemeClr val="bg1"/>
                </a:solidFill>
                <a:latin typeface="Arial" panose="020B0604020202020204" pitchFamily="34" charset="0"/>
                <a:cs typeface="Arial" panose="020B0604020202020204" pitchFamily="34" charset="0"/>
              </a:rPr>
              <a:t>Anza College</a:t>
            </a:r>
            <a:endParaRPr lang="en-US" sz="1900" b="1" i="1" dirty="0">
              <a:solidFill>
                <a:schemeClr val="bg1"/>
              </a:solidFill>
              <a:latin typeface="Arial" panose="020B0604020202020204" pitchFamily="34" charset="0"/>
              <a:cs typeface="Arial" panose="020B0604020202020204" pitchFamily="34" charset="0"/>
            </a:endParaRPr>
          </a:p>
        </p:txBody>
      </p:sp>
      <p:pic>
        <p:nvPicPr>
          <p:cNvPr id="5" name="Picture 4" descr="A person standing in front of a tree&#10;&#10;Description automatically generated">
            <a:extLst>
              <a:ext uri="{FF2B5EF4-FFF2-40B4-BE49-F238E27FC236}">
                <a16:creationId xmlns:a16="http://schemas.microsoft.com/office/drawing/2014/main" id="{65682A0F-BD21-4401-849F-943065542EBD}"/>
              </a:ext>
            </a:extLst>
          </p:cNvPr>
          <p:cNvPicPr>
            <a:picLocks noChangeAspect="1"/>
          </p:cNvPicPr>
          <p:nvPr/>
        </p:nvPicPr>
        <p:blipFill rotWithShape="1">
          <a:blip r:embed="rId2">
            <a:extLst>
              <a:ext uri="{28A0092B-C50C-407E-A947-70E740481C1C}">
                <a14:useLocalDpi xmlns:a14="http://schemas.microsoft.com/office/drawing/2010/main" val="0"/>
              </a:ext>
            </a:extLst>
          </a:blip>
          <a:srcRect l="17212" r="20963"/>
          <a:stretch/>
        </p:blipFill>
        <p:spPr>
          <a:xfrm>
            <a:off x="3490722" y="10"/>
            <a:ext cx="5653278" cy="6857990"/>
          </a:xfrm>
          <a:prstGeom prst="rect">
            <a:avLst/>
          </a:prstGeom>
        </p:spPr>
      </p:pic>
    </p:spTree>
    <p:extLst>
      <p:ext uri="{BB962C8B-B14F-4D97-AF65-F5344CB8AC3E}">
        <p14:creationId xmlns:p14="http://schemas.microsoft.com/office/powerpoint/2010/main" val="3494956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F93746-30D2-4485-978B-ECCBCAFEC2E1}"/>
              </a:ext>
            </a:extLst>
          </p:cNvPr>
          <p:cNvSpPr>
            <a:spLocks noGrp="1"/>
          </p:cNvSpPr>
          <p:nvPr>
            <p:ph type="title"/>
          </p:nvPr>
        </p:nvSpPr>
        <p:spPr>
          <a:xfrm>
            <a:off x="429369" y="37372"/>
            <a:ext cx="8263890" cy="1060306"/>
          </a:xfrm>
        </p:spPr>
        <p:txBody>
          <a:bodyPr anchor="b">
            <a:normAutofit/>
          </a:bodyPr>
          <a:lstStyle/>
          <a:p>
            <a:r>
              <a:rPr lang="en-US" sz="4700" b="1" dirty="0"/>
              <a:t>Goal</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 name="connsiteX0" fmla="*/ 0 w 8229600"/>
              <a:gd name="connsiteY0" fmla="*/ 0 h 18288"/>
              <a:gd name="connsiteX1" fmla="*/ 521208 w 8229600"/>
              <a:gd name="connsiteY1" fmla="*/ 0 h 18288"/>
              <a:gd name="connsiteX2" fmla="*/ 960120 w 8229600"/>
              <a:gd name="connsiteY2" fmla="*/ 0 h 18288"/>
              <a:gd name="connsiteX3" fmla="*/ 1481328 w 8229600"/>
              <a:gd name="connsiteY3" fmla="*/ 0 h 18288"/>
              <a:gd name="connsiteX4" fmla="*/ 2167128 w 8229600"/>
              <a:gd name="connsiteY4" fmla="*/ 0 h 18288"/>
              <a:gd name="connsiteX5" fmla="*/ 2935224 w 8229600"/>
              <a:gd name="connsiteY5" fmla="*/ 0 h 18288"/>
              <a:gd name="connsiteX6" fmla="*/ 3785616 w 8229600"/>
              <a:gd name="connsiteY6" fmla="*/ 0 h 18288"/>
              <a:gd name="connsiteX7" fmla="*/ 4636008 w 8229600"/>
              <a:gd name="connsiteY7" fmla="*/ 0 h 18288"/>
              <a:gd name="connsiteX8" fmla="*/ 5239512 w 8229600"/>
              <a:gd name="connsiteY8" fmla="*/ 0 h 18288"/>
              <a:gd name="connsiteX9" fmla="*/ 6007608 w 8229600"/>
              <a:gd name="connsiteY9" fmla="*/ 0 h 18288"/>
              <a:gd name="connsiteX10" fmla="*/ 6693408 w 8229600"/>
              <a:gd name="connsiteY10" fmla="*/ 0 h 18288"/>
              <a:gd name="connsiteX11" fmla="*/ 7296912 w 8229600"/>
              <a:gd name="connsiteY11" fmla="*/ 0 h 18288"/>
              <a:gd name="connsiteX12" fmla="*/ 8229600 w 8229600"/>
              <a:gd name="connsiteY12" fmla="*/ 0 h 18288"/>
              <a:gd name="connsiteX13" fmla="*/ 8229600 w 8229600"/>
              <a:gd name="connsiteY13" fmla="*/ 18288 h 18288"/>
              <a:gd name="connsiteX14" fmla="*/ 7626096 w 8229600"/>
              <a:gd name="connsiteY14" fmla="*/ 18288 h 18288"/>
              <a:gd name="connsiteX15" fmla="*/ 7022592 w 8229600"/>
              <a:gd name="connsiteY15" fmla="*/ 18288 h 18288"/>
              <a:gd name="connsiteX16" fmla="*/ 6172200 w 8229600"/>
              <a:gd name="connsiteY16" fmla="*/ 18288 h 18288"/>
              <a:gd name="connsiteX17" fmla="*/ 5650992 w 8229600"/>
              <a:gd name="connsiteY17" fmla="*/ 18288 h 18288"/>
              <a:gd name="connsiteX18" fmla="*/ 4882896 w 8229600"/>
              <a:gd name="connsiteY18" fmla="*/ 18288 h 18288"/>
              <a:gd name="connsiteX19" fmla="*/ 4443984 w 8229600"/>
              <a:gd name="connsiteY19" fmla="*/ 18288 h 18288"/>
              <a:gd name="connsiteX20" fmla="*/ 3758184 w 8229600"/>
              <a:gd name="connsiteY20" fmla="*/ 18288 h 18288"/>
              <a:gd name="connsiteX21" fmla="*/ 3236976 w 8229600"/>
              <a:gd name="connsiteY21" fmla="*/ 18288 h 18288"/>
              <a:gd name="connsiteX22" fmla="*/ 2386584 w 8229600"/>
              <a:gd name="connsiteY22" fmla="*/ 18288 h 18288"/>
              <a:gd name="connsiteX23" fmla="*/ 1947672 w 8229600"/>
              <a:gd name="connsiteY23" fmla="*/ 18288 h 18288"/>
              <a:gd name="connsiteX24" fmla="*/ 1261872 w 8229600"/>
              <a:gd name="connsiteY24" fmla="*/ 18288 h 18288"/>
              <a:gd name="connsiteX25" fmla="*/ 822960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8428" y="6016"/>
                  <a:pt x="8229853" y="9684"/>
                  <a:pt x="8229600" y="18288"/>
                </a:cubicBezTo>
                <a:cubicBezTo>
                  <a:pt x="7945777" y="19945"/>
                  <a:pt x="7812308" y="-8511"/>
                  <a:pt x="7461504" y="18288"/>
                </a:cubicBezTo>
                <a:cubicBezTo>
                  <a:pt x="7129391" y="53185"/>
                  <a:pt x="7087333" y="41906"/>
                  <a:pt x="6940296" y="18288"/>
                </a:cubicBezTo>
                <a:cubicBezTo>
                  <a:pt x="6810862" y="-23020"/>
                  <a:pt x="6701312" y="19361"/>
                  <a:pt x="6419088" y="18288"/>
                </a:cubicBezTo>
                <a:cubicBezTo>
                  <a:pt x="6152777" y="18855"/>
                  <a:pt x="5868611" y="48802"/>
                  <a:pt x="5650992" y="18288"/>
                </a:cubicBezTo>
                <a:cubicBezTo>
                  <a:pt x="5439747" y="15250"/>
                  <a:pt x="5334901" y="-1044"/>
                  <a:pt x="5129784" y="18288"/>
                </a:cubicBezTo>
                <a:cubicBezTo>
                  <a:pt x="4955906" y="40458"/>
                  <a:pt x="4793216" y="33888"/>
                  <a:pt x="4690872" y="18288"/>
                </a:cubicBezTo>
                <a:cubicBezTo>
                  <a:pt x="4552374" y="31087"/>
                  <a:pt x="4318742" y="6248"/>
                  <a:pt x="4087368" y="18288"/>
                </a:cubicBezTo>
                <a:cubicBezTo>
                  <a:pt x="3849418" y="32625"/>
                  <a:pt x="3751577" y="29688"/>
                  <a:pt x="3401568" y="18288"/>
                </a:cubicBezTo>
                <a:cubicBezTo>
                  <a:pt x="3067953" y="20409"/>
                  <a:pt x="3012425" y="26879"/>
                  <a:pt x="2798064" y="18288"/>
                </a:cubicBezTo>
                <a:cubicBezTo>
                  <a:pt x="2565154" y="16520"/>
                  <a:pt x="2426719" y="-31794"/>
                  <a:pt x="2276856" y="18288"/>
                </a:cubicBezTo>
                <a:cubicBezTo>
                  <a:pt x="2090980" y="4382"/>
                  <a:pt x="1702030" y="-8180"/>
                  <a:pt x="1426464" y="18288"/>
                </a:cubicBezTo>
                <a:cubicBezTo>
                  <a:pt x="1104481" y="69643"/>
                  <a:pt x="985013" y="-7690"/>
                  <a:pt x="740664" y="18288"/>
                </a:cubicBezTo>
                <a:cubicBezTo>
                  <a:pt x="507391" y="41643"/>
                  <a:pt x="191740" y="-11654"/>
                  <a:pt x="0" y="18288"/>
                </a:cubicBezTo>
                <a:cubicBezTo>
                  <a:pt x="714" y="9707"/>
                  <a:pt x="1025" y="3120"/>
                  <a:pt x="0" y="0"/>
                </a:cubicBezTo>
                <a:close/>
              </a:path>
              <a:path w="8229600" h="18288" stroke="0" extrusionOk="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30227" y="7450"/>
                  <a:pt x="8228885" y="11999"/>
                  <a:pt x="8229600" y="18288"/>
                </a:cubicBezTo>
                <a:cubicBezTo>
                  <a:pt x="8094333" y="-5252"/>
                  <a:pt x="7850928" y="37448"/>
                  <a:pt x="7626096" y="18288"/>
                </a:cubicBezTo>
                <a:cubicBezTo>
                  <a:pt x="7448378" y="-569"/>
                  <a:pt x="7315174" y="-1844"/>
                  <a:pt x="7022592" y="18288"/>
                </a:cubicBezTo>
                <a:cubicBezTo>
                  <a:pt x="6686163" y="50499"/>
                  <a:pt x="6352629" y="23510"/>
                  <a:pt x="6172200" y="18288"/>
                </a:cubicBezTo>
                <a:cubicBezTo>
                  <a:pt x="6015590" y="42345"/>
                  <a:pt x="5770309" y="21278"/>
                  <a:pt x="5650992" y="18288"/>
                </a:cubicBezTo>
                <a:cubicBezTo>
                  <a:pt x="5483975" y="12092"/>
                  <a:pt x="5165324" y="68948"/>
                  <a:pt x="4882896" y="18288"/>
                </a:cubicBezTo>
                <a:cubicBezTo>
                  <a:pt x="4568934" y="7053"/>
                  <a:pt x="4556334" y="27676"/>
                  <a:pt x="4443984" y="18288"/>
                </a:cubicBezTo>
                <a:cubicBezTo>
                  <a:pt x="4320775" y="10576"/>
                  <a:pt x="4034988" y="-3490"/>
                  <a:pt x="3758184" y="18288"/>
                </a:cubicBezTo>
                <a:cubicBezTo>
                  <a:pt x="3445155" y="-998"/>
                  <a:pt x="3367892" y="13824"/>
                  <a:pt x="3236976" y="18288"/>
                </a:cubicBezTo>
                <a:cubicBezTo>
                  <a:pt x="3093796" y="26408"/>
                  <a:pt x="2635824" y="24132"/>
                  <a:pt x="2386584" y="18288"/>
                </a:cubicBezTo>
                <a:cubicBezTo>
                  <a:pt x="2139815" y="-3297"/>
                  <a:pt x="2105958" y="25945"/>
                  <a:pt x="1947672" y="18288"/>
                </a:cubicBezTo>
                <a:cubicBezTo>
                  <a:pt x="1801011" y="-19911"/>
                  <a:pt x="1533636" y="14646"/>
                  <a:pt x="1261872" y="18288"/>
                </a:cubicBezTo>
                <a:cubicBezTo>
                  <a:pt x="989528" y="32227"/>
                  <a:pt x="1025848" y="14685"/>
                  <a:pt x="822960" y="18288"/>
                </a:cubicBezTo>
                <a:cubicBezTo>
                  <a:pt x="653456" y="20956"/>
                  <a:pt x="304027" y="8001"/>
                  <a:pt x="0" y="18288"/>
                </a:cubicBezTo>
                <a:cubicBezTo>
                  <a:pt x="-27" y="11611"/>
                  <a:pt x="-1713" y="5475"/>
                  <a:pt x="0" y="0"/>
                </a:cubicBezTo>
                <a:close/>
              </a:path>
              <a:path w="8229600" h="18288" fill="none" stroke="0" extrusionOk="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8796" y="5852"/>
                  <a:pt x="8229698" y="10429"/>
                  <a:pt x="8229600" y="18288"/>
                </a:cubicBezTo>
                <a:cubicBezTo>
                  <a:pt x="7944174" y="-29104"/>
                  <a:pt x="7795646" y="-34405"/>
                  <a:pt x="7461504" y="18288"/>
                </a:cubicBezTo>
                <a:cubicBezTo>
                  <a:pt x="7129776" y="51087"/>
                  <a:pt x="7082769" y="31446"/>
                  <a:pt x="6940296" y="18288"/>
                </a:cubicBezTo>
                <a:cubicBezTo>
                  <a:pt x="6799665" y="-15875"/>
                  <a:pt x="6652769" y="31783"/>
                  <a:pt x="6419088" y="18288"/>
                </a:cubicBezTo>
                <a:cubicBezTo>
                  <a:pt x="6143970" y="52275"/>
                  <a:pt x="5863165" y="-16531"/>
                  <a:pt x="5650992" y="18288"/>
                </a:cubicBezTo>
                <a:cubicBezTo>
                  <a:pt x="5419172" y="40606"/>
                  <a:pt x="5309448" y="-405"/>
                  <a:pt x="5129784" y="18288"/>
                </a:cubicBezTo>
                <a:cubicBezTo>
                  <a:pt x="4947928" y="26023"/>
                  <a:pt x="4795021" y="5860"/>
                  <a:pt x="4690872" y="18288"/>
                </a:cubicBezTo>
                <a:cubicBezTo>
                  <a:pt x="4564358" y="-9579"/>
                  <a:pt x="4295485" y="-25280"/>
                  <a:pt x="4087368" y="18288"/>
                </a:cubicBezTo>
                <a:cubicBezTo>
                  <a:pt x="3871704" y="40406"/>
                  <a:pt x="3732927" y="-10898"/>
                  <a:pt x="3401568" y="18288"/>
                </a:cubicBezTo>
                <a:cubicBezTo>
                  <a:pt x="3075889" y="19660"/>
                  <a:pt x="3025898" y="44400"/>
                  <a:pt x="2798064" y="18288"/>
                </a:cubicBezTo>
                <a:cubicBezTo>
                  <a:pt x="2581856" y="-20869"/>
                  <a:pt x="2428311" y="-4900"/>
                  <a:pt x="2276856" y="18288"/>
                </a:cubicBezTo>
                <a:cubicBezTo>
                  <a:pt x="2098246" y="53283"/>
                  <a:pt x="1737531" y="55959"/>
                  <a:pt x="1426464" y="18288"/>
                </a:cubicBezTo>
                <a:cubicBezTo>
                  <a:pt x="1104708" y="26489"/>
                  <a:pt x="1006595" y="15928"/>
                  <a:pt x="740664" y="18288"/>
                </a:cubicBezTo>
                <a:cubicBezTo>
                  <a:pt x="480378" y="33084"/>
                  <a:pt x="202592" y="-12357"/>
                  <a:pt x="0" y="18288"/>
                </a:cubicBezTo>
                <a:cubicBezTo>
                  <a:pt x="888" y="9601"/>
                  <a:pt x="860" y="4150"/>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F076A9-54C9-4DF3-8948-A2D56B8473FF}"/>
              </a:ext>
            </a:extLst>
          </p:cNvPr>
          <p:cNvSpPr>
            <a:spLocks noGrp="1"/>
          </p:cNvSpPr>
          <p:nvPr>
            <p:ph idx="1"/>
          </p:nvPr>
        </p:nvSpPr>
        <p:spPr>
          <a:xfrm>
            <a:off x="0" y="1911493"/>
            <a:ext cx="6324600" cy="4891643"/>
          </a:xfrm>
        </p:spPr>
        <p:txBody>
          <a:bodyPr anchor="t">
            <a:normAutofit/>
          </a:bodyPr>
          <a:lstStyle/>
          <a:p>
            <a:pPr marL="0" indent="0">
              <a:lnSpc>
                <a:spcPct val="90000"/>
              </a:lnSpc>
              <a:buNone/>
            </a:pPr>
            <a:r>
              <a:rPr lang="en-US" sz="3000" dirty="0">
                <a:effectLst/>
                <a:latin typeface="Arial" panose="020B0604020202020204" pitchFamily="34" charset="0"/>
                <a:ea typeface="Times New Roman" panose="02020603050405020304" pitchFamily="18" charset="0"/>
                <a:cs typeface="Arial" panose="020B0604020202020204" pitchFamily="34" charset="0"/>
              </a:rPr>
              <a:t>This is th</a:t>
            </a:r>
            <a:r>
              <a:rPr lang="en-US" sz="3000" dirty="0">
                <a:latin typeface="Arial" panose="020B0604020202020204" pitchFamily="34" charset="0"/>
                <a:ea typeface="Times New Roman" panose="02020603050405020304" pitchFamily="18" charset="0"/>
                <a:cs typeface="Arial" panose="020B0604020202020204" pitchFamily="34" charset="0"/>
              </a:rPr>
              <a:t>e first of two </a:t>
            </a:r>
            <a:r>
              <a:rPr lang="en-US" sz="3000" dirty="0">
                <a:effectLst/>
                <a:latin typeface="Arial" panose="020B0604020202020204" pitchFamily="34" charset="0"/>
                <a:ea typeface="Times New Roman" panose="02020603050405020304" pitchFamily="18" charset="0"/>
                <a:cs typeface="Arial" panose="020B0604020202020204" pitchFamily="34" charset="0"/>
              </a:rPr>
              <a:t>presentations designed to introduce you to </a:t>
            </a:r>
            <a:r>
              <a:rPr lang="en-US" sz="3000" b="1" dirty="0">
                <a:effectLst/>
                <a:latin typeface="Arial" panose="020B0604020202020204" pitchFamily="34" charset="0"/>
                <a:ea typeface="Times New Roman" panose="02020603050405020304" pitchFamily="18" charset="0"/>
                <a:cs typeface="Arial" panose="020B0604020202020204" pitchFamily="34" charset="0"/>
              </a:rPr>
              <a:t>how a software architect thinks. </a:t>
            </a:r>
            <a:endParaRPr lang="en-US" sz="3000" dirty="0">
              <a:effectLst/>
              <a:latin typeface="Arial" panose="020B0604020202020204" pitchFamily="34" charset="0"/>
              <a:ea typeface="Times New Roman" panose="02020603050405020304" pitchFamily="18" charset="0"/>
              <a:cs typeface="Arial" panose="020B0604020202020204" pitchFamily="34" charset="0"/>
            </a:endParaRPr>
          </a:p>
          <a:p>
            <a:pPr marL="0" indent="0">
              <a:lnSpc>
                <a:spcPct val="90000"/>
              </a:lnSpc>
              <a:buNone/>
            </a:pPr>
            <a:r>
              <a:rPr lang="en-US" sz="3000" dirty="0">
                <a:effectLst/>
                <a:latin typeface="Arial" panose="020B0604020202020204" pitchFamily="34" charset="0"/>
                <a:ea typeface="Times New Roman" panose="02020603050405020304" pitchFamily="18" charset="0"/>
                <a:cs typeface="Arial" panose="020B0604020202020204" pitchFamily="34" charset="0"/>
              </a:rPr>
              <a:t>It covers how to begin </a:t>
            </a:r>
            <a:r>
              <a:rPr lang="en-US" sz="3000" u="sng" dirty="0">
                <a:effectLst/>
                <a:latin typeface="Arial" panose="020B0604020202020204" pitchFamily="34" charset="0"/>
                <a:ea typeface="Times New Roman" panose="02020603050405020304" pitchFamily="18" charset="0"/>
                <a:cs typeface="Arial" panose="020B0604020202020204" pitchFamily="34" charset="0"/>
              </a:rPr>
              <a:t>analyzing </a:t>
            </a:r>
            <a:r>
              <a:rPr lang="en-US" sz="3000" dirty="0">
                <a:effectLst/>
                <a:latin typeface="Arial" panose="020B0604020202020204" pitchFamily="34" charset="0"/>
                <a:ea typeface="Times New Roman" panose="02020603050405020304" pitchFamily="18" charset="0"/>
                <a:cs typeface="Arial" panose="020B0604020202020204" pitchFamily="34" charset="0"/>
              </a:rPr>
              <a:t>requirements and </a:t>
            </a:r>
            <a:r>
              <a:rPr lang="en-US" sz="3000" u="sng" dirty="0">
                <a:effectLst/>
                <a:latin typeface="Arial" panose="020B0604020202020204" pitchFamily="34" charset="0"/>
                <a:ea typeface="Times New Roman" panose="02020603050405020304" pitchFamily="18" charset="0"/>
                <a:cs typeface="Arial" panose="020B0604020202020204" pitchFamily="34" charset="0"/>
              </a:rPr>
              <a:t>designing</a:t>
            </a:r>
            <a:r>
              <a:rPr lang="en-US" sz="3000" dirty="0">
                <a:effectLst/>
                <a:latin typeface="Arial" panose="020B0604020202020204" pitchFamily="34" charset="0"/>
                <a:ea typeface="Times New Roman" panose="02020603050405020304" pitchFamily="18" charset="0"/>
                <a:cs typeface="Arial" panose="020B0604020202020204" pitchFamily="34" charset="0"/>
              </a:rPr>
              <a:t> the type of complex software applications that combine to run a large commercial enterprise like United Airlines, Walmart, FedEx, Disney … or (in this case) a typical College.</a:t>
            </a:r>
          </a:p>
          <a:p>
            <a:pPr marL="0" indent="0">
              <a:lnSpc>
                <a:spcPct val="90000"/>
              </a:lnSpc>
              <a:buNone/>
            </a:pPr>
            <a:endParaRPr lang="en-US" sz="1900" dirty="0"/>
          </a:p>
        </p:txBody>
      </p:sp>
      <p:pic>
        <p:nvPicPr>
          <p:cNvPr id="4" name="Picture 3">
            <a:extLst>
              <a:ext uri="{FF2B5EF4-FFF2-40B4-BE49-F238E27FC236}">
                <a16:creationId xmlns:a16="http://schemas.microsoft.com/office/drawing/2014/main" id="{1FFFDCEC-80CD-46A4-9F44-B815CC082A1F}"/>
              </a:ext>
            </a:extLst>
          </p:cNvPr>
          <p:cNvPicPr>
            <a:picLocks noChangeAspect="1"/>
          </p:cNvPicPr>
          <p:nvPr/>
        </p:nvPicPr>
        <p:blipFill rotWithShape="1">
          <a:blip r:embed="rId2">
            <a:extLst>
              <a:ext uri="{28A0092B-C50C-407E-A947-70E740481C1C}">
                <a14:useLocalDpi xmlns:a14="http://schemas.microsoft.com/office/drawing/2010/main" val="0"/>
              </a:ext>
            </a:extLst>
          </a:blip>
          <a:srcRect r="16455" b="2"/>
          <a:stretch/>
        </p:blipFill>
        <p:spPr>
          <a:xfrm>
            <a:off x="6185916" y="2798860"/>
            <a:ext cx="2955798" cy="4096512"/>
          </a:xfrm>
          <a:prstGeom prst="rect">
            <a:avLst/>
          </a:prstGeom>
        </p:spPr>
      </p:pic>
    </p:spTree>
    <p:extLst>
      <p:ext uri="{BB962C8B-B14F-4D97-AF65-F5344CB8AC3E}">
        <p14:creationId xmlns:p14="http://schemas.microsoft.com/office/powerpoint/2010/main" val="1833459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able, indoor, window, dining table&#10;&#10;Description automatically generated">
            <a:extLst>
              <a:ext uri="{FF2B5EF4-FFF2-40B4-BE49-F238E27FC236}">
                <a16:creationId xmlns:a16="http://schemas.microsoft.com/office/drawing/2014/main" id="{50E65524-FA07-42E9-9FFD-1A68F0B11F54}"/>
              </a:ext>
            </a:extLst>
          </p:cNvPr>
          <p:cNvPicPr>
            <a:picLocks noChangeAspect="1"/>
          </p:cNvPicPr>
          <p:nvPr/>
        </p:nvPicPr>
        <p:blipFill rotWithShape="1">
          <a:blip r:embed="rId2">
            <a:extLst>
              <a:ext uri="{28A0092B-C50C-407E-A947-70E740481C1C}">
                <a14:useLocalDpi xmlns:a14="http://schemas.microsoft.com/office/drawing/2010/main" val="0"/>
              </a:ext>
            </a:extLst>
          </a:blip>
          <a:srcRect b="662"/>
          <a:stretch/>
        </p:blipFill>
        <p:spPr>
          <a:xfrm>
            <a:off x="-2285" y="10"/>
            <a:ext cx="9143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40360-747C-43E5-ACC8-0481FFCCA594}"/>
              </a:ext>
            </a:extLst>
          </p:cNvPr>
          <p:cNvSpPr>
            <a:spLocks noGrp="1"/>
          </p:cNvSpPr>
          <p:nvPr>
            <p:ph type="title"/>
          </p:nvPr>
        </p:nvSpPr>
        <p:spPr>
          <a:xfrm>
            <a:off x="822960" y="325550"/>
            <a:ext cx="75438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nSpc>
                <a:spcPct val="90000"/>
              </a:lnSpc>
            </a:pPr>
            <a:r>
              <a:rPr lang="en-US" sz="4500" b="1" dirty="0">
                <a:solidFill>
                  <a:srgbClr val="FFFFFF"/>
                </a:solidFill>
              </a:rPr>
              <a:t>A useful Analogy:</a:t>
            </a:r>
            <a:br>
              <a:rPr lang="en-US" sz="4500" b="1" dirty="0">
                <a:solidFill>
                  <a:srgbClr val="FFFFFF"/>
                </a:solidFill>
              </a:rPr>
            </a:br>
            <a:r>
              <a:rPr lang="en-US" sz="4500" b="1" dirty="0">
                <a:solidFill>
                  <a:srgbClr val="FFFFFF"/>
                </a:solidFill>
              </a:rPr>
              <a:t>Architecting a House</a:t>
            </a:r>
          </a:p>
        </p:txBody>
      </p:sp>
    </p:spTree>
    <p:extLst>
      <p:ext uri="{BB962C8B-B14F-4D97-AF65-F5344CB8AC3E}">
        <p14:creationId xmlns:p14="http://schemas.microsoft.com/office/powerpoint/2010/main" val="3685211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BED0-7BBD-43B7-B289-87539E4C7FC4}"/>
              </a:ext>
            </a:extLst>
          </p:cNvPr>
          <p:cNvSpPr>
            <a:spLocks noGrp="1"/>
          </p:cNvSpPr>
          <p:nvPr>
            <p:ph type="title"/>
          </p:nvPr>
        </p:nvSpPr>
        <p:spPr>
          <a:xfrm>
            <a:off x="0" y="0"/>
            <a:ext cx="9144000" cy="838200"/>
          </a:xfrm>
        </p:spPr>
        <p:txBody>
          <a:bodyPr/>
          <a:lstStyle/>
          <a:p>
            <a:r>
              <a:rPr lang="en-US" b="1" dirty="0"/>
              <a:t>Home Buyer’s Functional Specification</a:t>
            </a:r>
          </a:p>
        </p:txBody>
      </p:sp>
      <p:sp>
        <p:nvSpPr>
          <p:cNvPr id="3" name="Content Placeholder 2">
            <a:extLst>
              <a:ext uri="{FF2B5EF4-FFF2-40B4-BE49-F238E27FC236}">
                <a16:creationId xmlns:a16="http://schemas.microsoft.com/office/drawing/2014/main" id="{F4303E1E-1E8C-4D0F-888B-FB4738948D5E}"/>
              </a:ext>
            </a:extLst>
          </p:cNvPr>
          <p:cNvSpPr>
            <a:spLocks noGrp="1"/>
          </p:cNvSpPr>
          <p:nvPr>
            <p:ph idx="1"/>
          </p:nvPr>
        </p:nvSpPr>
        <p:spPr>
          <a:xfrm>
            <a:off x="0" y="838200"/>
            <a:ext cx="9144000" cy="6019800"/>
          </a:xfrm>
        </p:spPr>
        <p:txBody>
          <a:bodyPr>
            <a:normAutofit lnSpcReduction="10000"/>
          </a:bodyPr>
          <a:lstStyle/>
          <a:p>
            <a:r>
              <a:rPr lang="en-US" sz="2400" dirty="0"/>
              <a:t>I want a single level, three-bedroom, 2-bathroom home of at least 2000 square feet, with a large living room for entertaining, and an attached 2 car garage.</a:t>
            </a:r>
          </a:p>
          <a:p>
            <a:r>
              <a:rPr lang="en-US" sz="2400" dirty="0"/>
              <a:t>The master bedroom suite should contain a private bathroom with a large whirlpool path, twin sinks and a walk-in closet.  The other bathroom should be accessible from all rooms.</a:t>
            </a:r>
          </a:p>
          <a:p>
            <a:r>
              <a:rPr lang="en-US" sz="2400" dirty="0"/>
              <a:t>My home should feature solar heating, and support the latest internet functionality, so I can install intelligent devices.</a:t>
            </a:r>
          </a:p>
          <a:p>
            <a:r>
              <a:rPr lang="en-US" sz="2400" dirty="0"/>
              <a:t>A security system should be built in</a:t>
            </a:r>
          </a:p>
          <a:p>
            <a:endParaRPr lang="en-US" sz="1000" dirty="0"/>
          </a:p>
          <a:p>
            <a:endParaRPr lang="en-US" sz="1000" dirty="0"/>
          </a:p>
          <a:p>
            <a:pPr marL="0" indent="0">
              <a:buNone/>
            </a:pPr>
            <a:r>
              <a:rPr lang="en-US" sz="2800" b="1" dirty="0">
                <a:latin typeface="Arial" panose="020B0604020202020204" pitchFamily="34" charset="0"/>
                <a:cs typeface="Arial" panose="020B0604020202020204" pitchFamily="34" charset="0"/>
              </a:rPr>
              <a:t> You are a Building Architect.  You must build that house.  </a:t>
            </a:r>
          </a:p>
          <a:p>
            <a:pPr marL="0" indent="0">
              <a:buNone/>
            </a:pPr>
            <a:endParaRPr lang="en-US" sz="2800" b="1" dirty="0">
              <a:latin typeface="Arial" panose="020B0604020202020204" pitchFamily="34" charset="0"/>
              <a:cs typeface="Arial" panose="020B0604020202020204" pitchFamily="34" charset="0"/>
            </a:endParaRPr>
          </a:p>
          <a:p>
            <a:pPr marL="0" indent="0">
              <a:buNone/>
            </a:pPr>
            <a:r>
              <a:rPr lang="en-US" sz="2800" b="1" dirty="0">
                <a:latin typeface="Arial" panose="020B0604020202020204" pitchFamily="34" charset="0"/>
                <a:cs typeface="Arial" panose="020B0604020202020204" pitchFamily="34" charset="0"/>
              </a:rPr>
              <a:t>                  </a:t>
            </a:r>
            <a:r>
              <a:rPr lang="en-US" sz="4000" b="1" dirty="0">
                <a:latin typeface="Arial" panose="020B0604020202020204" pitchFamily="34" charset="0"/>
                <a:cs typeface="Arial" panose="020B0604020202020204" pitchFamily="34" charset="0"/>
              </a:rPr>
              <a:t>Where do you begin?</a:t>
            </a:r>
          </a:p>
          <a:p>
            <a:pPr marL="0" indent="0">
              <a:buNone/>
            </a:pPr>
            <a:endParaRPr lang="en-US" sz="2400" dirty="0"/>
          </a:p>
        </p:txBody>
      </p:sp>
    </p:spTree>
    <p:extLst>
      <p:ext uri="{BB962C8B-B14F-4D97-AF65-F5344CB8AC3E}">
        <p14:creationId xmlns:p14="http://schemas.microsoft.com/office/powerpoint/2010/main" val="3501491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49"/>
            <a:ext cx="8229600" cy="1143000"/>
          </a:xfrm>
        </p:spPr>
        <p:txBody>
          <a:bodyPr/>
          <a:lstStyle/>
          <a:p>
            <a:r>
              <a:rPr lang="en-US" b="1" dirty="0">
                <a:solidFill>
                  <a:srgbClr val="C00000"/>
                </a:solidFill>
                <a:latin typeface="Arial" panose="020B0604020202020204" pitchFamily="34" charset="0"/>
                <a:cs typeface="Arial" panose="020B0604020202020204" pitchFamily="34" charset="0"/>
              </a:rPr>
              <a:t>WRONG!!!</a:t>
            </a:r>
          </a:p>
        </p:txBody>
      </p:sp>
      <p:pic>
        <p:nvPicPr>
          <p:cNvPr id="5" name="Picture 4" descr="A close up of a bridge&#10;&#10;Description automatically generated">
            <a:extLst>
              <a:ext uri="{FF2B5EF4-FFF2-40B4-BE49-F238E27FC236}">
                <a16:creationId xmlns:a16="http://schemas.microsoft.com/office/drawing/2014/main" id="{FC930812-80D9-4644-A0B2-4EEAF99611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0601"/>
            <a:ext cx="9118600" cy="5862850"/>
          </a:xfrm>
          <a:prstGeom prst="rect">
            <a:avLst/>
          </a:prstGeom>
        </p:spPr>
      </p:pic>
    </p:spTree>
    <p:extLst>
      <p:ext uri="{BB962C8B-B14F-4D97-AF65-F5344CB8AC3E}">
        <p14:creationId xmlns:p14="http://schemas.microsoft.com/office/powerpoint/2010/main" val="86804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20116" cy="1757149"/>
          </a:xfrm>
        </p:spPr>
        <p:txBody>
          <a:bodyPr>
            <a:noAutofit/>
          </a:bodyPr>
          <a:lstStyle/>
          <a:p>
            <a:r>
              <a:rPr lang="en-US" sz="4000" b="1" dirty="0">
                <a:solidFill>
                  <a:srgbClr val="002060"/>
                </a:solidFill>
                <a:latin typeface="Arial" panose="020B0604020202020204" pitchFamily="34" charset="0"/>
                <a:cs typeface="Arial" panose="020B0604020202020204" pitchFamily="34" charset="0"/>
              </a:rPr>
              <a:t>So what does a Building Architect actually </a:t>
            </a:r>
            <a:r>
              <a:rPr lang="en-US" sz="4000" b="1" u="sng" dirty="0">
                <a:solidFill>
                  <a:srgbClr val="002060"/>
                </a:solidFill>
                <a:latin typeface="Arial" panose="020B0604020202020204" pitchFamily="34" charset="0"/>
                <a:cs typeface="Arial" panose="020B0604020202020204" pitchFamily="34" charset="0"/>
              </a:rPr>
              <a:t>DO</a:t>
            </a:r>
            <a:r>
              <a:rPr lang="en-US" sz="4000" b="1" dirty="0">
                <a:solidFill>
                  <a:srgbClr val="002060"/>
                </a:solidFill>
                <a:latin typeface="Arial" panose="020B0604020202020204" pitchFamily="34" charset="0"/>
                <a:cs typeface="Arial" panose="020B0604020202020204" pitchFamily="34" charset="0"/>
              </a:rPr>
              <a:t> when starting the design of  a new building?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584" y="1905000"/>
            <a:ext cx="1990725" cy="23050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3886200"/>
            <a:ext cx="3470547" cy="258445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4600" y="1757149"/>
            <a:ext cx="2409825" cy="1895475"/>
          </a:xfrm>
          <a:prstGeom prst="rect">
            <a:avLst/>
          </a:prstGeom>
        </p:spPr>
      </p:pic>
    </p:spTree>
    <p:extLst>
      <p:ext uri="{BB962C8B-B14F-4D97-AF65-F5344CB8AC3E}">
        <p14:creationId xmlns:p14="http://schemas.microsoft.com/office/powerpoint/2010/main" val="345450543"/>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734" y="1891759"/>
            <a:ext cx="8229600" cy="730155"/>
          </a:xfrm>
        </p:spPr>
        <p:txBody>
          <a:bodyPr>
            <a:normAutofit fontScale="90000"/>
          </a:bodyPr>
          <a:lstStyle/>
          <a:p>
            <a:r>
              <a:rPr lang="en-US" b="1" dirty="0">
                <a:solidFill>
                  <a:srgbClr val="002060"/>
                </a:solidFill>
                <a:latin typeface="Arial" panose="020B0604020202020204" pitchFamily="34" charset="0"/>
                <a:cs typeface="Arial" panose="020B0604020202020204" pitchFamily="34" charset="0"/>
              </a:rPr>
              <a:t>A New Home</a:t>
            </a:r>
          </a:p>
        </p:txBody>
      </p:sp>
      <p:sp>
        <p:nvSpPr>
          <p:cNvPr id="4" name="Rectangle 3"/>
          <p:cNvSpPr/>
          <p:nvPr/>
        </p:nvSpPr>
        <p:spPr>
          <a:xfrm>
            <a:off x="642582" y="2860491"/>
            <a:ext cx="8349018" cy="1863909"/>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5"/>
          <p:cNvSpPr/>
          <p:nvPr/>
        </p:nvSpPr>
        <p:spPr>
          <a:xfrm>
            <a:off x="642582" y="804801"/>
            <a:ext cx="8305800" cy="871599"/>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p>
        </p:txBody>
      </p:sp>
      <p:sp>
        <p:nvSpPr>
          <p:cNvPr id="7" name="TextBox 6"/>
          <p:cNvSpPr txBox="1"/>
          <p:nvPr/>
        </p:nvSpPr>
        <p:spPr>
          <a:xfrm>
            <a:off x="856396" y="955182"/>
            <a:ext cx="7620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Customer    Planning           Physical                           Physical</a:t>
            </a:r>
          </a:p>
        </p:txBody>
      </p:sp>
      <p:sp>
        <p:nvSpPr>
          <p:cNvPr id="8" name="TextBox 7"/>
          <p:cNvSpPr txBox="1"/>
          <p:nvPr/>
        </p:nvSpPr>
        <p:spPr>
          <a:xfrm>
            <a:off x="838200" y="3072748"/>
            <a:ext cx="7620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Buyer                       Architect           General                             Skilled     </a:t>
            </a:r>
          </a:p>
        </p:txBody>
      </p:sp>
      <p:sp>
        <p:nvSpPr>
          <p:cNvPr id="11" name="TextBox 10"/>
          <p:cNvSpPr txBox="1"/>
          <p:nvPr/>
        </p:nvSpPr>
        <p:spPr>
          <a:xfrm>
            <a:off x="838200" y="1215277"/>
            <a:ext cx="7315199"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                    Documents     System Decisions            Installation          </a:t>
            </a:r>
          </a:p>
        </p:txBody>
      </p:sp>
      <p:sp>
        <p:nvSpPr>
          <p:cNvPr id="12" name="TextBox 11"/>
          <p:cNvSpPr txBox="1"/>
          <p:nvPr/>
        </p:nvSpPr>
        <p:spPr>
          <a:xfrm>
            <a:off x="856396" y="3317692"/>
            <a:ext cx="783040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Funct</a:t>
            </a:r>
            <a:r>
              <a:rPr lang="en-US" b="1" dirty="0">
                <a:latin typeface="Arial" panose="020B0604020202020204" pitchFamily="34" charset="0"/>
                <a:cs typeface="Arial" panose="020B0604020202020204" pitchFamily="34" charset="0"/>
              </a:rPr>
              <a:t>. Specs)       (Blueprints)        Contractor                        Worker</a:t>
            </a:r>
          </a:p>
        </p:txBody>
      </p:sp>
      <p:sp>
        <p:nvSpPr>
          <p:cNvPr id="14" name="TextBox 13"/>
          <p:cNvSpPr txBox="1"/>
          <p:nvPr/>
        </p:nvSpPr>
        <p:spPr>
          <a:xfrm>
            <a:off x="715734" y="3631090"/>
            <a:ext cx="842826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(Piping, Wiring)         (Plumber, Electrician)</a:t>
            </a:r>
          </a:p>
        </p:txBody>
      </p:sp>
      <p:sp>
        <p:nvSpPr>
          <p:cNvPr id="16" name="Title 1">
            <a:extLst>
              <a:ext uri="{FF2B5EF4-FFF2-40B4-BE49-F238E27FC236}">
                <a16:creationId xmlns:a16="http://schemas.microsoft.com/office/drawing/2014/main" id="{17658C8F-7A2A-4A50-A350-D261D68E61B5}"/>
              </a:ext>
            </a:extLst>
          </p:cNvPr>
          <p:cNvSpPr txBox="1">
            <a:spLocks/>
          </p:cNvSpPr>
          <p:nvPr/>
        </p:nvSpPr>
        <p:spPr>
          <a:xfrm>
            <a:off x="762000" y="83790"/>
            <a:ext cx="8229600" cy="730155"/>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rgbClr val="002060"/>
                </a:solidFill>
                <a:latin typeface="Arial" panose="020B0604020202020204" pitchFamily="34" charset="0"/>
                <a:cs typeface="Arial" panose="020B0604020202020204" pitchFamily="34" charset="0"/>
              </a:rPr>
              <a:t>Building</a:t>
            </a:r>
          </a:p>
        </p:txBody>
      </p:sp>
    </p:spTree>
    <p:extLst>
      <p:ext uri="{BB962C8B-B14F-4D97-AF65-F5344CB8AC3E}">
        <p14:creationId xmlns:p14="http://schemas.microsoft.com/office/powerpoint/2010/main" val="4044403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BED0-7BBD-43B7-B289-87539E4C7FC4}"/>
              </a:ext>
            </a:extLst>
          </p:cNvPr>
          <p:cNvSpPr>
            <a:spLocks noGrp="1"/>
          </p:cNvSpPr>
          <p:nvPr>
            <p:ph type="title"/>
          </p:nvPr>
        </p:nvSpPr>
        <p:spPr>
          <a:xfrm>
            <a:off x="0" y="0"/>
            <a:ext cx="9144000" cy="838200"/>
          </a:xfrm>
        </p:spPr>
        <p:txBody>
          <a:bodyPr/>
          <a:lstStyle/>
          <a:p>
            <a:r>
              <a:rPr lang="en-US" b="1" dirty="0"/>
              <a:t>Solidify the Functional Specification!</a:t>
            </a:r>
          </a:p>
        </p:txBody>
      </p:sp>
      <p:sp>
        <p:nvSpPr>
          <p:cNvPr id="3" name="Content Placeholder 2">
            <a:extLst>
              <a:ext uri="{FF2B5EF4-FFF2-40B4-BE49-F238E27FC236}">
                <a16:creationId xmlns:a16="http://schemas.microsoft.com/office/drawing/2014/main" id="{F4303E1E-1E8C-4D0F-888B-FB4738948D5E}"/>
              </a:ext>
            </a:extLst>
          </p:cNvPr>
          <p:cNvSpPr>
            <a:spLocks noGrp="1"/>
          </p:cNvSpPr>
          <p:nvPr>
            <p:ph idx="1"/>
          </p:nvPr>
        </p:nvSpPr>
        <p:spPr>
          <a:xfrm>
            <a:off x="0" y="838200"/>
            <a:ext cx="9144000" cy="6019800"/>
          </a:xfrm>
        </p:spPr>
        <p:txBody>
          <a:bodyPr>
            <a:normAutofit/>
          </a:bodyPr>
          <a:lstStyle/>
          <a:p>
            <a:r>
              <a:rPr lang="en-US" sz="2400" dirty="0"/>
              <a:t>I want a single level, three-bedroom, 2-bathroom home of at least 2000 square feet, with a large living room for entertaining, and an attached 2 car garage.</a:t>
            </a:r>
          </a:p>
          <a:p>
            <a:r>
              <a:rPr lang="en-US" sz="2400" dirty="0"/>
              <a:t>The master bedroom suite should contain a private bathroom with a large whirlpool path, twin sinks and a walk-in closet.  The other bathroom should be accessible from all rooms.</a:t>
            </a:r>
          </a:p>
          <a:p>
            <a:r>
              <a:rPr lang="en-US" sz="2400" dirty="0"/>
              <a:t>My home should feature solar heating, and support the latest internet functionality, so I can install intelligent devices.</a:t>
            </a:r>
          </a:p>
          <a:p>
            <a:r>
              <a:rPr lang="en-US" sz="2400" dirty="0"/>
              <a:t>A security system should be built in</a:t>
            </a:r>
          </a:p>
          <a:p>
            <a:endParaRPr lang="en-US" sz="1000" dirty="0"/>
          </a:p>
          <a:p>
            <a:endParaRPr lang="en-US" sz="1000" dirty="0"/>
          </a:p>
          <a:p>
            <a:pPr marL="0" indent="0">
              <a:buNone/>
            </a:pPr>
            <a:r>
              <a:rPr lang="en-US" sz="2800" b="1" dirty="0">
                <a:latin typeface="Arial" panose="020B0604020202020204" pitchFamily="34" charset="0"/>
                <a:cs typeface="Arial" panose="020B0604020202020204" pitchFamily="34" charset="0"/>
              </a:rPr>
              <a:t> You are an Architect.  You must build that house.  </a:t>
            </a:r>
          </a:p>
          <a:p>
            <a:pPr marL="0" indent="0">
              <a:buNone/>
            </a:pPr>
            <a:endParaRPr lang="en-US" sz="2800" b="1" dirty="0">
              <a:latin typeface="Arial" panose="020B0604020202020204" pitchFamily="34" charset="0"/>
              <a:cs typeface="Arial" panose="020B0604020202020204" pitchFamily="34" charset="0"/>
            </a:endParaRPr>
          </a:p>
          <a:p>
            <a:pPr marL="0" indent="0">
              <a:buNone/>
            </a:pPr>
            <a:r>
              <a:rPr lang="en-US" sz="2800" b="1" dirty="0">
                <a:latin typeface="Arial" panose="020B0604020202020204" pitchFamily="34" charset="0"/>
                <a:cs typeface="Arial" panose="020B0604020202020204" pitchFamily="34" charset="0"/>
              </a:rPr>
              <a:t>                  </a:t>
            </a:r>
            <a:r>
              <a:rPr lang="en-US" sz="4000" b="1" dirty="0">
                <a:latin typeface="Arial" panose="020B0604020202020204" pitchFamily="34" charset="0"/>
                <a:cs typeface="Arial" panose="020B0604020202020204" pitchFamily="34" charset="0"/>
              </a:rPr>
              <a:t>What do you do now?</a:t>
            </a:r>
          </a:p>
          <a:p>
            <a:pPr marL="0" indent="0">
              <a:buNone/>
            </a:pPr>
            <a:endParaRPr lang="en-US" sz="2400" dirty="0"/>
          </a:p>
        </p:txBody>
      </p:sp>
      <p:pic>
        <p:nvPicPr>
          <p:cNvPr id="4" name="Picture 3">
            <a:extLst>
              <a:ext uri="{FF2B5EF4-FFF2-40B4-BE49-F238E27FC236}">
                <a16:creationId xmlns:a16="http://schemas.microsoft.com/office/drawing/2014/main" id="{EDA43BF4-52F5-412B-BAAB-BCDAA4CED7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1000" y="5727192"/>
            <a:ext cx="1143000" cy="1143000"/>
          </a:xfrm>
          <a:prstGeom prst="rect">
            <a:avLst/>
          </a:prstGeom>
        </p:spPr>
      </p:pic>
    </p:spTree>
    <p:extLst>
      <p:ext uri="{BB962C8B-B14F-4D97-AF65-F5344CB8AC3E}">
        <p14:creationId xmlns:p14="http://schemas.microsoft.com/office/powerpoint/2010/main" val="4238782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BED0-7BBD-43B7-B289-87539E4C7FC4}"/>
              </a:ext>
            </a:extLst>
          </p:cNvPr>
          <p:cNvSpPr>
            <a:spLocks noGrp="1"/>
          </p:cNvSpPr>
          <p:nvPr>
            <p:ph type="title"/>
          </p:nvPr>
        </p:nvSpPr>
        <p:spPr>
          <a:xfrm>
            <a:off x="0" y="0"/>
            <a:ext cx="9144000" cy="838200"/>
          </a:xfrm>
        </p:spPr>
        <p:txBody>
          <a:bodyPr>
            <a:normAutofit/>
          </a:bodyPr>
          <a:lstStyle/>
          <a:p>
            <a:r>
              <a:rPr lang="en-US" sz="4000" b="1" dirty="0"/>
              <a:t>Building Architect Deliverables</a:t>
            </a:r>
          </a:p>
        </p:txBody>
      </p:sp>
      <p:sp>
        <p:nvSpPr>
          <p:cNvPr id="3" name="Content Placeholder 2">
            <a:extLst>
              <a:ext uri="{FF2B5EF4-FFF2-40B4-BE49-F238E27FC236}">
                <a16:creationId xmlns:a16="http://schemas.microsoft.com/office/drawing/2014/main" id="{F4303E1E-1E8C-4D0F-888B-FB4738948D5E}"/>
              </a:ext>
            </a:extLst>
          </p:cNvPr>
          <p:cNvSpPr>
            <a:spLocks noGrp="1"/>
          </p:cNvSpPr>
          <p:nvPr>
            <p:ph idx="1"/>
          </p:nvPr>
        </p:nvSpPr>
        <p:spPr>
          <a:xfrm>
            <a:off x="0" y="685800"/>
            <a:ext cx="9144000" cy="6172200"/>
          </a:xfrm>
        </p:spPr>
        <p:txBody>
          <a:bodyPr>
            <a:normAutofit lnSpcReduction="10000"/>
          </a:bodyPr>
          <a:lstStyle/>
          <a:p>
            <a:r>
              <a:rPr lang="en-US" sz="2800" b="1" dirty="0"/>
              <a:t>Identify all Components – ask questions!</a:t>
            </a:r>
          </a:p>
          <a:p>
            <a:pPr lvl="1"/>
            <a:r>
              <a:rPr lang="en-US" sz="2400" dirty="0"/>
              <a:t>Shouldn’t the house have … a kitchen?</a:t>
            </a:r>
          </a:p>
          <a:p>
            <a:pPr lvl="1"/>
            <a:r>
              <a:rPr lang="en-US" sz="2400" dirty="0"/>
              <a:t>What about Closet storage? / A Laundry room? </a:t>
            </a:r>
          </a:p>
          <a:p>
            <a:r>
              <a:rPr lang="en-US" sz="2800" b="1" dirty="0"/>
              <a:t>Define interactions between components</a:t>
            </a:r>
          </a:p>
          <a:p>
            <a:pPr lvl="1"/>
            <a:r>
              <a:rPr lang="en-US" sz="2400" dirty="0"/>
              <a:t>Relative sizes of bedrooms?  Locations of each room?</a:t>
            </a:r>
          </a:p>
          <a:p>
            <a:r>
              <a:rPr lang="en-US" sz="2800" b="1" dirty="0"/>
              <a:t>Explore how high-level requirements can be met</a:t>
            </a:r>
          </a:p>
          <a:p>
            <a:pPr lvl="1"/>
            <a:r>
              <a:rPr lang="en-US" sz="2400" dirty="0"/>
              <a:t>Security System details (electronic, locks, window bars)</a:t>
            </a:r>
          </a:p>
          <a:p>
            <a:pPr lvl="1"/>
            <a:r>
              <a:rPr lang="en-US" sz="2400" dirty="0"/>
              <a:t>Capacity of water heater, piping and wiring</a:t>
            </a:r>
          </a:p>
          <a:p>
            <a:pPr lvl="1"/>
            <a:r>
              <a:rPr lang="en-US" sz="2400" dirty="0"/>
              <a:t>Zoning:  Must fit in with other existing structures</a:t>
            </a:r>
          </a:p>
          <a:p>
            <a:r>
              <a:rPr lang="en-US" sz="2800" b="1" dirty="0"/>
              <a:t>Identify Tradeoffs</a:t>
            </a:r>
          </a:p>
          <a:p>
            <a:pPr lvl="1"/>
            <a:r>
              <a:rPr lang="en-US" sz="2400" dirty="0"/>
              <a:t>Construction materials vs. cost</a:t>
            </a:r>
          </a:p>
          <a:p>
            <a:pPr lvl="1"/>
            <a:r>
              <a:rPr lang="en-US" sz="2400" dirty="0"/>
              <a:t>Customized feature requirements vs. move-in date</a:t>
            </a:r>
          </a:p>
          <a:p>
            <a:r>
              <a:rPr lang="en-US" sz="2800" b="1" dirty="0"/>
              <a:t>Detail each component</a:t>
            </a:r>
          </a:p>
          <a:p>
            <a:pPr lvl="1"/>
            <a:r>
              <a:rPr lang="en-US" sz="2400" dirty="0"/>
              <a:t>Exact size, material, layout…</a:t>
            </a:r>
            <a:endParaRPr lang="en-US" sz="2400" b="1" dirty="0">
              <a:solidFill>
                <a:srgbClr val="C00000"/>
              </a:solidFill>
            </a:endParaRPr>
          </a:p>
        </p:txBody>
      </p:sp>
    </p:spTree>
    <p:extLst>
      <p:ext uri="{BB962C8B-B14F-4D97-AF65-F5344CB8AC3E}">
        <p14:creationId xmlns:p14="http://schemas.microsoft.com/office/powerpoint/2010/main" val="3744499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84" y="0"/>
            <a:ext cx="9144000" cy="1757149"/>
          </a:xfrm>
        </p:spPr>
        <p:txBody>
          <a:bodyPr>
            <a:normAutofit fontScale="90000"/>
          </a:bodyPr>
          <a:lstStyle/>
          <a:p>
            <a:r>
              <a:rPr lang="en-US" b="1" dirty="0">
                <a:solidFill>
                  <a:srgbClr val="002060"/>
                </a:solidFill>
              </a:rPr>
              <a:t>So what does a </a:t>
            </a:r>
            <a:r>
              <a:rPr lang="en-US" b="1" u="sng" dirty="0">
                <a:solidFill>
                  <a:srgbClr val="002060"/>
                </a:solidFill>
              </a:rPr>
              <a:t>Software</a:t>
            </a:r>
            <a:r>
              <a:rPr lang="en-US" b="1" dirty="0">
                <a:solidFill>
                  <a:srgbClr val="002060"/>
                </a:solidFill>
              </a:rPr>
              <a:t> Architect actually </a:t>
            </a:r>
            <a:r>
              <a:rPr lang="en-US" b="1" u="sng" dirty="0">
                <a:solidFill>
                  <a:srgbClr val="002060"/>
                </a:solidFill>
              </a:rPr>
              <a:t>DO</a:t>
            </a:r>
            <a:r>
              <a:rPr lang="en-US" b="1" dirty="0">
                <a:solidFill>
                  <a:srgbClr val="002060"/>
                </a:solidFill>
              </a:rPr>
              <a:t> when starting development of a new software application?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584" y="1905000"/>
            <a:ext cx="1990725" cy="23050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3886200"/>
            <a:ext cx="3470547" cy="258445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4600" y="1757149"/>
            <a:ext cx="2409825" cy="1895475"/>
          </a:xfrm>
          <a:prstGeom prst="rect">
            <a:avLst/>
          </a:prstGeom>
        </p:spPr>
      </p:pic>
    </p:spTree>
    <p:extLst>
      <p:ext uri="{BB962C8B-B14F-4D97-AF65-F5344CB8AC3E}">
        <p14:creationId xmlns:p14="http://schemas.microsoft.com/office/powerpoint/2010/main" val="2606753070"/>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820962"/>
            <a:ext cx="8229600" cy="730155"/>
          </a:xfrm>
        </p:spPr>
        <p:txBody>
          <a:bodyPr>
            <a:normAutofit fontScale="90000"/>
          </a:bodyPr>
          <a:lstStyle/>
          <a:p>
            <a:r>
              <a:rPr lang="en-US" b="1" dirty="0">
                <a:solidFill>
                  <a:srgbClr val="002060"/>
                </a:solidFill>
                <a:latin typeface="Arial" panose="020B0604020202020204" pitchFamily="34" charset="0"/>
                <a:cs typeface="Arial" panose="020B0604020202020204" pitchFamily="34" charset="0"/>
              </a:rPr>
              <a:t>A New Home</a:t>
            </a:r>
          </a:p>
        </p:txBody>
      </p:sp>
      <p:sp>
        <p:nvSpPr>
          <p:cNvPr id="3" name="Title 1"/>
          <p:cNvSpPr txBox="1">
            <a:spLocks/>
          </p:cNvSpPr>
          <p:nvPr/>
        </p:nvSpPr>
        <p:spPr>
          <a:xfrm>
            <a:off x="504397" y="4187990"/>
            <a:ext cx="8534400" cy="730155"/>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002060"/>
                </a:solidFill>
                <a:latin typeface="Arial" panose="020B0604020202020204" pitchFamily="34" charset="0"/>
                <a:cs typeface="Arial" panose="020B0604020202020204" pitchFamily="34" charset="0"/>
              </a:rPr>
              <a:t>A New Software Application</a:t>
            </a:r>
          </a:p>
        </p:txBody>
      </p:sp>
      <p:sp>
        <p:nvSpPr>
          <p:cNvPr id="6" name="Rectangle 5"/>
          <p:cNvSpPr/>
          <p:nvPr/>
        </p:nvSpPr>
        <p:spPr>
          <a:xfrm>
            <a:off x="642582" y="804801"/>
            <a:ext cx="8305800" cy="871599"/>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p>
        </p:txBody>
      </p:sp>
      <p:sp>
        <p:nvSpPr>
          <p:cNvPr id="7" name="TextBox 6"/>
          <p:cNvSpPr txBox="1"/>
          <p:nvPr/>
        </p:nvSpPr>
        <p:spPr>
          <a:xfrm>
            <a:off x="856396" y="955182"/>
            <a:ext cx="7620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Customer               Planning             Physical                           Physical</a:t>
            </a:r>
          </a:p>
        </p:txBody>
      </p:sp>
      <p:sp>
        <p:nvSpPr>
          <p:cNvPr id="11" name="TextBox 10"/>
          <p:cNvSpPr txBox="1"/>
          <p:nvPr/>
        </p:nvSpPr>
        <p:spPr>
          <a:xfrm>
            <a:off x="838200" y="1215277"/>
            <a:ext cx="842826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                             Documents         System Decisions            Installation          </a:t>
            </a:r>
          </a:p>
        </p:txBody>
      </p:sp>
      <p:sp>
        <p:nvSpPr>
          <p:cNvPr id="17" name="Title 1">
            <a:extLst>
              <a:ext uri="{FF2B5EF4-FFF2-40B4-BE49-F238E27FC236}">
                <a16:creationId xmlns:a16="http://schemas.microsoft.com/office/drawing/2014/main" id="{972F9DB6-D1E0-49E1-B8B0-5A03E0BCC929}"/>
              </a:ext>
            </a:extLst>
          </p:cNvPr>
          <p:cNvSpPr txBox="1">
            <a:spLocks/>
          </p:cNvSpPr>
          <p:nvPr/>
        </p:nvSpPr>
        <p:spPr>
          <a:xfrm>
            <a:off x="609599" y="0"/>
            <a:ext cx="8229600" cy="730155"/>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rgbClr val="002060"/>
                </a:solidFill>
                <a:latin typeface="Arial" panose="020B0604020202020204" pitchFamily="34" charset="0"/>
                <a:cs typeface="Arial" panose="020B0604020202020204" pitchFamily="34" charset="0"/>
              </a:rPr>
              <a:t>Building</a:t>
            </a:r>
          </a:p>
        </p:txBody>
      </p:sp>
      <p:sp>
        <p:nvSpPr>
          <p:cNvPr id="15" name="Rectangle 14">
            <a:extLst>
              <a:ext uri="{FF2B5EF4-FFF2-40B4-BE49-F238E27FC236}">
                <a16:creationId xmlns:a16="http://schemas.microsoft.com/office/drawing/2014/main" id="{CC01F745-FA8C-4630-A771-5BDAFEE8B896}"/>
              </a:ext>
            </a:extLst>
          </p:cNvPr>
          <p:cNvSpPr/>
          <p:nvPr/>
        </p:nvSpPr>
        <p:spPr>
          <a:xfrm>
            <a:off x="512137" y="2463852"/>
            <a:ext cx="8349018" cy="157025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90F470CE-2039-4F02-9F15-7E5397B3E48D}"/>
              </a:ext>
            </a:extLst>
          </p:cNvPr>
          <p:cNvSpPr txBox="1"/>
          <p:nvPr/>
        </p:nvSpPr>
        <p:spPr>
          <a:xfrm>
            <a:off x="838200" y="3072748"/>
            <a:ext cx="7620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Buyer                       Architect           General                             Skilled     </a:t>
            </a:r>
          </a:p>
        </p:txBody>
      </p:sp>
      <p:sp>
        <p:nvSpPr>
          <p:cNvPr id="21" name="TextBox 20">
            <a:extLst>
              <a:ext uri="{FF2B5EF4-FFF2-40B4-BE49-F238E27FC236}">
                <a16:creationId xmlns:a16="http://schemas.microsoft.com/office/drawing/2014/main" id="{862A563C-1163-43AF-BE50-0177555EC7FC}"/>
              </a:ext>
            </a:extLst>
          </p:cNvPr>
          <p:cNvSpPr txBox="1"/>
          <p:nvPr/>
        </p:nvSpPr>
        <p:spPr>
          <a:xfrm>
            <a:off x="856396" y="3317692"/>
            <a:ext cx="783040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Funct</a:t>
            </a:r>
            <a:r>
              <a:rPr lang="en-US" b="1" dirty="0">
                <a:latin typeface="Arial" panose="020B0604020202020204" pitchFamily="34" charset="0"/>
                <a:cs typeface="Arial" panose="020B0604020202020204" pitchFamily="34" charset="0"/>
              </a:rPr>
              <a:t>. Specs)       (Blueprints)        Contractor                        Worker</a:t>
            </a:r>
          </a:p>
        </p:txBody>
      </p:sp>
      <p:sp>
        <p:nvSpPr>
          <p:cNvPr id="22" name="TextBox 21">
            <a:extLst>
              <a:ext uri="{FF2B5EF4-FFF2-40B4-BE49-F238E27FC236}">
                <a16:creationId xmlns:a16="http://schemas.microsoft.com/office/drawing/2014/main" id="{5A9F5B28-15AD-4FB6-88B0-2244FA1948A5}"/>
              </a:ext>
            </a:extLst>
          </p:cNvPr>
          <p:cNvSpPr txBox="1"/>
          <p:nvPr/>
        </p:nvSpPr>
        <p:spPr>
          <a:xfrm>
            <a:off x="715734" y="3631090"/>
            <a:ext cx="842826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(Piping, Wiring)         (Plumber, Electrician)</a:t>
            </a:r>
          </a:p>
        </p:txBody>
      </p:sp>
      <p:sp>
        <p:nvSpPr>
          <p:cNvPr id="23" name="Rectangle 22">
            <a:extLst>
              <a:ext uri="{FF2B5EF4-FFF2-40B4-BE49-F238E27FC236}">
                <a16:creationId xmlns:a16="http://schemas.microsoft.com/office/drawing/2014/main" id="{D1CB88DC-B8B8-4E81-833F-EBEAD83F60B0}"/>
              </a:ext>
            </a:extLst>
          </p:cNvPr>
          <p:cNvSpPr/>
          <p:nvPr/>
        </p:nvSpPr>
        <p:spPr>
          <a:xfrm>
            <a:off x="381001" y="5105713"/>
            <a:ext cx="8598088" cy="1382236"/>
          </a:xfrm>
          <a:prstGeom prst="rect">
            <a:avLst/>
          </a:prstGeom>
          <a:solidFill>
            <a:schemeClr val="bg2">
              <a:lumMod val="9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3D4FAAA6-6903-4740-89A4-8A7810D306AF}"/>
              </a:ext>
            </a:extLst>
          </p:cNvPr>
          <p:cNvSpPr txBox="1"/>
          <p:nvPr/>
        </p:nvSpPr>
        <p:spPr>
          <a:xfrm>
            <a:off x="715734" y="5323896"/>
            <a:ext cx="823264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Domain            </a:t>
            </a:r>
            <a:r>
              <a:rPr lang="en-US" b="1" dirty="0">
                <a:solidFill>
                  <a:srgbClr val="C00000"/>
                </a:solidFill>
                <a:latin typeface="Arial" panose="020B0604020202020204" pitchFamily="34" charset="0"/>
                <a:cs typeface="Arial" panose="020B0604020202020204" pitchFamily="34" charset="0"/>
              </a:rPr>
              <a:t>Software    </a:t>
            </a:r>
            <a:r>
              <a:rPr lang="en-US" b="1" dirty="0">
                <a:latin typeface="Arial" panose="020B0604020202020204" pitchFamily="34" charset="0"/>
                <a:cs typeface="Arial" panose="020B0604020202020204" pitchFamily="34" charset="0"/>
              </a:rPr>
              <a:t>               Software                                Software</a:t>
            </a:r>
          </a:p>
        </p:txBody>
      </p:sp>
      <p:sp>
        <p:nvSpPr>
          <p:cNvPr id="25" name="TextBox 24">
            <a:extLst>
              <a:ext uri="{FF2B5EF4-FFF2-40B4-BE49-F238E27FC236}">
                <a16:creationId xmlns:a16="http://schemas.microsoft.com/office/drawing/2014/main" id="{D9BF8769-D591-47C4-8D20-3D8B4B70C632}"/>
              </a:ext>
            </a:extLst>
          </p:cNvPr>
          <p:cNvSpPr txBox="1"/>
          <p:nvPr/>
        </p:nvSpPr>
        <p:spPr>
          <a:xfrm>
            <a:off x="760707" y="5542079"/>
            <a:ext cx="81534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Expert             </a:t>
            </a:r>
            <a:r>
              <a:rPr lang="en-US" b="1" dirty="0">
                <a:solidFill>
                  <a:srgbClr val="C00000"/>
                </a:solidFill>
                <a:latin typeface="Arial" panose="020B0604020202020204" pitchFamily="34" charset="0"/>
                <a:cs typeface="Arial" panose="020B0604020202020204" pitchFamily="34" charset="0"/>
              </a:rPr>
              <a:t>Architect  </a:t>
            </a:r>
            <a:r>
              <a:rPr lang="en-US" b="1" dirty="0">
                <a:latin typeface="Arial" panose="020B0604020202020204" pitchFamily="34" charset="0"/>
                <a:cs typeface="Arial" panose="020B0604020202020204" pitchFamily="34" charset="0"/>
              </a:rPr>
              <a:t>         Architect/Designer   Developer/Programmer </a:t>
            </a:r>
          </a:p>
        </p:txBody>
      </p:sp>
      <p:sp>
        <p:nvSpPr>
          <p:cNvPr id="26" name="TextBox 25">
            <a:extLst>
              <a:ext uri="{FF2B5EF4-FFF2-40B4-BE49-F238E27FC236}">
                <a16:creationId xmlns:a16="http://schemas.microsoft.com/office/drawing/2014/main" id="{67A01F1F-130A-41B3-8296-E18CAC415CFA}"/>
              </a:ext>
            </a:extLst>
          </p:cNvPr>
          <p:cNvSpPr txBox="1"/>
          <p:nvPr/>
        </p:nvSpPr>
        <p:spPr>
          <a:xfrm>
            <a:off x="512137" y="5878349"/>
            <a:ext cx="8250862"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Funct</a:t>
            </a:r>
            <a:r>
              <a:rPr lang="en-US" b="1" dirty="0">
                <a:latin typeface="Arial" panose="020B0604020202020204" pitchFamily="34" charset="0"/>
                <a:cs typeface="Arial" panose="020B0604020202020204" pitchFamily="34" charset="0"/>
              </a:rPr>
              <a:t>. Specs)  </a:t>
            </a:r>
            <a:r>
              <a:rPr lang="en-US" b="1" dirty="0">
                <a:solidFill>
                  <a:srgbClr val="C00000"/>
                </a:solidFill>
                <a:latin typeface="Arial" panose="020B0604020202020204" pitchFamily="34" charset="0"/>
                <a:cs typeface="Arial" panose="020B0604020202020204" pitchFamily="34" charset="0"/>
              </a:rPr>
              <a:t>(UML Artifacts)    </a:t>
            </a:r>
            <a:r>
              <a:rPr lang="en-US" b="1" dirty="0">
                <a:latin typeface="Arial" panose="020B0604020202020204" pitchFamily="34" charset="0"/>
                <a:cs typeface="Arial" panose="020B0604020202020204" pitchFamily="34" charset="0"/>
              </a:rPr>
              <a:t>(Data Store, Security)     (Code / Debug)</a:t>
            </a:r>
          </a:p>
        </p:txBody>
      </p:sp>
    </p:spTree>
    <p:extLst>
      <p:ext uri="{BB962C8B-B14F-4D97-AF65-F5344CB8AC3E}">
        <p14:creationId xmlns:p14="http://schemas.microsoft.com/office/powerpoint/2010/main" val="277676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8231-EA72-4CBB-ACC8-6068BA8673B9}"/>
              </a:ext>
            </a:extLst>
          </p:cNvPr>
          <p:cNvSpPr>
            <a:spLocks noGrp="1"/>
          </p:cNvSpPr>
          <p:nvPr>
            <p:ph type="title"/>
          </p:nvPr>
        </p:nvSpPr>
        <p:spPr>
          <a:xfrm>
            <a:off x="0" y="32042"/>
            <a:ext cx="9144000" cy="958558"/>
          </a:xfrm>
        </p:spPr>
        <p:txBody>
          <a:bodyPr>
            <a:normAutofit fontScale="90000"/>
          </a:bodyPr>
          <a:lstStyle/>
          <a:p>
            <a:r>
              <a:rPr lang="en-US" b="1" dirty="0"/>
              <a:t>Taking the first Step on the road ahead</a:t>
            </a:r>
          </a:p>
        </p:txBody>
      </p:sp>
      <p:pic>
        <p:nvPicPr>
          <p:cNvPr id="4" name="Picture 3" descr="A picture containing outdoor, person, road, young&#10;&#10;Description automatically generated">
            <a:extLst>
              <a:ext uri="{FF2B5EF4-FFF2-40B4-BE49-F238E27FC236}">
                <a16:creationId xmlns:a16="http://schemas.microsoft.com/office/drawing/2014/main" id="{FD4D037A-F538-4299-B501-56D1D870A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8200"/>
            <a:ext cx="9144000" cy="6019800"/>
          </a:xfrm>
          <a:prstGeom prst="rect">
            <a:avLst/>
          </a:prstGeom>
        </p:spPr>
      </p:pic>
    </p:spTree>
    <p:extLst>
      <p:ext uri="{BB962C8B-B14F-4D97-AF65-F5344CB8AC3E}">
        <p14:creationId xmlns:p14="http://schemas.microsoft.com/office/powerpoint/2010/main" val="504500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197"/>
            <a:ext cx="9144000" cy="820003"/>
          </a:xfrm>
        </p:spPr>
        <p:txBody>
          <a:bodyPr>
            <a:normAutofit/>
          </a:bodyPr>
          <a:lstStyle/>
          <a:p>
            <a:r>
              <a:rPr lang="en-US" b="1" dirty="0">
                <a:solidFill>
                  <a:srgbClr val="002060"/>
                </a:solidFill>
              </a:rPr>
              <a:t>FS: College Enrollment System</a:t>
            </a:r>
          </a:p>
        </p:txBody>
      </p:sp>
      <p:sp>
        <p:nvSpPr>
          <p:cNvPr id="3" name="TextBox 2"/>
          <p:cNvSpPr txBox="1"/>
          <p:nvPr/>
        </p:nvSpPr>
        <p:spPr>
          <a:xfrm>
            <a:off x="0" y="748635"/>
            <a:ext cx="9144000" cy="6109365"/>
          </a:xfrm>
          <a:prstGeom prst="rect">
            <a:avLst/>
          </a:prstGeom>
          <a:noFill/>
        </p:spPr>
        <p:txBody>
          <a:bodyPr wrap="square" rtlCol="0">
            <a:spAutoFit/>
          </a:bodyPr>
          <a:lstStyle/>
          <a:p>
            <a:r>
              <a:rPr lang="en-US" sz="2000" dirty="0"/>
              <a:t>De Anza courses are offered by its departments (Ex:  CIS) and available Quarterly (Ex:  Fall and Winter).  Each course has an identifying number (ex: 28), a  Name (Ex: Object Oriented Analysis and Design), a description, a number of credits and an optional set of required prerequisites.</a:t>
            </a:r>
          </a:p>
          <a:p>
            <a:endParaRPr lang="en-US" sz="900" dirty="0"/>
          </a:p>
          <a:p>
            <a:r>
              <a:rPr lang="en-US" sz="2000" dirty="0"/>
              <a:t>Each course is assigned  a set of times during the week when it meets.  It is also assigned a teacher who is both qualified and willing to teach that course, and who is free during the assigned times the course meets.  It is also assigned a room, which also must be free during those times.</a:t>
            </a:r>
          </a:p>
          <a:p>
            <a:endParaRPr lang="en-US" sz="900" dirty="0"/>
          </a:p>
          <a:p>
            <a:r>
              <a:rPr lang="en-US" sz="2000" dirty="0"/>
              <a:t>Students may then attempt to enroll in a course if they are paid up, have taken all its required prerequisites, are not already enrolled in the course, and if they are not already taking another course which overlaps the assigned times for this one.</a:t>
            </a:r>
          </a:p>
          <a:p>
            <a:endParaRPr lang="en-US" sz="900" dirty="0"/>
          </a:p>
          <a:p>
            <a:r>
              <a:rPr lang="en-US" sz="2000" dirty="0"/>
              <a:t>Depending upon the size of the course and the number of students already enrolled, the student’s enrollment request may either be accepted, or the student may be wait listed, or the request may be denied.  If the student is accepted, her attendance will be tracked and at the end of the academic quarter she will receive a final grade.</a:t>
            </a:r>
          </a:p>
          <a:p>
            <a:endParaRPr lang="en-US" sz="2000" dirty="0"/>
          </a:p>
          <a:p>
            <a:r>
              <a:rPr lang="en-US" sz="2400" b="1" dirty="0">
                <a:latin typeface="Arial" panose="020B0604020202020204" pitchFamily="34" charset="0"/>
                <a:cs typeface="Arial" panose="020B0604020202020204" pitchFamily="34" charset="0"/>
              </a:rPr>
              <a:t>You must produce a working solution.  Where do you begin?</a:t>
            </a:r>
          </a:p>
          <a:p>
            <a:endParaRPr lang="en-US" sz="2000" dirty="0"/>
          </a:p>
        </p:txBody>
      </p:sp>
      <p:pic>
        <p:nvPicPr>
          <p:cNvPr id="4" name="Picture 3">
            <a:extLst>
              <a:ext uri="{FF2B5EF4-FFF2-40B4-BE49-F238E27FC236}">
                <a16:creationId xmlns:a16="http://schemas.microsoft.com/office/drawing/2014/main" id="{8BB9902E-D08A-43BC-B675-F98931A795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98408" y="6324600"/>
            <a:ext cx="545592" cy="545592"/>
          </a:xfrm>
          <a:prstGeom prst="rect">
            <a:avLst/>
          </a:prstGeom>
        </p:spPr>
      </p:pic>
    </p:spTree>
    <p:extLst>
      <p:ext uri="{BB962C8B-B14F-4D97-AF65-F5344CB8AC3E}">
        <p14:creationId xmlns:p14="http://schemas.microsoft.com/office/powerpoint/2010/main" val="1011012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49"/>
            <a:ext cx="8229600" cy="1143000"/>
          </a:xfrm>
        </p:spPr>
        <p:txBody>
          <a:bodyPr/>
          <a:lstStyle/>
          <a:p>
            <a:r>
              <a:rPr lang="en-US" b="1" dirty="0">
                <a:solidFill>
                  <a:srgbClr val="C00000"/>
                </a:solidFill>
                <a:latin typeface="Arial" panose="020B0604020202020204" pitchFamily="34" charset="0"/>
                <a:cs typeface="Arial" panose="020B0604020202020204" pitchFamily="34" charset="0"/>
              </a:rPr>
              <a:t>WRONG!!!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4400"/>
            <a:ext cx="9144000" cy="5943600"/>
          </a:xfrm>
          <a:prstGeom prst="rect">
            <a:avLst/>
          </a:prstGeom>
        </p:spPr>
      </p:pic>
    </p:spTree>
    <p:extLst>
      <p:ext uri="{BB962C8B-B14F-4D97-AF65-F5344CB8AC3E}">
        <p14:creationId xmlns:p14="http://schemas.microsoft.com/office/powerpoint/2010/main" val="405864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763000" cy="990600"/>
          </a:xfrm>
        </p:spPr>
        <p:txBody>
          <a:bodyPr>
            <a:noAutofit/>
          </a:bodyPr>
          <a:lstStyle/>
          <a:p>
            <a:r>
              <a:rPr lang="en-US" sz="4000" b="1" dirty="0">
                <a:solidFill>
                  <a:srgbClr val="002060"/>
                </a:solidFill>
                <a:latin typeface="Arial" panose="020B0604020202020204" pitchFamily="34" charset="0"/>
                <a:cs typeface="Arial" panose="020B0604020202020204" pitchFamily="34" charset="0"/>
              </a:rPr>
              <a:t>Software Architect Responsibilities</a:t>
            </a:r>
          </a:p>
        </p:txBody>
      </p:sp>
      <p:sp>
        <p:nvSpPr>
          <p:cNvPr id="3" name="Content Placeholder 2"/>
          <p:cNvSpPr>
            <a:spLocks noGrp="1"/>
          </p:cNvSpPr>
          <p:nvPr>
            <p:ph idx="1"/>
          </p:nvPr>
        </p:nvSpPr>
        <p:spPr>
          <a:xfrm>
            <a:off x="0" y="990600"/>
            <a:ext cx="9144000" cy="5867400"/>
          </a:xfrm>
        </p:spPr>
        <p:txBody>
          <a:bodyPr>
            <a:normAutofit/>
          </a:bodyPr>
          <a:lstStyle/>
          <a:p>
            <a:r>
              <a:rPr lang="en-US" sz="2800" b="1" dirty="0">
                <a:solidFill>
                  <a:srgbClr val="C00000"/>
                </a:solidFill>
              </a:rPr>
              <a:t>Identify all Components – ask questions!</a:t>
            </a:r>
          </a:p>
          <a:p>
            <a:pPr lvl="1"/>
            <a:r>
              <a:rPr lang="en-US" sz="2400" dirty="0">
                <a:solidFill>
                  <a:srgbClr val="C00000"/>
                </a:solidFill>
                <a:latin typeface="Arial" panose="020B0604020202020204" pitchFamily="34" charset="0"/>
                <a:cs typeface="Arial" panose="020B0604020202020204" pitchFamily="34" charset="0"/>
              </a:rPr>
              <a:t>Read, understand and clarify Functional Specification</a:t>
            </a:r>
          </a:p>
          <a:p>
            <a:pPr marL="0" indent="0">
              <a:buNone/>
            </a:pPr>
            <a:endParaRPr lang="en-US" sz="2800" dirty="0">
              <a:solidFill>
                <a:srgbClr val="C00000"/>
              </a:solidFill>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sym typeface="Wingdings" panose="05000000000000000000" pitchFamily="2" charset="2"/>
              </a:rPr>
              <a:t>  </a:t>
            </a:r>
            <a:r>
              <a:rPr lang="en-US" sz="2400" i="1" dirty="0">
                <a:latin typeface="Arial" panose="020B0604020202020204" pitchFamily="34" charset="0"/>
                <a:cs typeface="Arial" panose="020B0604020202020204" pitchFamily="34" charset="0"/>
              </a:rPr>
              <a:t>Direct interaction with the “Domain Expert” to identify and document the problem (requirements &amp; constraints) that must be solved by the new system.</a:t>
            </a: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2373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763000" cy="990600"/>
          </a:xfrm>
        </p:spPr>
        <p:txBody>
          <a:bodyPr>
            <a:noAutofit/>
          </a:bodyPr>
          <a:lstStyle/>
          <a:p>
            <a:r>
              <a:rPr lang="en-US" sz="4000" b="1" dirty="0">
                <a:solidFill>
                  <a:srgbClr val="002060"/>
                </a:solidFill>
                <a:latin typeface="Arial" panose="020B0604020202020204" pitchFamily="34" charset="0"/>
                <a:cs typeface="Arial" panose="020B0604020202020204" pitchFamily="34" charset="0"/>
              </a:rPr>
              <a:t>Software Architect Responsibilities</a:t>
            </a:r>
          </a:p>
        </p:txBody>
      </p:sp>
      <p:sp>
        <p:nvSpPr>
          <p:cNvPr id="3" name="Content Placeholder 2"/>
          <p:cNvSpPr>
            <a:spLocks noGrp="1"/>
          </p:cNvSpPr>
          <p:nvPr>
            <p:ph idx="1"/>
          </p:nvPr>
        </p:nvSpPr>
        <p:spPr>
          <a:xfrm>
            <a:off x="0" y="990600"/>
            <a:ext cx="9144000" cy="5867400"/>
          </a:xfrm>
        </p:spPr>
        <p:txBody>
          <a:bodyPr>
            <a:normAutofit/>
          </a:bodyPr>
          <a:lstStyle/>
          <a:p>
            <a:r>
              <a:rPr lang="en-US" sz="2800" b="1" dirty="0">
                <a:solidFill>
                  <a:srgbClr val="C00000"/>
                </a:solidFill>
              </a:rPr>
              <a:t>Identify all Components – ask questions!</a:t>
            </a:r>
          </a:p>
          <a:p>
            <a:pPr lvl="1"/>
            <a:r>
              <a:rPr lang="en-US" sz="2400" dirty="0">
                <a:solidFill>
                  <a:srgbClr val="C00000"/>
                </a:solidFill>
                <a:latin typeface="Arial" panose="020B0604020202020204" pitchFamily="34" charset="0"/>
                <a:cs typeface="Arial" panose="020B0604020202020204" pitchFamily="34" charset="0"/>
              </a:rPr>
              <a:t>Read, understand and clarify Functional Specification</a:t>
            </a:r>
          </a:p>
          <a:p>
            <a:pPr lvl="1"/>
            <a:r>
              <a:rPr lang="en-US" sz="2400" dirty="0">
                <a:solidFill>
                  <a:srgbClr val="C00000"/>
                </a:solidFill>
                <a:latin typeface="Arial" panose="020B0604020202020204" pitchFamily="34" charset="0"/>
                <a:cs typeface="Arial" panose="020B0604020202020204" pitchFamily="34" charset="0"/>
              </a:rPr>
              <a:t>Identify basic “abstractions” referenced in the FS</a:t>
            </a:r>
          </a:p>
          <a:p>
            <a:pPr marL="400050" lvl="1" indent="0">
              <a:buNone/>
            </a:pP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è"/>
            </a:pPr>
            <a:r>
              <a:rPr lang="en-US" sz="2400" i="1" dirty="0">
                <a:latin typeface="Arial" panose="020B0604020202020204" pitchFamily="34" charset="0"/>
                <a:cs typeface="Arial" panose="020B0604020202020204" pitchFamily="34" charset="0"/>
              </a:rPr>
              <a:t>What are the words in the FS which must be further refined to determine </a:t>
            </a:r>
            <a:r>
              <a:rPr lang="en-US" sz="2400" i="1" u="sng" dirty="0">
                <a:latin typeface="Arial" panose="020B0604020202020204" pitchFamily="34" charset="0"/>
                <a:cs typeface="Arial" panose="020B0604020202020204" pitchFamily="34" charset="0"/>
              </a:rPr>
              <a:t>exactly</a:t>
            </a:r>
            <a:r>
              <a:rPr lang="en-US" sz="2400" i="1" dirty="0">
                <a:latin typeface="Arial" panose="020B0604020202020204" pitchFamily="34" charset="0"/>
                <a:cs typeface="Arial" panose="020B0604020202020204" pitchFamily="34" charset="0"/>
              </a:rPr>
              <a:t> what the proposed system is required to do? </a:t>
            </a:r>
          </a:p>
          <a:p>
            <a:pPr>
              <a:buFont typeface="Wingdings" panose="05000000000000000000" pitchFamily="2" charset="2"/>
              <a:buChar char="è"/>
            </a:pPr>
            <a:endParaRPr lang="en-US" sz="2400" i="1" dirty="0">
              <a:latin typeface="Arial" panose="020B0604020202020204" pitchFamily="34" charset="0"/>
              <a:cs typeface="Arial" panose="020B0604020202020204" pitchFamily="34" charset="0"/>
            </a:endParaRPr>
          </a:p>
          <a:p>
            <a:pPr>
              <a:buFont typeface="Wingdings" panose="05000000000000000000" pitchFamily="2" charset="2"/>
              <a:buChar char="è"/>
            </a:pPr>
            <a:r>
              <a:rPr lang="en-US" sz="2400" dirty="0">
                <a:latin typeface="Arial" panose="020B0604020202020204" pitchFamily="34" charset="0"/>
                <a:cs typeface="Arial" panose="020B0604020202020204" pitchFamily="34" charset="0"/>
                <a:sym typeface="Wingdings" panose="05000000000000000000" pitchFamily="2" charset="2"/>
              </a:rPr>
              <a:t>  </a:t>
            </a:r>
            <a:r>
              <a:rPr lang="en-US" sz="2400" i="1" dirty="0">
                <a:latin typeface="Arial" panose="020B0604020202020204" pitchFamily="34" charset="0"/>
                <a:cs typeface="Arial" panose="020B0604020202020204" pitchFamily="34" charset="0"/>
              </a:rPr>
              <a:t>Requires direct interaction with the “Domain Expert” to identify and document the problem (requirements &amp; constraints) that must be solved by the new system.</a:t>
            </a:r>
          </a:p>
          <a:p>
            <a:pPr>
              <a:buFont typeface="Wingdings" panose="05000000000000000000" pitchFamily="2" charset="2"/>
              <a:buChar char="è"/>
            </a:pPr>
            <a:endParaRPr lang="en-US" sz="2400" i="1"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916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197"/>
            <a:ext cx="9144000" cy="820003"/>
          </a:xfrm>
        </p:spPr>
        <p:txBody>
          <a:bodyPr>
            <a:normAutofit fontScale="90000"/>
          </a:bodyPr>
          <a:lstStyle/>
          <a:p>
            <a:r>
              <a:rPr lang="en-US" b="1" dirty="0">
                <a:solidFill>
                  <a:srgbClr val="002060"/>
                </a:solidFill>
              </a:rPr>
              <a:t>FS:  Enrollment System at De Anza College</a:t>
            </a:r>
          </a:p>
        </p:txBody>
      </p:sp>
      <p:sp>
        <p:nvSpPr>
          <p:cNvPr id="3" name="TextBox 2"/>
          <p:cNvSpPr txBox="1"/>
          <p:nvPr/>
        </p:nvSpPr>
        <p:spPr>
          <a:xfrm>
            <a:off x="5687" y="838200"/>
            <a:ext cx="9144000" cy="6417141"/>
          </a:xfrm>
          <a:prstGeom prst="rect">
            <a:avLst/>
          </a:prstGeom>
          <a:noFill/>
        </p:spPr>
        <p:txBody>
          <a:bodyPr wrap="square" rtlCol="0">
            <a:spAutoFit/>
          </a:bodyPr>
          <a:lstStyle/>
          <a:p>
            <a:r>
              <a:rPr lang="en-US" sz="2000" dirty="0"/>
              <a:t>De Anza </a:t>
            </a:r>
            <a:r>
              <a:rPr lang="en-US" sz="2000" b="1" dirty="0">
                <a:solidFill>
                  <a:srgbClr val="C00000"/>
                </a:solidFill>
              </a:rPr>
              <a:t>College</a:t>
            </a:r>
            <a:r>
              <a:rPr lang="en-US" sz="2000" dirty="0"/>
              <a:t> </a:t>
            </a:r>
            <a:r>
              <a:rPr lang="en-US" sz="2000" b="1" dirty="0">
                <a:solidFill>
                  <a:srgbClr val="C00000"/>
                </a:solidFill>
              </a:rPr>
              <a:t>Courses</a:t>
            </a:r>
            <a:r>
              <a:rPr lang="en-US" sz="2000" dirty="0"/>
              <a:t> are offered by its </a:t>
            </a:r>
            <a:r>
              <a:rPr lang="en-US" sz="2000" b="1" dirty="0">
                <a:solidFill>
                  <a:srgbClr val="C00000"/>
                </a:solidFill>
              </a:rPr>
              <a:t>Departments</a:t>
            </a:r>
            <a:r>
              <a:rPr lang="en-US" sz="2000" dirty="0"/>
              <a:t> (Ex:  CIS) and offered Quarterly (Ex:  Fall and Winter).  Each course has an identifying number (ex: 28), a  Name (Ex: Object Oriented Analysis and Design), a description, a number of credits and an optional set of required prerequisite courses</a:t>
            </a:r>
            <a:r>
              <a:rPr lang="en-US" sz="2000" b="1" dirty="0"/>
              <a:t>.</a:t>
            </a:r>
          </a:p>
          <a:p>
            <a:endParaRPr lang="en-US" sz="900" dirty="0"/>
          </a:p>
          <a:p>
            <a:r>
              <a:rPr lang="en-US" sz="2000" dirty="0"/>
              <a:t>Each course is assigned  a set of times during the week when it meets.  It is also assigned a </a:t>
            </a:r>
            <a:r>
              <a:rPr lang="en-US" sz="2000" b="1" dirty="0">
                <a:solidFill>
                  <a:srgbClr val="C00000"/>
                </a:solidFill>
              </a:rPr>
              <a:t>Teacher</a:t>
            </a:r>
            <a:r>
              <a:rPr lang="en-US" sz="2000" dirty="0"/>
              <a:t> who is both qualified and willing to teach that course, and who is free during the assigned times the course meets.  It is also assigned a </a:t>
            </a:r>
            <a:r>
              <a:rPr lang="en-US" sz="2000" b="1" dirty="0">
                <a:solidFill>
                  <a:srgbClr val="C00000"/>
                </a:solidFill>
              </a:rPr>
              <a:t>Room</a:t>
            </a:r>
            <a:r>
              <a:rPr lang="en-US" sz="2000" dirty="0"/>
              <a:t>, which also must be free during those times.</a:t>
            </a:r>
          </a:p>
          <a:p>
            <a:endParaRPr lang="en-US" sz="900" dirty="0"/>
          </a:p>
          <a:p>
            <a:r>
              <a:rPr lang="en-US" sz="2000" b="1" dirty="0">
                <a:solidFill>
                  <a:srgbClr val="C00000"/>
                </a:solidFill>
              </a:rPr>
              <a:t>Students</a:t>
            </a:r>
            <a:r>
              <a:rPr lang="en-US" sz="2000" dirty="0"/>
              <a:t> may then attempt to enroll in a course if they are paid up, have taken all its required prerequisites, are not already enrolled in the course, and if they are not already taking another course which overlaps the assigned times for this one.</a:t>
            </a:r>
          </a:p>
          <a:p>
            <a:endParaRPr lang="en-US" sz="900" dirty="0"/>
          </a:p>
          <a:p>
            <a:r>
              <a:rPr lang="en-US" sz="2000" dirty="0"/>
              <a:t>Depending upon the size of the course and the number of students already enrolled, the student’s enrollment request may either be accepted, or the student may be wait listed, or the request may be denied.  If the student is accepted, her attendance will be tracked and at the end of the academic quarter she will receive a final grade for the course.</a:t>
            </a:r>
          </a:p>
          <a:p>
            <a:endParaRPr lang="en-US" sz="800" dirty="0"/>
          </a:p>
          <a:p>
            <a:r>
              <a:rPr lang="en-US" sz="2400" b="1" dirty="0">
                <a:latin typeface="Arial" panose="020B0604020202020204" pitchFamily="34" charset="0"/>
                <a:cs typeface="Arial" panose="020B0604020202020204" pitchFamily="34" charset="0"/>
              </a:rPr>
              <a:t>You must produce a working solution.  Where do you begin?</a:t>
            </a:r>
          </a:p>
          <a:p>
            <a:endParaRPr lang="en-US" sz="2000" dirty="0"/>
          </a:p>
        </p:txBody>
      </p:sp>
    </p:spTree>
    <p:extLst>
      <p:ext uri="{BB962C8B-B14F-4D97-AF65-F5344CB8AC3E}">
        <p14:creationId xmlns:p14="http://schemas.microsoft.com/office/powerpoint/2010/main" val="3234967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375"/>
            <a:ext cx="8839200" cy="1143000"/>
          </a:xfrm>
        </p:spPr>
        <p:txBody>
          <a:bodyPr>
            <a:normAutofit fontScale="90000"/>
          </a:bodyPr>
          <a:lstStyle/>
          <a:p>
            <a:r>
              <a:rPr lang="en-US" b="1" dirty="0">
                <a:solidFill>
                  <a:srgbClr val="002060"/>
                </a:solidFill>
              </a:rPr>
              <a:t>Basic Abstractions in Enrollment System</a:t>
            </a:r>
          </a:p>
        </p:txBody>
      </p:sp>
      <p:sp>
        <p:nvSpPr>
          <p:cNvPr id="3" name="Oval 2"/>
          <p:cNvSpPr/>
          <p:nvPr/>
        </p:nvSpPr>
        <p:spPr>
          <a:xfrm>
            <a:off x="152400" y="1446094"/>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sp>
        <p:nvSpPr>
          <p:cNvPr id="5" name="Oval 4"/>
          <p:cNvSpPr/>
          <p:nvPr/>
        </p:nvSpPr>
        <p:spPr>
          <a:xfrm>
            <a:off x="1627496" y="32766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p:txBody>
      </p:sp>
      <p:sp>
        <p:nvSpPr>
          <p:cNvPr id="7" name="Oval 6"/>
          <p:cNvSpPr/>
          <p:nvPr/>
        </p:nvSpPr>
        <p:spPr>
          <a:xfrm>
            <a:off x="3048000" y="1020702"/>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p:txBody>
      </p:sp>
      <p:sp>
        <p:nvSpPr>
          <p:cNvPr id="14" name="Oval 13"/>
          <p:cNvSpPr/>
          <p:nvPr/>
        </p:nvSpPr>
        <p:spPr>
          <a:xfrm>
            <a:off x="3581400" y="4914900"/>
            <a:ext cx="2198427"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5" name="Oval 14"/>
          <p:cNvSpPr/>
          <p:nvPr/>
        </p:nvSpPr>
        <p:spPr>
          <a:xfrm>
            <a:off x="4680613" y="2819932"/>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6324600" y="1219200"/>
            <a:ext cx="2253016" cy="18288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spTree>
    <p:extLst>
      <p:ext uri="{BB962C8B-B14F-4D97-AF65-F5344CB8AC3E}">
        <p14:creationId xmlns:p14="http://schemas.microsoft.com/office/powerpoint/2010/main" val="345037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en-US" sz="5400" b="1" dirty="0">
                <a:solidFill>
                  <a:srgbClr val="002060"/>
                </a:solidFill>
              </a:rPr>
              <a:t>Refining the Abstractions (1)</a:t>
            </a:r>
          </a:p>
        </p:txBody>
      </p:sp>
      <p:sp>
        <p:nvSpPr>
          <p:cNvPr id="3" name="Content Placeholder 2"/>
          <p:cNvSpPr>
            <a:spLocks noGrp="1"/>
          </p:cNvSpPr>
          <p:nvPr>
            <p:ph idx="1"/>
          </p:nvPr>
        </p:nvSpPr>
        <p:spPr>
          <a:xfrm>
            <a:off x="0" y="990600"/>
            <a:ext cx="9144000" cy="838200"/>
          </a:xfrm>
        </p:spPr>
        <p:txBody>
          <a:bodyPr/>
          <a:lstStyle/>
          <a:p>
            <a:r>
              <a:rPr lang="en-US" b="1" dirty="0"/>
              <a:t>Can a Room / Teacher be assigned to a Course? **</a:t>
            </a:r>
            <a:endParaRPr lang="en-US" dirty="0"/>
          </a:p>
          <a:p>
            <a:pPr marL="0" indent="0">
              <a:buNone/>
            </a:pP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2514600"/>
            <a:ext cx="3470547" cy="2584450"/>
          </a:xfrm>
          <a:prstGeom prst="rect">
            <a:avLst/>
          </a:prstGeom>
        </p:spPr>
      </p:pic>
      <p:pic>
        <p:nvPicPr>
          <p:cNvPr id="5" name="Picture 4">
            <a:extLst>
              <a:ext uri="{FF2B5EF4-FFF2-40B4-BE49-F238E27FC236}">
                <a16:creationId xmlns:a16="http://schemas.microsoft.com/office/drawing/2014/main" id="{16B3AF7B-52D6-4894-9B5A-DB73632F36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0" y="5727192"/>
            <a:ext cx="1143000" cy="1143000"/>
          </a:xfrm>
          <a:prstGeom prst="rect">
            <a:avLst/>
          </a:prstGeom>
        </p:spPr>
      </p:pic>
    </p:spTree>
    <p:extLst>
      <p:ext uri="{BB962C8B-B14F-4D97-AF65-F5344CB8AC3E}">
        <p14:creationId xmlns:p14="http://schemas.microsoft.com/office/powerpoint/2010/main" val="2997494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sz="5400" b="1" dirty="0">
                <a:solidFill>
                  <a:srgbClr val="002060"/>
                </a:solidFill>
              </a:rPr>
              <a:t>Refining the Abstractions (2)</a:t>
            </a:r>
          </a:p>
        </p:txBody>
      </p:sp>
      <p:sp>
        <p:nvSpPr>
          <p:cNvPr id="3" name="Content Placeholder 2"/>
          <p:cNvSpPr>
            <a:spLocks noGrp="1"/>
          </p:cNvSpPr>
          <p:nvPr>
            <p:ph idx="1"/>
          </p:nvPr>
        </p:nvSpPr>
        <p:spPr>
          <a:xfrm>
            <a:off x="18196" y="914400"/>
            <a:ext cx="9125803" cy="5943600"/>
          </a:xfrm>
        </p:spPr>
        <p:txBody>
          <a:bodyPr>
            <a:normAutofit/>
          </a:bodyPr>
          <a:lstStyle/>
          <a:p>
            <a:r>
              <a:rPr lang="en-US" b="1" dirty="0"/>
              <a:t>Can a Room / Teacher be assigned to a Course?</a:t>
            </a:r>
          </a:p>
          <a:p>
            <a:pPr lvl="1"/>
            <a:r>
              <a:rPr lang="en-US" dirty="0"/>
              <a:t>Course might be taught in several rooms</a:t>
            </a:r>
          </a:p>
          <a:p>
            <a:pPr lvl="1"/>
            <a:r>
              <a:rPr lang="en-US" dirty="0"/>
              <a:t>Course might be taught by several teachers</a:t>
            </a:r>
          </a:p>
          <a:p>
            <a:r>
              <a:rPr lang="en-US" b="1" dirty="0"/>
              <a:t>Can a Student “enroll” in a Course?  **</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p:txBody>
      </p:sp>
      <p:pic>
        <p:nvPicPr>
          <p:cNvPr id="6" name="Picture 5">
            <a:extLst>
              <a:ext uri="{FF2B5EF4-FFF2-40B4-BE49-F238E27FC236}">
                <a16:creationId xmlns:a16="http://schemas.microsoft.com/office/drawing/2014/main" id="{1A1D4180-1DDF-4E44-B120-252F1E578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5575" y="3124200"/>
            <a:ext cx="2409825" cy="1895475"/>
          </a:xfrm>
          <a:prstGeom prst="rect">
            <a:avLst/>
          </a:prstGeom>
        </p:spPr>
      </p:pic>
      <p:pic>
        <p:nvPicPr>
          <p:cNvPr id="5" name="Picture 4">
            <a:extLst>
              <a:ext uri="{FF2B5EF4-FFF2-40B4-BE49-F238E27FC236}">
                <a16:creationId xmlns:a16="http://schemas.microsoft.com/office/drawing/2014/main" id="{A515900B-BD7B-4224-A79F-EDF1145CFE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0" y="5727192"/>
            <a:ext cx="1143000" cy="1143000"/>
          </a:xfrm>
          <a:prstGeom prst="rect">
            <a:avLst/>
          </a:prstGeom>
        </p:spPr>
      </p:pic>
    </p:spTree>
    <p:extLst>
      <p:ext uri="{BB962C8B-B14F-4D97-AF65-F5344CB8AC3E}">
        <p14:creationId xmlns:p14="http://schemas.microsoft.com/office/powerpoint/2010/main" val="291984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sz="5400" b="1" dirty="0">
                <a:solidFill>
                  <a:srgbClr val="002060"/>
                </a:solidFill>
              </a:rPr>
              <a:t>Refining the Abstractions (3)</a:t>
            </a:r>
          </a:p>
        </p:txBody>
      </p:sp>
      <p:sp>
        <p:nvSpPr>
          <p:cNvPr id="3" name="Content Placeholder 2"/>
          <p:cNvSpPr>
            <a:spLocks noGrp="1"/>
          </p:cNvSpPr>
          <p:nvPr>
            <p:ph idx="1"/>
          </p:nvPr>
        </p:nvSpPr>
        <p:spPr>
          <a:xfrm>
            <a:off x="18196" y="914400"/>
            <a:ext cx="9125803" cy="5943600"/>
          </a:xfrm>
        </p:spPr>
        <p:txBody>
          <a:bodyPr>
            <a:normAutofit/>
          </a:bodyPr>
          <a:lstStyle/>
          <a:p>
            <a:r>
              <a:rPr lang="en-US" b="1" dirty="0"/>
              <a:t>Can a Room / Teacher be assigned to a Course?</a:t>
            </a:r>
          </a:p>
          <a:p>
            <a:pPr lvl="1"/>
            <a:r>
              <a:rPr lang="en-US" dirty="0"/>
              <a:t>Course might be taught in several rooms</a:t>
            </a:r>
          </a:p>
          <a:p>
            <a:pPr lvl="1"/>
            <a:r>
              <a:rPr lang="en-US" dirty="0"/>
              <a:t>Course might be taught by several teachers</a:t>
            </a:r>
          </a:p>
          <a:p>
            <a:r>
              <a:rPr lang="en-US" b="1" dirty="0"/>
              <a:t>Can a Student “enroll” in a Course?</a:t>
            </a:r>
          </a:p>
          <a:p>
            <a:pPr marL="0" indent="0">
              <a:buNone/>
            </a:pPr>
            <a:endParaRPr lang="en-US" b="1" dirty="0"/>
          </a:p>
          <a:p>
            <a:pPr marL="0" indent="0">
              <a:buNone/>
            </a:pPr>
            <a:endParaRPr lang="en-US" b="1" dirty="0"/>
          </a:p>
          <a:p>
            <a:pPr marL="0" indent="0">
              <a:buNone/>
            </a:pPr>
            <a:endParaRPr lang="en-US" b="1" dirty="0"/>
          </a:p>
          <a:p>
            <a:pPr marL="857250" lvl="2" indent="0">
              <a:buNone/>
            </a:pPr>
            <a:r>
              <a:rPr lang="en-US" sz="4000" b="1" dirty="0">
                <a:latin typeface="Arial" panose="020B0604020202020204" pitchFamily="34" charset="0"/>
                <a:cs typeface="Arial" panose="020B0604020202020204" pitchFamily="34" charset="0"/>
              </a:rPr>
              <a:t>No. We need a new abstraction</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3124200"/>
            <a:ext cx="2409825" cy="1895475"/>
          </a:xfrm>
          <a:prstGeom prst="rect">
            <a:avLst/>
          </a:prstGeom>
        </p:spPr>
      </p:pic>
      <p:pic>
        <p:nvPicPr>
          <p:cNvPr id="5" name="Picture 4">
            <a:extLst>
              <a:ext uri="{FF2B5EF4-FFF2-40B4-BE49-F238E27FC236}">
                <a16:creationId xmlns:a16="http://schemas.microsoft.com/office/drawing/2014/main" id="{E3B31E4D-24AF-4B55-A333-B578F46FAC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0" y="5727192"/>
            <a:ext cx="1143000" cy="1143000"/>
          </a:xfrm>
          <a:prstGeom prst="rect">
            <a:avLst/>
          </a:prstGeom>
        </p:spPr>
      </p:pic>
    </p:spTree>
    <p:extLst>
      <p:ext uri="{BB962C8B-B14F-4D97-AF65-F5344CB8AC3E}">
        <p14:creationId xmlns:p14="http://schemas.microsoft.com/office/powerpoint/2010/main" val="198808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sz="5400" b="1" dirty="0">
                <a:solidFill>
                  <a:srgbClr val="002060"/>
                </a:solidFill>
              </a:rPr>
              <a:t>Refining the Abstractions</a:t>
            </a:r>
          </a:p>
        </p:txBody>
      </p:sp>
      <p:sp>
        <p:nvSpPr>
          <p:cNvPr id="3" name="Content Placeholder 2"/>
          <p:cNvSpPr>
            <a:spLocks noGrp="1"/>
          </p:cNvSpPr>
          <p:nvPr>
            <p:ph idx="1"/>
          </p:nvPr>
        </p:nvSpPr>
        <p:spPr>
          <a:xfrm>
            <a:off x="18196" y="914400"/>
            <a:ext cx="9125803" cy="5943600"/>
          </a:xfrm>
        </p:spPr>
        <p:txBody>
          <a:bodyPr>
            <a:normAutofit/>
          </a:bodyPr>
          <a:lstStyle/>
          <a:p>
            <a:r>
              <a:rPr lang="en-US" b="1" dirty="0"/>
              <a:t>Can a Room / Teacher be assigned to a Course?</a:t>
            </a:r>
          </a:p>
          <a:p>
            <a:pPr lvl="1"/>
            <a:r>
              <a:rPr lang="en-US" dirty="0"/>
              <a:t>Course might be taught in several rooms</a:t>
            </a:r>
          </a:p>
          <a:p>
            <a:pPr lvl="1"/>
            <a:r>
              <a:rPr lang="en-US" dirty="0"/>
              <a:t>Course might be taught by several teachers</a:t>
            </a:r>
          </a:p>
          <a:p>
            <a:r>
              <a:rPr lang="en-US" b="1" dirty="0"/>
              <a:t>Can a Student “enroll” in a Course?</a:t>
            </a:r>
          </a:p>
          <a:p>
            <a:pPr lvl="1"/>
            <a:r>
              <a:rPr lang="en-US" dirty="0"/>
              <a:t>No. Need a new abstraction</a:t>
            </a:r>
          </a:p>
          <a:p>
            <a:pPr marL="457200" lvl="1" indent="0">
              <a:buNone/>
            </a:pPr>
            <a:endParaRPr lang="en-US" dirty="0"/>
          </a:p>
          <a:p>
            <a:r>
              <a:rPr lang="en-US" sz="3600" b="1" u="sng" dirty="0">
                <a:solidFill>
                  <a:srgbClr val="C00000"/>
                </a:solidFill>
              </a:rPr>
              <a:t>Section</a:t>
            </a:r>
            <a:r>
              <a:rPr lang="en-US" sz="3600" b="1" dirty="0">
                <a:solidFill>
                  <a:srgbClr val="C00000"/>
                </a:solidFill>
              </a:rPr>
              <a:t> vs. Course</a:t>
            </a:r>
          </a:p>
          <a:p>
            <a:pPr lvl="1"/>
            <a:r>
              <a:rPr lang="en-US" dirty="0">
                <a:solidFill>
                  <a:srgbClr val="C00000"/>
                </a:solidFill>
              </a:rPr>
              <a:t>Section</a:t>
            </a:r>
            <a:r>
              <a:rPr lang="en-US" dirty="0"/>
              <a:t> has Room, Teacher, Students, Hours to meet</a:t>
            </a:r>
          </a:p>
          <a:p>
            <a:pPr lvl="1"/>
            <a:r>
              <a:rPr lang="en-US" dirty="0">
                <a:solidFill>
                  <a:srgbClr val="C00000"/>
                </a:solidFill>
              </a:rPr>
              <a:t>Course </a:t>
            </a:r>
            <a:r>
              <a:rPr lang="en-US" dirty="0"/>
              <a:t>has description, Name, # Credits, textbook, …</a:t>
            </a:r>
          </a:p>
          <a:p>
            <a:pPr lvl="1"/>
            <a:r>
              <a:rPr lang="en-US" dirty="0">
                <a:solidFill>
                  <a:srgbClr val="C00000"/>
                </a:solidFill>
              </a:rPr>
              <a:t>Relationship:  </a:t>
            </a:r>
            <a:r>
              <a:rPr lang="en-US" dirty="0"/>
              <a:t>A Section “instantiates” a Course</a:t>
            </a:r>
          </a:p>
          <a:p>
            <a:endParaRPr lang="en-US" dirty="0"/>
          </a:p>
          <a:p>
            <a:endParaRPr lang="en-US" dirty="0"/>
          </a:p>
        </p:txBody>
      </p:sp>
    </p:spTree>
    <p:extLst>
      <p:ext uri="{BB962C8B-B14F-4D97-AF65-F5344CB8AC3E}">
        <p14:creationId xmlns:p14="http://schemas.microsoft.com/office/powerpoint/2010/main" val="62675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sz="5400" b="1" dirty="0">
                <a:solidFill>
                  <a:srgbClr val="002060"/>
                </a:solidFill>
              </a:rPr>
              <a:t>Refining the Abstractions</a:t>
            </a:r>
          </a:p>
        </p:txBody>
      </p:sp>
      <p:sp>
        <p:nvSpPr>
          <p:cNvPr id="3" name="Content Placeholder 2"/>
          <p:cNvSpPr>
            <a:spLocks noGrp="1"/>
          </p:cNvSpPr>
          <p:nvPr>
            <p:ph idx="1"/>
          </p:nvPr>
        </p:nvSpPr>
        <p:spPr>
          <a:xfrm>
            <a:off x="0" y="838200"/>
            <a:ext cx="9144000" cy="2080356"/>
          </a:xfrm>
        </p:spPr>
        <p:txBody>
          <a:bodyPr>
            <a:normAutofit/>
          </a:bodyPr>
          <a:lstStyle/>
          <a:p>
            <a:r>
              <a:rPr lang="en-US" b="1" dirty="0"/>
              <a:t>Teachers, Rooms, Students, all must detect scheduling conflicts when assigned a new Section?</a:t>
            </a:r>
          </a:p>
          <a:p>
            <a:endParaRPr lang="en-US" sz="1100" b="1" dirty="0"/>
          </a:p>
          <a:p>
            <a:r>
              <a:rPr lang="en-US" b="1" dirty="0"/>
              <a:t>How can we avoid writing duplicate code?</a:t>
            </a:r>
          </a:p>
          <a:p>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726" y="2875882"/>
            <a:ext cx="4021274" cy="2994566"/>
          </a:xfrm>
          <a:prstGeom prst="rect">
            <a:avLst/>
          </a:prstGeom>
        </p:spPr>
      </p:pic>
      <p:sp>
        <p:nvSpPr>
          <p:cNvPr id="5" name="TextBox 4">
            <a:extLst>
              <a:ext uri="{FF2B5EF4-FFF2-40B4-BE49-F238E27FC236}">
                <a16:creationId xmlns:a16="http://schemas.microsoft.com/office/drawing/2014/main" id="{0A28E8A8-F930-411D-8C92-1DEDEF72E3B6}"/>
              </a:ext>
            </a:extLst>
          </p:cNvPr>
          <p:cNvSpPr txBox="1"/>
          <p:nvPr/>
        </p:nvSpPr>
        <p:spPr>
          <a:xfrm>
            <a:off x="109247" y="2715207"/>
            <a:ext cx="4922520" cy="4154984"/>
          </a:xfrm>
          <a:prstGeom prst="rect">
            <a:avLst/>
          </a:prstGeom>
          <a:noFill/>
        </p:spPr>
        <p:txBody>
          <a:bodyPr wrap="square" rtlCol="0">
            <a:spAutoFit/>
          </a:bodyPr>
          <a:lstStyle/>
          <a:p>
            <a:pPr marL="342900" indent="-342900">
              <a:buAutoNum type="alphaUcPeriod"/>
            </a:pPr>
            <a:r>
              <a:rPr lang="en-US" sz="2400" dirty="0"/>
              <a:t>Write “</a:t>
            </a:r>
            <a:r>
              <a:rPr lang="en-US" sz="2400" i="1" dirty="0"/>
              <a:t>schedule conflict detection code</a:t>
            </a:r>
            <a:r>
              <a:rPr lang="en-US" sz="2400" dirty="0"/>
              <a:t>” for one of them, cut and paste it into the other 2.</a:t>
            </a:r>
          </a:p>
          <a:p>
            <a:pPr marL="342900" indent="-342900">
              <a:buAutoNum type="alphaUcPeriod"/>
            </a:pPr>
            <a:endParaRPr lang="en-US" sz="2400" dirty="0"/>
          </a:p>
          <a:p>
            <a:pPr marL="342900" indent="-342900">
              <a:buAutoNum type="alphaUcPeriod" startAt="2"/>
            </a:pPr>
            <a:r>
              <a:rPr lang="en-US" sz="2400" dirty="0"/>
              <a:t>Create  a new object containing “</a:t>
            </a:r>
            <a:r>
              <a:rPr lang="en-US" sz="2400" i="1" dirty="0"/>
              <a:t>schedule conflict detection code</a:t>
            </a:r>
            <a:r>
              <a:rPr lang="en-US" sz="2400" dirty="0"/>
              <a:t>” which is contained in all 3.</a:t>
            </a:r>
          </a:p>
          <a:p>
            <a:pPr marL="342900" indent="-342900">
              <a:buAutoNum type="alphaUcPeriod" startAt="2"/>
            </a:pPr>
            <a:endParaRPr lang="en-US" sz="2400" dirty="0"/>
          </a:p>
          <a:p>
            <a:r>
              <a:rPr lang="en-US" sz="2400" dirty="0"/>
              <a:t>C.  Create  a new object containing “</a:t>
            </a:r>
            <a:r>
              <a:rPr lang="en-US" sz="2400" i="1" dirty="0"/>
              <a:t>schedule conflict detection code</a:t>
            </a:r>
            <a:r>
              <a:rPr lang="en-US" sz="2400" dirty="0"/>
              <a:t>” which is used by all 3</a:t>
            </a:r>
          </a:p>
        </p:txBody>
      </p:sp>
      <p:pic>
        <p:nvPicPr>
          <p:cNvPr id="6" name="Picture 5">
            <a:extLst>
              <a:ext uri="{FF2B5EF4-FFF2-40B4-BE49-F238E27FC236}">
                <a16:creationId xmlns:a16="http://schemas.microsoft.com/office/drawing/2014/main" id="{2734C7EA-8A6C-43FB-BCB5-5936398B7B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1208" y="5867400"/>
            <a:ext cx="1002791" cy="1002791"/>
          </a:xfrm>
          <a:prstGeom prst="rect">
            <a:avLst/>
          </a:prstGeom>
        </p:spPr>
      </p:pic>
    </p:spTree>
    <p:extLst>
      <p:ext uri="{BB962C8B-B14F-4D97-AF65-F5344CB8AC3E}">
        <p14:creationId xmlns:p14="http://schemas.microsoft.com/office/powerpoint/2010/main" val="1393602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sz="5400" b="1" dirty="0">
                <a:solidFill>
                  <a:srgbClr val="002060"/>
                </a:solidFill>
              </a:rPr>
              <a:t>Refining the Abstractions</a:t>
            </a:r>
          </a:p>
        </p:txBody>
      </p:sp>
      <p:sp>
        <p:nvSpPr>
          <p:cNvPr id="3" name="Content Placeholder 2"/>
          <p:cNvSpPr>
            <a:spLocks noGrp="1"/>
          </p:cNvSpPr>
          <p:nvPr>
            <p:ph idx="1"/>
          </p:nvPr>
        </p:nvSpPr>
        <p:spPr>
          <a:xfrm>
            <a:off x="36786" y="961697"/>
            <a:ext cx="9144000" cy="1219200"/>
          </a:xfrm>
        </p:spPr>
        <p:txBody>
          <a:bodyPr>
            <a:normAutofit/>
          </a:bodyPr>
          <a:lstStyle/>
          <a:p>
            <a:pPr marL="457200" lvl="1" indent="0">
              <a:buNone/>
            </a:pPr>
            <a:r>
              <a:rPr lang="en-US" sz="3600" b="1" dirty="0">
                <a:sym typeface="Wingdings" panose="05000000000000000000" pitchFamily="2" charset="2"/>
              </a:rPr>
              <a:t> </a:t>
            </a:r>
            <a:r>
              <a:rPr lang="en-US" sz="3600" b="1" dirty="0"/>
              <a:t>Have each of them contain their own </a:t>
            </a:r>
            <a:r>
              <a:rPr lang="en-US" sz="3600" b="1" dirty="0">
                <a:solidFill>
                  <a:srgbClr val="C00000"/>
                </a:solidFill>
              </a:rPr>
              <a:t>Schedule </a:t>
            </a:r>
            <a:r>
              <a:rPr lang="en-US" sz="3600" b="1" dirty="0"/>
              <a:t>object.</a:t>
            </a:r>
          </a:p>
          <a:p>
            <a:pPr marL="0" indent="0">
              <a:buNone/>
            </a:pPr>
            <a:endParaRPr lang="en-US" sz="3600" dirty="0"/>
          </a:p>
        </p:txBody>
      </p:sp>
      <p:pic>
        <p:nvPicPr>
          <p:cNvPr id="1028" name="Picture 4" descr="Five Ways to Keep IT Projects on Schedule | Nutcache">
            <a:extLst>
              <a:ext uri="{FF2B5EF4-FFF2-40B4-BE49-F238E27FC236}">
                <a16:creationId xmlns:a16="http://schemas.microsoft.com/office/drawing/2014/main" id="{37B83A39-F011-46AE-83F8-287D4465C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86" y="2173014"/>
            <a:ext cx="9144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106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5"/>
            <a:ext cx="9144000" cy="1143000"/>
          </a:xfrm>
        </p:spPr>
        <p:txBody>
          <a:bodyPr>
            <a:normAutofit fontScale="90000"/>
          </a:bodyPr>
          <a:lstStyle/>
          <a:p>
            <a:r>
              <a:rPr lang="en-US" b="1" dirty="0">
                <a:solidFill>
                  <a:srgbClr val="002060"/>
                </a:solidFill>
              </a:rPr>
              <a:t>Basic Abstractions in Enrollment System</a:t>
            </a:r>
          </a:p>
        </p:txBody>
      </p:sp>
      <p:sp>
        <p:nvSpPr>
          <p:cNvPr id="3" name="Oval 2"/>
          <p:cNvSpPr/>
          <p:nvPr/>
        </p:nvSpPr>
        <p:spPr>
          <a:xfrm>
            <a:off x="119703" y="1106854"/>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sp>
        <p:nvSpPr>
          <p:cNvPr id="5" name="Oval 4"/>
          <p:cNvSpPr/>
          <p:nvPr/>
        </p:nvSpPr>
        <p:spPr>
          <a:xfrm>
            <a:off x="3077146" y="1143266"/>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p:txBody>
      </p:sp>
      <p:sp>
        <p:nvSpPr>
          <p:cNvPr id="7" name="Oval 6"/>
          <p:cNvSpPr/>
          <p:nvPr/>
        </p:nvSpPr>
        <p:spPr>
          <a:xfrm>
            <a:off x="3077146" y="3106003"/>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p:txBody>
      </p:sp>
      <p:sp>
        <p:nvSpPr>
          <p:cNvPr id="14" name="Oval 13"/>
          <p:cNvSpPr/>
          <p:nvPr/>
        </p:nvSpPr>
        <p:spPr>
          <a:xfrm>
            <a:off x="106768" y="3106003"/>
            <a:ext cx="2198427"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5" name="Oval 14"/>
          <p:cNvSpPr/>
          <p:nvPr/>
        </p:nvSpPr>
        <p:spPr>
          <a:xfrm>
            <a:off x="6237444" y="31242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6324600" y="1066800"/>
            <a:ext cx="2253016" cy="18288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spTree>
    <p:extLst>
      <p:ext uri="{BB962C8B-B14F-4D97-AF65-F5344CB8AC3E}">
        <p14:creationId xmlns:p14="http://schemas.microsoft.com/office/powerpoint/2010/main" val="373551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5"/>
            <a:ext cx="9144000" cy="1143000"/>
          </a:xfrm>
        </p:spPr>
        <p:txBody>
          <a:bodyPr>
            <a:normAutofit fontScale="90000"/>
          </a:bodyPr>
          <a:lstStyle/>
          <a:p>
            <a:r>
              <a:rPr lang="en-US" b="1" dirty="0">
                <a:solidFill>
                  <a:srgbClr val="002060"/>
                </a:solidFill>
              </a:rPr>
              <a:t>Refined Abstractions in Enrollment System</a:t>
            </a:r>
          </a:p>
        </p:txBody>
      </p:sp>
      <p:sp>
        <p:nvSpPr>
          <p:cNvPr id="3" name="Oval 2"/>
          <p:cNvSpPr/>
          <p:nvPr/>
        </p:nvSpPr>
        <p:spPr>
          <a:xfrm>
            <a:off x="119703" y="1106854"/>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sp>
        <p:nvSpPr>
          <p:cNvPr id="5" name="Oval 4"/>
          <p:cNvSpPr/>
          <p:nvPr/>
        </p:nvSpPr>
        <p:spPr>
          <a:xfrm>
            <a:off x="3077146" y="1143266"/>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p:txBody>
      </p:sp>
      <p:sp>
        <p:nvSpPr>
          <p:cNvPr id="7" name="Oval 6"/>
          <p:cNvSpPr/>
          <p:nvPr/>
        </p:nvSpPr>
        <p:spPr>
          <a:xfrm>
            <a:off x="3077146" y="3106003"/>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p:txBody>
      </p:sp>
      <p:sp>
        <p:nvSpPr>
          <p:cNvPr id="14" name="Oval 13"/>
          <p:cNvSpPr/>
          <p:nvPr/>
        </p:nvSpPr>
        <p:spPr>
          <a:xfrm>
            <a:off x="106768" y="3106003"/>
            <a:ext cx="2198427"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5" name="Oval 14"/>
          <p:cNvSpPr/>
          <p:nvPr/>
        </p:nvSpPr>
        <p:spPr>
          <a:xfrm>
            <a:off x="6237444" y="31242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6324600" y="1066800"/>
            <a:ext cx="2253016" cy="18288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sp>
        <p:nvSpPr>
          <p:cNvPr id="17" name="Oval 16"/>
          <p:cNvSpPr/>
          <p:nvPr/>
        </p:nvSpPr>
        <p:spPr>
          <a:xfrm>
            <a:off x="106768" y="5060854"/>
            <a:ext cx="2514600" cy="1752600"/>
          </a:xfrm>
          <a:prstGeom prst="ellipse">
            <a:avLst/>
          </a:prstGeom>
          <a:solidFill>
            <a:schemeClr val="accent2">
              <a:lumMod val="75000"/>
            </a:schemeClr>
          </a:solidFill>
          <a:effectLst>
            <a:glow rad="228600">
              <a:schemeClr val="accent5">
                <a:satMod val="175000"/>
                <a:alpha val="40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Schedule</a:t>
            </a:r>
          </a:p>
        </p:txBody>
      </p:sp>
      <p:sp>
        <p:nvSpPr>
          <p:cNvPr id="10" name="Oval 9"/>
          <p:cNvSpPr/>
          <p:nvPr/>
        </p:nvSpPr>
        <p:spPr>
          <a:xfrm>
            <a:off x="3200400" y="5038108"/>
            <a:ext cx="2106304" cy="1752600"/>
          </a:xfrm>
          <a:prstGeom prst="ellipse">
            <a:avLst/>
          </a:prstGeom>
          <a:solidFill>
            <a:schemeClr val="accent4">
              <a:lumMod val="75000"/>
            </a:schemeClr>
          </a:solidFill>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p:txBody>
      </p:sp>
    </p:spTree>
    <p:extLst>
      <p:ext uri="{BB962C8B-B14F-4D97-AF65-F5344CB8AC3E}">
        <p14:creationId xmlns:p14="http://schemas.microsoft.com/office/powerpoint/2010/main" val="1083363518"/>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sz="5400" b="1" dirty="0">
                <a:solidFill>
                  <a:srgbClr val="002060"/>
                </a:solidFill>
              </a:rPr>
              <a:t>Re-Refining the Abstractions</a:t>
            </a:r>
          </a:p>
        </p:txBody>
      </p:sp>
      <p:sp>
        <p:nvSpPr>
          <p:cNvPr id="3" name="Content Placeholder 2"/>
          <p:cNvSpPr>
            <a:spLocks noGrp="1"/>
          </p:cNvSpPr>
          <p:nvPr>
            <p:ph idx="1"/>
          </p:nvPr>
        </p:nvSpPr>
        <p:spPr>
          <a:xfrm>
            <a:off x="15240" y="847344"/>
            <a:ext cx="9128760" cy="6022848"/>
          </a:xfrm>
        </p:spPr>
        <p:txBody>
          <a:bodyPr>
            <a:normAutofit/>
          </a:bodyPr>
          <a:lstStyle/>
          <a:p>
            <a:pPr marL="0" indent="0">
              <a:buNone/>
            </a:pPr>
            <a:r>
              <a:rPr lang="en-US" b="1" dirty="0">
                <a:solidFill>
                  <a:srgbClr val="C00000"/>
                </a:solidFill>
                <a:latin typeface="Arial" panose="020B0604020202020204" pitchFamily="34" charset="0"/>
                <a:cs typeface="Arial" panose="020B0604020202020204" pitchFamily="34" charset="0"/>
              </a:rPr>
              <a:t>Ex: What is a Prerequisite?</a:t>
            </a:r>
          </a:p>
          <a:p>
            <a:pPr lvl="1"/>
            <a:r>
              <a:rPr lang="en-US" b="1" dirty="0">
                <a:latin typeface="Arial" panose="020B0604020202020204" pitchFamily="34" charset="0"/>
                <a:cs typeface="Arial" panose="020B0604020202020204" pitchFamily="34" charset="0"/>
              </a:rPr>
              <a:t>A Course?</a:t>
            </a:r>
          </a:p>
          <a:p>
            <a:pPr lvl="1"/>
            <a:r>
              <a:rPr lang="en-US" b="1" dirty="0">
                <a:latin typeface="Arial" panose="020B0604020202020204" pitchFamily="34" charset="0"/>
                <a:cs typeface="Arial" panose="020B0604020202020204" pitchFamily="34" charset="0"/>
              </a:rPr>
              <a:t>A Section?</a:t>
            </a:r>
          </a:p>
          <a:p>
            <a:pPr lvl="1"/>
            <a:r>
              <a:rPr lang="en-US" b="1" dirty="0">
                <a:latin typeface="Arial" panose="020B0604020202020204" pitchFamily="34" charset="0"/>
                <a:cs typeface="Arial" panose="020B0604020202020204" pitchFamily="34" charset="0"/>
              </a:rPr>
              <a:t>A  String (containing the Prereq Name &amp; ID)?</a:t>
            </a:r>
          </a:p>
          <a:p>
            <a:pPr lvl="1"/>
            <a:r>
              <a:rPr lang="en-US" b="1" dirty="0">
                <a:latin typeface="Arial" panose="020B0604020202020204" pitchFamily="34" charset="0"/>
                <a:cs typeface="Arial" panose="020B0604020202020204" pitchFamily="34" charset="0"/>
              </a:rPr>
              <a:t>A different object entirely?</a:t>
            </a:r>
          </a:p>
        </p:txBody>
      </p:sp>
      <p:pic>
        <p:nvPicPr>
          <p:cNvPr id="5" name="Picture 4">
            <a:extLst>
              <a:ext uri="{FF2B5EF4-FFF2-40B4-BE49-F238E27FC236}">
                <a16:creationId xmlns:a16="http://schemas.microsoft.com/office/drawing/2014/main" id="{A47F6492-3B24-4CF2-8866-B43EADF3E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9316" y="4648200"/>
            <a:ext cx="2809444" cy="2209800"/>
          </a:xfrm>
          <a:prstGeom prst="rect">
            <a:avLst/>
          </a:prstGeom>
        </p:spPr>
      </p:pic>
      <p:pic>
        <p:nvPicPr>
          <p:cNvPr id="6" name="Picture 5">
            <a:extLst>
              <a:ext uri="{FF2B5EF4-FFF2-40B4-BE49-F238E27FC236}">
                <a16:creationId xmlns:a16="http://schemas.microsoft.com/office/drawing/2014/main" id="{0D0DA411-1FAB-431F-9D63-FDC6B81CF6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8120" y="4419600"/>
            <a:ext cx="1143000" cy="1143000"/>
          </a:xfrm>
          <a:prstGeom prst="rect">
            <a:avLst/>
          </a:prstGeom>
        </p:spPr>
      </p:pic>
    </p:spTree>
    <p:extLst>
      <p:ext uri="{BB962C8B-B14F-4D97-AF65-F5344CB8AC3E}">
        <p14:creationId xmlns:p14="http://schemas.microsoft.com/office/powerpoint/2010/main" val="438575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sz="5400" b="1" dirty="0">
                <a:solidFill>
                  <a:srgbClr val="002060"/>
                </a:solidFill>
              </a:rPr>
              <a:t>Re-Refining the Abstractions</a:t>
            </a:r>
          </a:p>
        </p:txBody>
      </p:sp>
      <p:sp>
        <p:nvSpPr>
          <p:cNvPr id="3" name="Content Placeholder 2"/>
          <p:cNvSpPr>
            <a:spLocks noGrp="1"/>
          </p:cNvSpPr>
          <p:nvPr>
            <p:ph idx="1"/>
          </p:nvPr>
        </p:nvSpPr>
        <p:spPr>
          <a:xfrm>
            <a:off x="15240" y="847344"/>
            <a:ext cx="9128760" cy="6022848"/>
          </a:xfrm>
        </p:spPr>
        <p:txBody>
          <a:bodyPr>
            <a:normAutofit/>
          </a:bodyPr>
          <a:lstStyle/>
          <a:p>
            <a:pPr marL="0" indent="0">
              <a:buNone/>
            </a:pPr>
            <a:r>
              <a:rPr lang="en-US" b="1" dirty="0">
                <a:solidFill>
                  <a:srgbClr val="C00000"/>
                </a:solidFill>
                <a:latin typeface="Arial" panose="020B0604020202020204" pitchFamily="34" charset="0"/>
                <a:cs typeface="Arial" panose="020B0604020202020204" pitchFamily="34" charset="0"/>
              </a:rPr>
              <a:t>A Prereq is a Course:</a:t>
            </a:r>
          </a:p>
          <a:p>
            <a:r>
              <a:rPr lang="en-US" dirty="0"/>
              <a:t>Prereqs have Department &amp; Course IDs (CIS 22a)</a:t>
            </a:r>
          </a:p>
          <a:p>
            <a:r>
              <a:rPr lang="en-US" dirty="0"/>
              <a:t>A Course can have multiple Prereqs</a:t>
            </a:r>
          </a:p>
          <a:p>
            <a:r>
              <a:rPr lang="en-US" dirty="0"/>
              <a:t>A Prereq can have multiple Prereqs</a:t>
            </a:r>
          </a:p>
          <a:p>
            <a:pPr marL="0" indent="0">
              <a:buNone/>
            </a:pPr>
            <a:r>
              <a:rPr lang="en-US" b="1" dirty="0">
                <a:solidFill>
                  <a:srgbClr val="C00000"/>
                </a:solidFill>
                <a:latin typeface="Arial" panose="020B0604020202020204" pitchFamily="34" charset="0"/>
                <a:cs typeface="Arial" panose="020B0604020202020204" pitchFamily="34" charset="0"/>
              </a:rPr>
              <a:t>A Prereq is a Section</a:t>
            </a:r>
          </a:p>
          <a:p>
            <a:r>
              <a:rPr lang="en-US" dirty="0">
                <a:cs typeface="Arial" panose="020B0604020202020204" pitchFamily="34" charset="0"/>
              </a:rPr>
              <a:t>??? Any Section of a Course is the same Prereq</a:t>
            </a:r>
          </a:p>
          <a:p>
            <a:pPr marL="0" indent="0">
              <a:buNone/>
            </a:pPr>
            <a:r>
              <a:rPr lang="en-US" b="1" dirty="0">
                <a:solidFill>
                  <a:srgbClr val="C00000"/>
                </a:solidFill>
                <a:latin typeface="Arial" panose="020B0604020202020204" pitchFamily="34" charset="0"/>
                <a:cs typeface="Arial" panose="020B0604020202020204" pitchFamily="34" charset="0"/>
              </a:rPr>
              <a:t>A Prereq Is a simple String</a:t>
            </a:r>
          </a:p>
          <a:p>
            <a:pPr lvl="1"/>
            <a:r>
              <a:rPr lang="en-US" sz="3200" dirty="0"/>
              <a:t>What else is needed for the College catalog?</a:t>
            </a:r>
          </a:p>
          <a:p>
            <a:pPr marL="0" indent="0">
              <a:buNone/>
            </a:pPr>
            <a:r>
              <a:rPr lang="en-US" b="1" dirty="0">
                <a:solidFill>
                  <a:srgbClr val="C00000"/>
                </a:solidFill>
                <a:latin typeface="Arial" panose="020B0604020202020204" pitchFamily="34" charset="0"/>
                <a:cs typeface="Arial" panose="020B0604020202020204" pitchFamily="34" charset="0"/>
              </a:rPr>
              <a:t>A Prereq is a new type of Object</a:t>
            </a:r>
          </a:p>
          <a:p>
            <a:pPr lvl="1"/>
            <a:r>
              <a:rPr lang="en-US" sz="3200" dirty="0"/>
              <a:t>Why might a new object be needed?</a:t>
            </a:r>
          </a:p>
        </p:txBody>
      </p:sp>
      <p:pic>
        <p:nvPicPr>
          <p:cNvPr id="5" name="Picture 4">
            <a:extLst>
              <a:ext uri="{FF2B5EF4-FFF2-40B4-BE49-F238E27FC236}">
                <a16:creationId xmlns:a16="http://schemas.microsoft.com/office/drawing/2014/main" id="{A47F6492-3B24-4CF2-8866-B43EADF3E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6452" y="2334768"/>
            <a:ext cx="1937548" cy="1524000"/>
          </a:xfrm>
          <a:prstGeom prst="rect">
            <a:avLst/>
          </a:prstGeom>
        </p:spPr>
      </p:pic>
      <p:pic>
        <p:nvPicPr>
          <p:cNvPr id="6" name="Picture 5">
            <a:extLst>
              <a:ext uri="{FF2B5EF4-FFF2-40B4-BE49-F238E27FC236}">
                <a16:creationId xmlns:a16="http://schemas.microsoft.com/office/drawing/2014/main" id="{0D0DA411-1FAB-431F-9D63-FDC6B81CF6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6864" y="6172200"/>
            <a:ext cx="707136" cy="707136"/>
          </a:xfrm>
          <a:prstGeom prst="rect">
            <a:avLst/>
          </a:prstGeom>
        </p:spPr>
      </p:pic>
    </p:spTree>
    <p:extLst>
      <p:ext uri="{BB962C8B-B14F-4D97-AF65-F5344CB8AC3E}">
        <p14:creationId xmlns:p14="http://schemas.microsoft.com/office/powerpoint/2010/main" val="3114142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sz="5400" b="1" dirty="0">
                <a:solidFill>
                  <a:srgbClr val="002060"/>
                </a:solidFill>
              </a:rPr>
              <a:t>What exactly </a:t>
            </a:r>
            <a:r>
              <a:rPr lang="en-US" sz="5400" b="1" u="sng" dirty="0">
                <a:solidFill>
                  <a:srgbClr val="002060"/>
                </a:solidFill>
              </a:rPr>
              <a:t>is</a:t>
            </a:r>
            <a:r>
              <a:rPr lang="en-US" sz="5400" b="1" dirty="0">
                <a:solidFill>
                  <a:srgbClr val="002060"/>
                </a:solidFill>
              </a:rPr>
              <a:t> a Prereq?</a:t>
            </a:r>
          </a:p>
        </p:txBody>
      </p:sp>
      <p:sp>
        <p:nvSpPr>
          <p:cNvPr id="3" name="Content Placeholder 2"/>
          <p:cNvSpPr>
            <a:spLocks noGrp="1"/>
          </p:cNvSpPr>
          <p:nvPr>
            <p:ph idx="1"/>
          </p:nvPr>
        </p:nvSpPr>
        <p:spPr>
          <a:xfrm>
            <a:off x="0" y="990600"/>
            <a:ext cx="9144000" cy="5867400"/>
          </a:xfrm>
        </p:spPr>
        <p:txBody>
          <a:bodyPr>
            <a:normAutofit/>
          </a:bodyPr>
          <a:lstStyle/>
          <a:p>
            <a:pPr marL="0" indent="0">
              <a:buNone/>
            </a:pPr>
            <a:r>
              <a:rPr lang="en-US" sz="4000" b="1" dirty="0">
                <a:cs typeface="Arial" panose="020B0604020202020204" pitchFamily="34" charset="0"/>
              </a:rPr>
              <a:t>Look at the catalog!</a:t>
            </a:r>
          </a:p>
          <a:p>
            <a:pPr lvl="1"/>
            <a:r>
              <a:rPr lang="en-US" sz="3200" dirty="0">
                <a:cs typeface="Arial" panose="020B0604020202020204" pitchFamily="34" charset="0"/>
              </a:rPr>
              <a:t>Prereqs have “types” (</a:t>
            </a:r>
            <a:r>
              <a:rPr lang="en-US" sz="3200" i="1" dirty="0"/>
              <a:t>Advisory / Mandatory</a:t>
            </a:r>
            <a:r>
              <a:rPr lang="en-US" sz="3200" dirty="0"/>
              <a:t>)</a:t>
            </a:r>
          </a:p>
          <a:p>
            <a:pPr lvl="1"/>
            <a:r>
              <a:rPr lang="en-US" sz="3200" dirty="0"/>
              <a:t>Prereqs may not refer to courses at all!!</a:t>
            </a:r>
          </a:p>
          <a:p>
            <a:pPr lvl="2"/>
            <a:r>
              <a:rPr lang="en-US" sz="3200" dirty="0"/>
              <a:t>Ex: “</a:t>
            </a:r>
            <a:r>
              <a:rPr lang="en-US" sz="3200" i="1" dirty="0"/>
              <a:t>Prior experience with OO language</a:t>
            </a:r>
            <a:r>
              <a:rPr lang="en-US" sz="3200" dirty="0"/>
              <a:t>”</a:t>
            </a:r>
          </a:p>
          <a:p>
            <a:pPr lvl="1"/>
            <a:r>
              <a:rPr lang="en-US" sz="3200" dirty="0"/>
              <a:t>Prereqs don’t have Prereqs.  Courses do.</a:t>
            </a:r>
          </a:p>
          <a:p>
            <a:pPr marL="457200" lvl="1" indent="0">
              <a:buNone/>
            </a:pPr>
            <a:endParaRPr lang="en-US" sz="2000" dirty="0"/>
          </a:p>
          <a:p>
            <a:pPr lvl="1">
              <a:buFont typeface="Wingdings" panose="05000000000000000000" pitchFamily="2" charset="2"/>
              <a:buChar char="è"/>
            </a:pPr>
            <a:r>
              <a:rPr lang="en-US" sz="3200" b="1" dirty="0"/>
              <a:t>A Prereq is an object optionally containing a Course ID (among other elements).</a:t>
            </a:r>
          </a:p>
          <a:p>
            <a:pPr marL="1257300" lvl="3" indent="0">
              <a:buNone/>
            </a:pPr>
            <a:r>
              <a:rPr lang="en-US" sz="4000" b="1" u="sng" dirty="0">
                <a:solidFill>
                  <a:srgbClr val="C00000"/>
                </a:solidFill>
                <a:sym typeface="Wingdings" panose="05000000000000000000" pitchFamily="2" charset="2"/>
              </a:rPr>
              <a:t>This</a:t>
            </a:r>
            <a:r>
              <a:rPr lang="en-US" sz="4000" b="1" dirty="0">
                <a:solidFill>
                  <a:srgbClr val="C00000"/>
                </a:solidFill>
                <a:sym typeface="Wingdings" panose="05000000000000000000" pitchFamily="2" charset="2"/>
              </a:rPr>
              <a:t> is the sort of stuff a Software Architect THINKS about!</a:t>
            </a:r>
            <a:endParaRPr lang="en-US" sz="4000" dirty="0"/>
          </a:p>
          <a:p>
            <a:pPr lvl="2"/>
            <a:endParaRPr lang="en-US" dirty="0"/>
          </a:p>
          <a:p>
            <a:pPr lvl="1">
              <a:buFont typeface="Wingdings" panose="05000000000000000000" pitchFamily="2" charset="2"/>
              <a:buChar char="è"/>
            </a:pPr>
            <a:endParaRPr lang="en-US" sz="3200" b="1" dirty="0"/>
          </a:p>
        </p:txBody>
      </p:sp>
    </p:spTree>
    <p:extLst>
      <p:ext uri="{BB962C8B-B14F-4D97-AF65-F5344CB8AC3E}">
        <p14:creationId xmlns:p14="http://schemas.microsoft.com/office/powerpoint/2010/main" val="55640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5"/>
            <a:ext cx="9144000" cy="1143000"/>
          </a:xfrm>
        </p:spPr>
        <p:txBody>
          <a:bodyPr>
            <a:normAutofit fontScale="90000"/>
          </a:bodyPr>
          <a:lstStyle/>
          <a:p>
            <a:r>
              <a:rPr lang="en-US" b="1" dirty="0">
                <a:solidFill>
                  <a:srgbClr val="002060"/>
                </a:solidFill>
              </a:rPr>
              <a:t>Re-refined Abstractions in the De Anza Enrollment System</a:t>
            </a:r>
          </a:p>
        </p:txBody>
      </p:sp>
      <p:sp>
        <p:nvSpPr>
          <p:cNvPr id="3" name="Oval 2"/>
          <p:cNvSpPr/>
          <p:nvPr/>
        </p:nvSpPr>
        <p:spPr>
          <a:xfrm>
            <a:off x="119703" y="1106854"/>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sp>
        <p:nvSpPr>
          <p:cNvPr id="5" name="Oval 4"/>
          <p:cNvSpPr/>
          <p:nvPr/>
        </p:nvSpPr>
        <p:spPr>
          <a:xfrm>
            <a:off x="3077146" y="1143266"/>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p:txBody>
      </p:sp>
      <p:sp>
        <p:nvSpPr>
          <p:cNvPr id="7" name="Oval 6"/>
          <p:cNvSpPr/>
          <p:nvPr/>
        </p:nvSpPr>
        <p:spPr>
          <a:xfrm>
            <a:off x="3077146" y="3106003"/>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p:txBody>
      </p:sp>
      <p:sp>
        <p:nvSpPr>
          <p:cNvPr id="14" name="Oval 13"/>
          <p:cNvSpPr/>
          <p:nvPr/>
        </p:nvSpPr>
        <p:spPr>
          <a:xfrm>
            <a:off x="106768" y="3106003"/>
            <a:ext cx="2198427"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5" name="Oval 14"/>
          <p:cNvSpPr/>
          <p:nvPr/>
        </p:nvSpPr>
        <p:spPr>
          <a:xfrm>
            <a:off x="6237444" y="31242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6324600" y="1066800"/>
            <a:ext cx="2253016" cy="18288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sp>
        <p:nvSpPr>
          <p:cNvPr id="17" name="Oval 16"/>
          <p:cNvSpPr/>
          <p:nvPr/>
        </p:nvSpPr>
        <p:spPr>
          <a:xfrm>
            <a:off x="106768" y="5060854"/>
            <a:ext cx="2514600" cy="1752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Schedule</a:t>
            </a:r>
          </a:p>
        </p:txBody>
      </p:sp>
      <p:sp>
        <p:nvSpPr>
          <p:cNvPr id="10" name="Oval 9"/>
          <p:cNvSpPr/>
          <p:nvPr/>
        </p:nvSpPr>
        <p:spPr>
          <a:xfrm>
            <a:off x="3200400" y="5038108"/>
            <a:ext cx="2106304" cy="1752600"/>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p:txBody>
      </p:sp>
      <p:sp>
        <p:nvSpPr>
          <p:cNvPr id="11" name="Oval 10"/>
          <p:cNvSpPr/>
          <p:nvPr/>
        </p:nvSpPr>
        <p:spPr>
          <a:xfrm>
            <a:off x="6295030" y="5069043"/>
            <a:ext cx="2106304" cy="1752600"/>
          </a:xfrm>
          <a:prstGeom prst="ellipse">
            <a:avLst/>
          </a:prstGeom>
          <a:solidFill>
            <a:schemeClr val="accent3">
              <a:lumMod val="75000"/>
            </a:schemeClr>
          </a:solidFill>
          <a:effectLst>
            <a:glow rad="228600">
              <a:schemeClr val="accent5">
                <a:satMod val="175000"/>
                <a:alpha val="40000"/>
              </a:schemeClr>
            </a:glow>
          </a:effectLst>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Prereq</a:t>
            </a:r>
          </a:p>
        </p:txBody>
      </p:sp>
    </p:spTree>
    <p:extLst>
      <p:ext uri="{BB962C8B-B14F-4D97-AF65-F5344CB8AC3E}">
        <p14:creationId xmlns:p14="http://schemas.microsoft.com/office/powerpoint/2010/main" val="3932825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66"/>
            <a:ext cx="8229600" cy="864248"/>
          </a:xfrm>
        </p:spPr>
        <p:txBody>
          <a:bodyPr>
            <a:normAutofit/>
          </a:bodyPr>
          <a:lstStyle/>
          <a:p>
            <a:r>
              <a:rPr lang="en-US" sz="3600" b="1" dirty="0">
                <a:solidFill>
                  <a:srgbClr val="002060"/>
                </a:solidFill>
                <a:latin typeface="Arial" panose="020B0604020202020204" pitchFamily="34" charset="0"/>
                <a:cs typeface="Arial" panose="020B0604020202020204" pitchFamily="34" charset="0"/>
              </a:rPr>
              <a:t>CCD: Schedule of Classes</a:t>
            </a:r>
          </a:p>
        </p:txBody>
      </p:sp>
      <p:sp>
        <p:nvSpPr>
          <p:cNvPr id="3" name="Oval 2"/>
          <p:cNvSpPr/>
          <p:nvPr/>
        </p:nvSpPr>
        <p:spPr>
          <a:xfrm>
            <a:off x="27296" y="19050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cxnSp>
        <p:nvCxnSpPr>
          <p:cNvPr id="4" name="Straight Arrow Connector 3"/>
          <p:cNvCxnSpPr>
            <a:stCxn id="3" idx="6"/>
          </p:cNvCxnSpPr>
          <p:nvPr/>
        </p:nvCxnSpPr>
        <p:spPr>
          <a:xfrm>
            <a:off x="2133600" y="2781300"/>
            <a:ext cx="1295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3429000" y="19050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a:p>
            <a:pPr algn="ctr"/>
            <a:r>
              <a:rPr lang="en-US" sz="2000" b="1" dirty="0">
                <a:solidFill>
                  <a:schemeClr val="tx1"/>
                </a:solidFill>
              </a:rPr>
              <a:t>(CIS)</a:t>
            </a:r>
          </a:p>
        </p:txBody>
      </p:sp>
      <p:cxnSp>
        <p:nvCxnSpPr>
          <p:cNvPr id="6" name="Straight Arrow Connector 5"/>
          <p:cNvCxnSpPr>
            <a:stCxn id="5" idx="6"/>
            <a:endCxn id="7" idx="2"/>
          </p:cNvCxnSpPr>
          <p:nvPr/>
        </p:nvCxnSpPr>
        <p:spPr>
          <a:xfrm>
            <a:off x="5535304" y="2781300"/>
            <a:ext cx="117029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6705600" y="19050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a:p>
            <a:pPr algn="ctr"/>
            <a:r>
              <a:rPr lang="en-US" sz="2000" b="1" dirty="0">
                <a:solidFill>
                  <a:schemeClr val="tx1"/>
                </a:solidFill>
              </a:rPr>
              <a:t>(CIS 28)</a:t>
            </a:r>
          </a:p>
        </p:txBody>
      </p:sp>
      <p:sp>
        <p:nvSpPr>
          <p:cNvPr id="11" name="TextBox 10"/>
          <p:cNvSpPr txBox="1"/>
          <p:nvPr/>
        </p:nvSpPr>
        <p:spPr>
          <a:xfrm>
            <a:off x="2133600" y="2450068"/>
            <a:ext cx="1295400" cy="369332"/>
          </a:xfrm>
          <a:prstGeom prst="rect">
            <a:avLst/>
          </a:prstGeom>
          <a:noFill/>
        </p:spPr>
        <p:txBody>
          <a:bodyPr wrap="square" rtlCol="0">
            <a:spAutoFit/>
          </a:bodyPr>
          <a:lstStyle/>
          <a:p>
            <a:r>
              <a:rPr lang="en-US" dirty="0"/>
              <a:t>1              N</a:t>
            </a:r>
          </a:p>
        </p:txBody>
      </p:sp>
      <p:sp>
        <p:nvSpPr>
          <p:cNvPr id="12" name="TextBox 11"/>
          <p:cNvSpPr txBox="1"/>
          <p:nvPr/>
        </p:nvSpPr>
        <p:spPr>
          <a:xfrm>
            <a:off x="5486400" y="2438400"/>
            <a:ext cx="1295400" cy="369332"/>
          </a:xfrm>
          <a:prstGeom prst="rect">
            <a:avLst/>
          </a:prstGeom>
          <a:noFill/>
        </p:spPr>
        <p:txBody>
          <a:bodyPr wrap="square" rtlCol="0">
            <a:spAutoFit/>
          </a:bodyPr>
          <a:lstStyle/>
          <a:p>
            <a:r>
              <a:rPr lang="en-US" dirty="0"/>
              <a:t>1              N</a:t>
            </a:r>
          </a:p>
        </p:txBody>
      </p:sp>
      <p:sp>
        <p:nvSpPr>
          <p:cNvPr id="14" name="Oval 13"/>
          <p:cNvSpPr/>
          <p:nvPr/>
        </p:nvSpPr>
        <p:spPr>
          <a:xfrm>
            <a:off x="6580496" y="4639304"/>
            <a:ext cx="2106304" cy="2142495"/>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15" name="Oval 14"/>
          <p:cNvSpPr/>
          <p:nvPr/>
        </p:nvSpPr>
        <p:spPr>
          <a:xfrm>
            <a:off x="3380096" y="44958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295644" y="4503614"/>
            <a:ext cx="2218956" cy="2251754"/>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cxnSp>
        <p:nvCxnSpPr>
          <p:cNvPr id="17" name="Straight Arrow Connector 16"/>
          <p:cNvCxnSpPr/>
          <p:nvPr/>
        </p:nvCxnSpPr>
        <p:spPr>
          <a:xfrm flipH="1">
            <a:off x="2015973" y="3273664"/>
            <a:ext cx="1592723" cy="14284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rot="19127741">
            <a:off x="1668386" y="3647836"/>
            <a:ext cx="2059051" cy="369332"/>
          </a:xfrm>
          <a:prstGeom prst="rect">
            <a:avLst/>
          </a:prstGeom>
          <a:noFill/>
        </p:spPr>
        <p:txBody>
          <a:bodyPr wrap="square" rtlCol="0">
            <a:spAutoFit/>
          </a:bodyPr>
          <a:lstStyle/>
          <a:p>
            <a:r>
              <a:rPr lang="en-US" dirty="0"/>
              <a:t>N                            1</a:t>
            </a:r>
          </a:p>
        </p:txBody>
      </p:sp>
      <p:sp>
        <p:nvSpPr>
          <p:cNvPr id="23" name="TextBox 22"/>
          <p:cNvSpPr txBox="1"/>
          <p:nvPr/>
        </p:nvSpPr>
        <p:spPr>
          <a:xfrm>
            <a:off x="4052248" y="3610273"/>
            <a:ext cx="288962" cy="923330"/>
          </a:xfrm>
          <a:prstGeom prst="rect">
            <a:avLst/>
          </a:prstGeom>
          <a:noFill/>
        </p:spPr>
        <p:txBody>
          <a:bodyPr wrap="square" rtlCol="0">
            <a:spAutoFit/>
          </a:bodyPr>
          <a:lstStyle/>
          <a:p>
            <a:r>
              <a:rPr lang="en-US" dirty="0"/>
              <a:t>1 </a:t>
            </a:r>
          </a:p>
          <a:p>
            <a:r>
              <a:rPr lang="en-US" dirty="0"/>
              <a:t>                     N</a:t>
            </a:r>
          </a:p>
        </p:txBody>
      </p:sp>
      <p:cxnSp>
        <p:nvCxnSpPr>
          <p:cNvPr id="24" name="Straight Arrow Connector 23"/>
          <p:cNvCxnSpPr>
            <a:stCxn id="5" idx="4"/>
          </p:cNvCxnSpPr>
          <p:nvPr/>
        </p:nvCxnSpPr>
        <p:spPr>
          <a:xfrm flipH="1">
            <a:off x="4446896" y="3657600"/>
            <a:ext cx="35256" cy="84601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266296" y="3581400"/>
            <a:ext cx="288962" cy="1200329"/>
          </a:xfrm>
          <a:prstGeom prst="rect">
            <a:avLst/>
          </a:prstGeom>
          <a:noFill/>
        </p:spPr>
        <p:txBody>
          <a:bodyPr wrap="square" rtlCol="0">
            <a:spAutoFit/>
          </a:bodyPr>
          <a:lstStyle/>
          <a:p>
            <a:r>
              <a:rPr lang="en-US" dirty="0"/>
              <a:t>1 </a:t>
            </a:r>
          </a:p>
          <a:p>
            <a:endParaRPr lang="en-US" dirty="0"/>
          </a:p>
          <a:p>
            <a:r>
              <a:rPr lang="en-US" dirty="0"/>
              <a:t>                      N</a:t>
            </a:r>
          </a:p>
        </p:txBody>
      </p:sp>
      <p:cxnSp>
        <p:nvCxnSpPr>
          <p:cNvPr id="29" name="Straight Arrow Connector 28"/>
          <p:cNvCxnSpPr>
            <a:endCxn id="7" idx="4"/>
          </p:cNvCxnSpPr>
          <p:nvPr/>
        </p:nvCxnSpPr>
        <p:spPr>
          <a:xfrm flipV="1">
            <a:off x="7758752" y="3657600"/>
            <a:ext cx="0" cy="10445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459104" y="5536168"/>
            <a:ext cx="117029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410200" y="5193268"/>
            <a:ext cx="1295400" cy="369332"/>
          </a:xfrm>
          <a:prstGeom prst="rect">
            <a:avLst/>
          </a:prstGeom>
          <a:noFill/>
        </p:spPr>
        <p:txBody>
          <a:bodyPr wrap="square" rtlCol="0">
            <a:spAutoFit/>
          </a:bodyPr>
          <a:lstStyle/>
          <a:p>
            <a:r>
              <a:rPr lang="en-US" dirty="0"/>
              <a:t>1              N</a:t>
            </a:r>
          </a:p>
        </p:txBody>
      </p:sp>
      <p:cxnSp>
        <p:nvCxnSpPr>
          <p:cNvPr id="32" name="Straight Arrow Connector 31"/>
          <p:cNvCxnSpPr>
            <a:endCxn id="14" idx="3"/>
          </p:cNvCxnSpPr>
          <p:nvPr/>
        </p:nvCxnSpPr>
        <p:spPr>
          <a:xfrm>
            <a:off x="2109148" y="6461546"/>
            <a:ext cx="4779809" cy="64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231123" y="6488668"/>
            <a:ext cx="4398277" cy="369332"/>
          </a:xfrm>
          <a:prstGeom prst="rect">
            <a:avLst/>
          </a:prstGeom>
          <a:noFill/>
        </p:spPr>
        <p:txBody>
          <a:bodyPr wrap="square" rtlCol="0">
            <a:spAutoFit/>
          </a:bodyPr>
          <a:lstStyle/>
          <a:p>
            <a:r>
              <a:rPr lang="en-US" dirty="0"/>
              <a:t>1                                                                      N</a:t>
            </a:r>
          </a:p>
        </p:txBody>
      </p:sp>
      <p:sp>
        <p:nvSpPr>
          <p:cNvPr id="40" name="Oval 39"/>
          <p:cNvSpPr/>
          <p:nvPr/>
        </p:nvSpPr>
        <p:spPr>
          <a:xfrm>
            <a:off x="1214622" y="6096000"/>
            <a:ext cx="3810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47" name="Oval 46"/>
          <p:cNvSpPr/>
          <p:nvPr/>
        </p:nvSpPr>
        <p:spPr>
          <a:xfrm>
            <a:off x="4291652" y="5727759"/>
            <a:ext cx="3810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48" name="Oval 47"/>
          <p:cNvSpPr/>
          <p:nvPr/>
        </p:nvSpPr>
        <p:spPr>
          <a:xfrm>
            <a:off x="7505700" y="6257793"/>
            <a:ext cx="3810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19" name="TextBox 18"/>
          <p:cNvSpPr txBox="1"/>
          <p:nvPr/>
        </p:nvSpPr>
        <p:spPr>
          <a:xfrm>
            <a:off x="2349463" y="2056197"/>
            <a:ext cx="1148973" cy="461665"/>
          </a:xfrm>
          <a:prstGeom prst="rect">
            <a:avLst/>
          </a:prstGeom>
          <a:noFill/>
        </p:spPr>
        <p:txBody>
          <a:bodyPr wrap="square" rtlCol="0">
            <a:spAutoFit/>
          </a:bodyPr>
          <a:lstStyle/>
          <a:p>
            <a:r>
              <a:rPr lang="en-US" sz="2400" b="1" dirty="0"/>
              <a:t>Has</a:t>
            </a:r>
          </a:p>
        </p:txBody>
      </p:sp>
      <p:sp>
        <p:nvSpPr>
          <p:cNvPr id="34" name="TextBox 33"/>
          <p:cNvSpPr txBox="1"/>
          <p:nvPr/>
        </p:nvSpPr>
        <p:spPr>
          <a:xfrm>
            <a:off x="5595438" y="1982533"/>
            <a:ext cx="1148973" cy="461665"/>
          </a:xfrm>
          <a:prstGeom prst="rect">
            <a:avLst/>
          </a:prstGeom>
          <a:noFill/>
        </p:spPr>
        <p:txBody>
          <a:bodyPr wrap="square" rtlCol="0">
            <a:spAutoFit/>
          </a:bodyPr>
          <a:lstStyle/>
          <a:p>
            <a:r>
              <a:rPr lang="en-US" sz="2400" b="1" dirty="0"/>
              <a:t>Offers</a:t>
            </a:r>
          </a:p>
        </p:txBody>
      </p:sp>
      <p:sp>
        <p:nvSpPr>
          <p:cNvPr id="35" name="TextBox 34"/>
          <p:cNvSpPr txBox="1"/>
          <p:nvPr/>
        </p:nvSpPr>
        <p:spPr>
          <a:xfrm>
            <a:off x="6033161" y="3828905"/>
            <a:ext cx="1785869" cy="461665"/>
          </a:xfrm>
          <a:prstGeom prst="rect">
            <a:avLst/>
          </a:prstGeom>
          <a:noFill/>
        </p:spPr>
        <p:txBody>
          <a:bodyPr wrap="square" rtlCol="0">
            <a:spAutoFit/>
          </a:bodyPr>
          <a:lstStyle/>
          <a:p>
            <a:r>
              <a:rPr lang="en-US" sz="2400" b="1" dirty="0"/>
              <a:t>Instantiates</a:t>
            </a:r>
          </a:p>
        </p:txBody>
      </p:sp>
      <p:sp>
        <p:nvSpPr>
          <p:cNvPr id="37" name="TextBox 36"/>
          <p:cNvSpPr txBox="1"/>
          <p:nvPr/>
        </p:nvSpPr>
        <p:spPr>
          <a:xfrm>
            <a:off x="5533598" y="4797521"/>
            <a:ext cx="1148973" cy="461665"/>
          </a:xfrm>
          <a:prstGeom prst="rect">
            <a:avLst/>
          </a:prstGeom>
          <a:noFill/>
        </p:spPr>
        <p:txBody>
          <a:bodyPr wrap="square" rtlCol="0">
            <a:spAutoFit/>
          </a:bodyPr>
          <a:lstStyle/>
          <a:p>
            <a:r>
              <a:rPr lang="en-US" sz="2400" b="1" dirty="0"/>
              <a:t>Locates</a:t>
            </a:r>
          </a:p>
        </p:txBody>
      </p:sp>
      <p:sp>
        <p:nvSpPr>
          <p:cNvPr id="38" name="TextBox 37"/>
          <p:cNvSpPr txBox="1"/>
          <p:nvPr/>
        </p:nvSpPr>
        <p:spPr>
          <a:xfrm>
            <a:off x="3613649" y="6396335"/>
            <a:ext cx="1737006" cy="461665"/>
          </a:xfrm>
          <a:prstGeom prst="rect">
            <a:avLst/>
          </a:prstGeom>
          <a:noFill/>
        </p:spPr>
        <p:txBody>
          <a:bodyPr wrap="square" rtlCol="0">
            <a:spAutoFit/>
          </a:bodyPr>
          <a:lstStyle/>
          <a:p>
            <a:r>
              <a:rPr lang="en-US" sz="2400" b="1" dirty="0"/>
              <a:t>Instructs</a:t>
            </a:r>
          </a:p>
        </p:txBody>
      </p:sp>
      <p:sp>
        <p:nvSpPr>
          <p:cNvPr id="39" name="TextBox 38"/>
          <p:cNvSpPr txBox="1"/>
          <p:nvPr/>
        </p:nvSpPr>
        <p:spPr>
          <a:xfrm>
            <a:off x="4603840" y="3763869"/>
            <a:ext cx="1148973" cy="461665"/>
          </a:xfrm>
          <a:prstGeom prst="rect">
            <a:avLst/>
          </a:prstGeom>
          <a:noFill/>
        </p:spPr>
        <p:txBody>
          <a:bodyPr wrap="square" rtlCol="0">
            <a:spAutoFit/>
          </a:bodyPr>
          <a:lstStyle/>
          <a:p>
            <a:r>
              <a:rPr lang="en-US" sz="2400" b="1" dirty="0"/>
              <a:t>Owns</a:t>
            </a:r>
          </a:p>
        </p:txBody>
      </p:sp>
      <p:sp>
        <p:nvSpPr>
          <p:cNvPr id="41" name="TextBox 40"/>
          <p:cNvSpPr txBox="1"/>
          <p:nvPr/>
        </p:nvSpPr>
        <p:spPr>
          <a:xfrm>
            <a:off x="2636288" y="3969069"/>
            <a:ext cx="1252755" cy="461665"/>
          </a:xfrm>
          <a:prstGeom prst="rect">
            <a:avLst/>
          </a:prstGeom>
          <a:noFill/>
        </p:spPr>
        <p:txBody>
          <a:bodyPr wrap="square" rtlCol="0">
            <a:spAutoFit/>
          </a:bodyPr>
          <a:lstStyle/>
          <a:p>
            <a:r>
              <a:rPr lang="en-US" sz="2400" b="1" dirty="0"/>
              <a:t>Employs</a:t>
            </a:r>
          </a:p>
        </p:txBody>
      </p:sp>
      <p:sp>
        <p:nvSpPr>
          <p:cNvPr id="42" name="Oval 41">
            <a:extLst>
              <a:ext uri="{FF2B5EF4-FFF2-40B4-BE49-F238E27FC236}">
                <a16:creationId xmlns:a16="http://schemas.microsoft.com/office/drawing/2014/main" id="{EA1EF42C-DDAC-4D1C-B214-60FC931D6365}"/>
              </a:ext>
            </a:extLst>
          </p:cNvPr>
          <p:cNvSpPr/>
          <p:nvPr/>
        </p:nvSpPr>
        <p:spPr>
          <a:xfrm>
            <a:off x="7266296" y="3176446"/>
            <a:ext cx="381000" cy="3048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3" name="Oval 42">
            <a:extLst>
              <a:ext uri="{FF2B5EF4-FFF2-40B4-BE49-F238E27FC236}">
                <a16:creationId xmlns:a16="http://schemas.microsoft.com/office/drawing/2014/main" id="{3B3526A1-50D1-46B9-A16C-0DCAC2037766}"/>
              </a:ext>
            </a:extLst>
          </p:cNvPr>
          <p:cNvSpPr/>
          <p:nvPr/>
        </p:nvSpPr>
        <p:spPr>
          <a:xfrm>
            <a:off x="7696200" y="3197338"/>
            <a:ext cx="381000" cy="3048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4" name="Oval 43">
            <a:extLst>
              <a:ext uri="{FF2B5EF4-FFF2-40B4-BE49-F238E27FC236}">
                <a16:creationId xmlns:a16="http://schemas.microsoft.com/office/drawing/2014/main" id="{A55C1875-DF52-4B65-A167-E2F6B447137B}"/>
              </a:ext>
            </a:extLst>
          </p:cNvPr>
          <p:cNvSpPr/>
          <p:nvPr/>
        </p:nvSpPr>
        <p:spPr>
          <a:xfrm>
            <a:off x="8141344" y="3121264"/>
            <a:ext cx="381000" cy="3048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Tree>
    <p:extLst>
      <p:ext uri="{BB962C8B-B14F-4D97-AF65-F5344CB8AC3E}">
        <p14:creationId xmlns:p14="http://schemas.microsoft.com/office/powerpoint/2010/main" val="4140713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Questions?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219200"/>
            <a:ext cx="5791200" cy="5396753"/>
          </a:xfrm>
          <a:prstGeom prst="rect">
            <a:avLst/>
          </a:prstGeom>
        </p:spPr>
      </p:pic>
    </p:spTree>
    <p:extLst>
      <p:ext uri="{BB962C8B-B14F-4D97-AF65-F5344CB8AC3E}">
        <p14:creationId xmlns:p14="http://schemas.microsoft.com/office/powerpoint/2010/main" val="2622518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A0DAA6-33B8-4A25-810D-2F4D816FB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3729445"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8600" y="640081"/>
            <a:ext cx="3124200" cy="3681976"/>
          </a:xfrm>
          <a:noFill/>
        </p:spPr>
        <p:txBody>
          <a:bodyPr>
            <a:normAutofit/>
          </a:bodyPr>
          <a:lstStyle/>
          <a:p>
            <a:pPr algn="l"/>
            <a:r>
              <a:rPr lang="en-US" sz="3800" b="1" dirty="0">
                <a:solidFill>
                  <a:schemeClr val="bg1"/>
                </a:solidFill>
                <a:latin typeface="Arial" panose="020B0604020202020204" pitchFamily="34" charset="0"/>
                <a:cs typeface="Arial" panose="020B0604020202020204" pitchFamily="34" charset="0"/>
              </a:rPr>
              <a:t>   Software Architecture</a:t>
            </a:r>
          </a:p>
        </p:txBody>
      </p:sp>
      <p:sp>
        <p:nvSpPr>
          <p:cNvPr id="3" name="Subtitle 2"/>
          <p:cNvSpPr>
            <a:spLocks noGrp="1"/>
          </p:cNvSpPr>
          <p:nvPr>
            <p:ph type="subTitle" idx="1"/>
          </p:nvPr>
        </p:nvSpPr>
        <p:spPr>
          <a:xfrm>
            <a:off x="488480" y="4460487"/>
            <a:ext cx="2532888" cy="2245113"/>
          </a:xfrm>
          <a:noFill/>
        </p:spPr>
        <p:txBody>
          <a:bodyPr>
            <a:normAutofit/>
          </a:bodyPr>
          <a:lstStyle/>
          <a:p>
            <a:pPr algn="l"/>
            <a:r>
              <a:rPr lang="en-US" sz="1900" b="1" dirty="0">
                <a:solidFill>
                  <a:schemeClr val="bg1"/>
                </a:solidFill>
                <a:latin typeface="Arial" panose="020B0604020202020204" pitchFamily="34" charset="0"/>
                <a:cs typeface="Arial" panose="020B0604020202020204" pitchFamily="34" charset="0"/>
              </a:rPr>
              <a:t>Object Oriented Analysis &amp; Design</a:t>
            </a:r>
          </a:p>
          <a:p>
            <a:pPr algn="l"/>
            <a:endParaRPr lang="en-US" sz="1900" b="1" dirty="0">
              <a:solidFill>
                <a:schemeClr val="bg1"/>
              </a:solidFill>
              <a:latin typeface="Arial" panose="020B0604020202020204" pitchFamily="34" charset="0"/>
              <a:cs typeface="Arial" panose="020B0604020202020204" pitchFamily="34" charset="0"/>
            </a:endParaRPr>
          </a:p>
          <a:p>
            <a:pPr algn="l"/>
            <a:r>
              <a:rPr lang="en-US" sz="1900" b="1" i="1" dirty="0">
                <a:solidFill>
                  <a:schemeClr val="bg1"/>
                </a:solidFill>
                <a:latin typeface="Arial" panose="020B0604020202020204" pitchFamily="34" charset="0"/>
                <a:cs typeface="Arial" panose="020B0604020202020204" pitchFamily="34" charset="0"/>
              </a:rPr>
              <a:t>Ron Kleinman</a:t>
            </a:r>
          </a:p>
          <a:p>
            <a:pPr algn="l"/>
            <a:r>
              <a:rPr lang="en-US" sz="1900" b="1" i="1" dirty="0">
                <a:solidFill>
                  <a:schemeClr val="bg1"/>
                </a:solidFill>
                <a:latin typeface="Arial" panose="020B0604020202020204" pitchFamily="34" charset="0"/>
                <a:cs typeface="Arial" panose="020B0604020202020204" pitchFamily="34" charset="0"/>
              </a:rPr>
              <a:t>Adjunct Professor</a:t>
            </a:r>
          </a:p>
          <a:p>
            <a:pPr algn="l"/>
            <a:r>
              <a:rPr lang="en-US" sz="1900" b="1" i="1" dirty="0">
                <a:solidFill>
                  <a:schemeClr val="bg1"/>
                </a:solidFill>
                <a:latin typeface="Arial" panose="020B0604020202020204" pitchFamily="34" charset="0"/>
                <a:cs typeface="Arial" panose="020B0604020202020204" pitchFamily="34" charset="0"/>
              </a:rPr>
              <a:t>De </a:t>
            </a:r>
            <a:r>
              <a:rPr lang="en-US" sz="1900" b="1" i="1">
                <a:solidFill>
                  <a:schemeClr val="bg1"/>
                </a:solidFill>
                <a:latin typeface="Arial" panose="020B0604020202020204" pitchFamily="34" charset="0"/>
                <a:cs typeface="Arial" panose="020B0604020202020204" pitchFamily="34" charset="0"/>
              </a:rPr>
              <a:t>Anza College</a:t>
            </a:r>
            <a:endParaRPr lang="en-US" sz="1900" b="1" i="1" dirty="0">
              <a:solidFill>
                <a:schemeClr val="bg1"/>
              </a:solidFill>
              <a:latin typeface="Arial" panose="020B0604020202020204" pitchFamily="34" charset="0"/>
              <a:cs typeface="Arial" panose="020B0604020202020204" pitchFamily="34" charset="0"/>
            </a:endParaRPr>
          </a:p>
        </p:txBody>
      </p:sp>
      <p:pic>
        <p:nvPicPr>
          <p:cNvPr id="5" name="Picture 4" descr="A person standing in front of a tree&#10;&#10;Description automatically generated">
            <a:extLst>
              <a:ext uri="{FF2B5EF4-FFF2-40B4-BE49-F238E27FC236}">
                <a16:creationId xmlns:a16="http://schemas.microsoft.com/office/drawing/2014/main" id="{65682A0F-BD21-4401-849F-943065542EBD}"/>
              </a:ext>
            </a:extLst>
          </p:cNvPr>
          <p:cNvPicPr>
            <a:picLocks noChangeAspect="1"/>
          </p:cNvPicPr>
          <p:nvPr/>
        </p:nvPicPr>
        <p:blipFill rotWithShape="1">
          <a:blip r:embed="rId2">
            <a:extLst>
              <a:ext uri="{28A0092B-C50C-407E-A947-70E740481C1C}">
                <a14:useLocalDpi xmlns:a14="http://schemas.microsoft.com/office/drawing/2010/main" val="0"/>
              </a:ext>
            </a:extLst>
          </a:blip>
          <a:srcRect l="17212" r="20963"/>
          <a:stretch/>
        </p:blipFill>
        <p:spPr>
          <a:xfrm>
            <a:off x="3490722" y="10"/>
            <a:ext cx="5653278" cy="6857990"/>
          </a:xfrm>
          <a:prstGeom prst="rect">
            <a:avLst/>
          </a:prstGeom>
        </p:spPr>
      </p:pic>
    </p:spTree>
    <p:extLst>
      <p:ext uri="{BB962C8B-B14F-4D97-AF65-F5344CB8AC3E}">
        <p14:creationId xmlns:p14="http://schemas.microsoft.com/office/powerpoint/2010/main" val="1552246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93746-30D2-4485-978B-ECCBCAFEC2E1}"/>
              </a:ext>
            </a:extLst>
          </p:cNvPr>
          <p:cNvSpPr>
            <a:spLocks noGrp="1"/>
          </p:cNvSpPr>
          <p:nvPr>
            <p:ph type="title"/>
          </p:nvPr>
        </p:nvSpPr>
        <p:spPr>
          <a:xfrm>
            <a:off x="429369" y="37372"/>
            <a:ext cx="8263890" cy="785985"/>
          </a:xfrm>
        </p:spPr>
        <p:txBody>
          <a:bodyPr anchor="b">
            <a:normAutofit fontScale="90000"/>
          </a:bodyPr>
          <a:lstStyle/>
          <a:p>
            <a:r>
              <a:rPr lang="en-US" sz="4700" b="1" dirty="0"/>
              <a:t>Goal</a:t>
            </a:r>
          </a:p>
        </p:txBody>
      </p:sp>
      <p:sp>
        <p:nvSpPr>
          <p:cNvPr id="3" name="Content Placeholder 2">
            <a:extLst>
              <a:ext uri="{FF2B5EF4-FFF2-40B4-BE49-F238E27FC236}">
                <a16:creationId xmlns:a16="http://schemas.microsoft.com/office/drawing/2014/main" id="{F3F076A9-54C9-4DF3-8948-A2D56B8473FF}"/>
              </a:ext>
            </a:extLst>
          </p:cNvPr>
          <p:cNvSpPr>
            <a:spLocks noGrp="1"/>
          </p:cNvSpPr>
          <p:nvPr>
            <p:ph idx="1"/>
          </p:nvPr>
        </p:nvSpPr>
        <p:spPr>
          <a:xfrm>
            <a:off x="0" y="1143000"/>
            <a:ext cx="6324599" cy="4891643"/>
          </a:xfrm>
        </p:spPr>
        <p:txBody>
          <a:bodyPr anchor="t">
            <a:normAutofit/>
          </a:bodyPr>
          <a:lstStyle/>
          <a:p>
            <a:pPr marL="0" indent="0">
              <a:lnSpc>
                <a:spcPct val="90000"/>
              </a:lnSpc>
              <a:buNone/>
            </a:pPr>
            <a:r>
              <a:rPr lang="en-US" dirty="0">
                <a:effectLst/>
                <a:latin typeface="Arial" panose="020B0604020202020204" pitchFamily="34" charset="0"/>
                <a:ea typeface="Times New Roman" panose="02020603050405020304" pitchFamily="18" charset="0"/>
                <a:cs typeface="Arial" panose="020B0604020202020204" pitchFamily="34" charset="0"/>
              </a:rPr>
              <a:t>This is th</a:t>
            </a:r>
            <a:r>
              <a:rPr lang="en-US" dirty="0">
                <a:latin typeface="Arial" panose="020B0604020202020204" pitchFamily="34" charset="0"/>
                <a:ea typeface="Times New Roman" panose="02020603050405020304" pitchFamily="18" charset="0"/>
                <a:cs typeface="Arial" panose="020B0604020202020204" pitchFamily="34" charset="0"/>
              </a:rPr>
              <a:t>e second of two </a:t>
            </a:r>
            <a:r>
              <a:rPr lang="en-US" dirty="0">
                <a:effectLst/>
                <a:latin typeface="Arial" panose="020B0604020202020204" pitchFamily="34" charset="0"/>
                <a:ea typeface="Times New Roman" panose="02020603050405020304" pitchFamily="18" charset="0"/>
                <a:cs typeface="Arial" panose="020B0604020202020204" pitchFamily="34" charset="0"/>
              </a:rPr>
              <a:t>presentations designed to introduce you to </a:t>
            </a:r>
            <a:r>
              <a:rPr lang="en-US" b="1" dirty="0">
                <a:effectLst/>
                <a:latin typeface="Arial" panose="020B0604020202020204" pitchFamily="34" charset="0"/>
                <a:ea typeface="Times New Roman" panose="02020603050405020304" pitchFamily="18" charset="0"/>
                <a:cs typeface="Arial" panose="020B0604020202020204" pitchFamily="34" charset="0"/>
              </a:rPr>
              <a:t>how a software architect thinks. </a:t>
            </a:r>
          </a:p>
          <a:p>
            <a:pPr marL="0" indent="0">
              <a:lnSpc>
                <a:spcPct val="90000"/>
              </a:lnSpc>
              <a:buNone/>
            </a:pPr>
            <a:endParaRPr lang="en-US" dirty="0">
              <a:effectLst/>
              <a:latin typeface="Arial" panose="020B0604020202020204" pitchFamily="34" charset="0"/>
              <a:ea typeface="Times New Roman" panose="02020603050405020304" pitchFamily="18" charset="0"/>
              <a:cs typeface="Arial" panose="020B0604020202020204" pitchFamily="34" charset="0"/>
            </a:endParaRPr>
          </a:p>
          <a:p>
            <a:pPr marL="0" indent="0">
              <a:lnSpc>
                <a:spcPct val="90000"/>
              </a:lnSpc>
              <a:buNone/>
            </a:pPr>
            <a:r>
              <a:rPr lang="en-US" dirty="0">
                <a:effectLst/>
                <a:latin typeface="Arial" panose="020B0604020202020204" pitchFamily="34" charset="0"/>
                <a:ea typeface="Times New Roman" panose="02020603050405020304" pitchFamily="18" charset="0"/>
                <a:cs typeface="Arial" panose="020B0604020202020204" pitchFamily="34" charset="0"/>
              </a:rPr>
              <a:t>It covers the creation of an application vocabulary and the use of Design Patterns.</a:t>
            </a:r>
            <a:endParaRPr lang="en-US" dirty="0"/>
          </a:p>
        </p:txBody>
      </p:sp>
      <p:pic>
        <p:nvPicPr>
          <p:cNvPr id="4" name="Picture 3">
            <a:extLst>
              <a:ext uri="{FF2B5EF4-FFF2-40B4-BE49-F238E27FC236}">
                <a16:creationId xmlns:a16="http://schemas.microsoft.com/office/drawing/2014/main" id="{1FFFDCEC-80CD-46A4-9F44-B815CC082A1F}"/>
              </a:ext>
            </a:extLst>
          </p:cNvPr>
          <p:cNvPicPr>
            <a:picLocks noChangeAspect="1"/>
          </p:cNvPicPr>
          <p:nvPr/>
        </p:nvPicPr>
        <p:blipFill rotWithShape="1">
          <a:blip r:embed="rId2">
            <a:extLst>
              <a:ext uri="{28A0092B-C50C-407E-A947-70E740481C1C}">
                <a14:useLocalDpi xmlns:a14="http://schemas.microsoft.com/office/drawing/2010/main" val="0"/>
              </a:ext>
            </a:extLst>
          </a:blip>
          <a:srcRect r="16455" b="2"/>
          <a:stretch/>
        </p:blipFill>
        <p:spPr>
          <a:xfrm>
            <a:off x="6188202" y="2761488"/>
            <a:ext cx="2955798" cy="4096512"/>
          </a:xfrm>
          <a:prstGeom prst="rect">
            <a:avLst/>
          </a:prstGeom>
        </p:spPr>
      </p:pic>
    </p:spTree>
    <p:extLst>
      <p:ext uri="{BB962C8B-B14F-4D97-AF65-F5344CB8AC3E}">
        <p14:creationId xmlns:p14="http://schemas.microsoft.com/office/powerpoint/2010/main" val="3709890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66"/>
            <a:ext cx="8229600" cy="864248"/>
          </a:xfrm>
        </p:spPr>
        <p:txBody>
          <a:bodyPr>
            <a:normAutofit/>
          </a:bodyPr>
          <a:lstStyle/>
          <a:p>
            <a:r>
              <a:rPr lang="en-US" sz="3600" b="1" dirty="0">
                <a:solidFill>
                  <a:srgbClr val="002060"/>
                </a:solidFill>
                <a:latin typeface="Arial" panose="020B0604020202020204" pitchFamily="34" charset="0"/>
                <a:cs typeface="Arial" panose="020B0604020202020204" pitchFamily="34" charset="0"/>
              </a:rPr>
              <a:t>CCD: Schedule of Classes</a:t>
            </a:r>
          </a:p>
        </p:txBody>
      </p:sp>
      <p:sp>
        <p:nvSpPr>
          <p:cNvPr id="3" name="Oval 2"/>
          <p:cNvSpPr/>
          <p:nvPr/>
        </p:nvSpPr>
        <p:spPr>
          <a:xfrm>
            <a:off x="27296" y="19050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cxnSp>
        <p:nvCxnSpPr>
          <p:cNvPr id="4" name="Straight Arrow Connector 3"/>
          <p:cNvCxnSpPr>
            <a:stCxn id="3" idx="6"/>
          </p:cNvCxnSpPr>
          <p:nvPr/>
        </p:nvCxnSpPr>
        <p:spPr>
          <a:xfrm>
            <a:off x="2133600" y="2781300"/>
            <a:ext cx="12954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3429000" y="19050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a:p>
            <a:pPr algn="ctr"/>
            <a:r>
              <a:rPr lang="en-US" sz="2000" b="1" dirty="0">
                <a:solidFill>
                  <a:schemeClr val="tx1"/>
                </a:solidFill>
              </a:rPr>
              <a:t>(CIS)</a:t>
            </a:r>
          </a:p>
        </p:txBody>
      </p:sp>
      <p:cxnSp>
        <p:nvCxnSpPr>
          <p:cNvPr id="6" name="Straight Arrow Connector 5"/>
          <p:cNvCxnSpPr>
            <a:stCxn id="5" idx="6"/>
            <a:endCxn id="7" idx="2"/>
          </p:cNvCxnSpPr>
          <p:nvPr/>
        </p:nvCxnSpPr>
        <p:spPr>
          <a:xfrm>
            <a:off x="5535304" y="2781300"/>
            <a:ext cx="117029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6705600" y="19050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a:p>
            <a:pPr algn="ctr"/>
            <a:r>
              <a:rPr lang="en-US" sz="2000" b="1" dirty="0">
                <a:solidFill>
                  <a:schemeClr val="tx1"/>
                </a:solidFill>
              </a:rPr>
              <a:t>(CIS 28)</a:t>
            </a:r>
          </a:p>
        </p:txBody>
      </p:sp>
      <p:sp>
        <p:nvSpPr>
          <p:cNvPr id="11" name="TextBox 10"/>
          <p:cNvSpPr txBox="1"/>
          <p:nvPr/>
        </p:nvSpPr>
        <p:spPr>
          <a:xfrm>
            <a:off x="2133600" y="2450068"/>
            <a:ext cx="1295400" cy="369332"/>
          </a:xfrm>
          <a:prstGeom prst="rect">
            <a:avLst/>
          </a:prstGeom>
          <a:noFill/>
        </p:spPr>
        <p:txBody>
          <a:bodyPr wrap="square" rtlCol="0">
            <a:spAutoFit/>
          </a:bodyPr>
          <a:lstStyle/>
          <a:p>
            <a:r>
              <a:rPr lang="en-US" dirty="0"/>
              <a:t>1              N</a:t>
            </a:r>
          </a:p>
        </p:txBody>
      </p:sp>
      <p:sp>
        <p:nvSpPr>
          <p:cNvPr id="12" name="TextBox 11"/>
          <p:cNvSpPr txBox="1"/>
          <p:nvPr/>
        </p:nvSpPr>
        <p:spPr>
          <a:xfrm>
            <a:off x="5486400" y="2438400"/>
            <a:ext cx="1295400" cy="369332"/>
          </a:xfrm>
          <a:prstGeom prst="rect">
            <a:avLst/>
          </a:prstGeom>
          <a:noFill/>
        </p:spPr>
        <p:txBody>
          <a:bodyPr wrap="square" rtlCol="0">
            <a:spAutoFit/>
          </a:bodyPr>
          <a:lstStyle/>
          <a:p>
            <a:r>
              <a:rPr lang="en-US" dirty="0"/>
              <a:t>1              N</a:t>
            </a:r>
          </a:p>
        </p:txBody>
      </p:sp>
      <p:sp>
        <p:nvSpPr>
          <p:cNvPr id="14" name="Oval 13"/>
          <p:cNvSpPr/>
          <p:nvPr/>
        </p:nvSpPr>
        <p:spPr>
          <a:xfrm>
            <a:off x="6580496" y="4639304"/>
            <a:ext cx="2106304" cy="2142495"/>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15" name="Oval 14"/>
          <p:cNvSpPr/>
          <p:nvPr/>
        </p:nvSpPr>
        <p:spPr>
          <a:xfrm>
            <a:off x="3380096" y="44958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295644" y="4503614"/>
            <a:ext cx="2218956" cy="2251754"/>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cxnSp>
        <p:nvCxnSpPr>
          <p:cNvPr id="17" name="Straight Arrow Connector 16"/>
          <p:cNvCxnSpPr/>
          <p:nvPr/>
        </p:nvCxnSpPr>
        <p:spPr>
          <a:xfrm flipH="1">
            <a:off x="2015973" y="3273664"/>
            <a:ext cx="1592723" cy="14284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rot="19127741">
            <a:off x="1668386" y="3647836"/>
            <a:ext cx="2059051" cy="369332"/>
          </a:xfrm>
          <a:prstGeom prst="rect">
            <a:avLst/>
          </a:prstGeom>
          <a:noFill/>
        </p:spPr>
        <p:txBody>
          <a:bodyPr wrap="square" rtlCol="0">
            <a:spAutoFit/>
          </a:bodyPr>
          <a:lstStyle/>
          <a:p>
            <a:r>
              <a:rPr lang="en-US" dirty="0"/>
              <a:t>N                            1</a:t>
            </a:r>
          </a:p>
        </p:txBody>
      </p:sp>
      <p:sp>
        <p:nvSpPr>
          <p:cNvPr id="23" name="TextBox 22"/>
          <p:cNvSpPr txBox="1"/>
          <p:nvPr/>
        </p:nvSpPr>
        <p:spPr>
          <a:xfrm>
            <a:off x="4052248" y="3610273"/>
            <a:ext cx="288962" cy="923330"/>
          </a:xfrm>
          <a:prstGeom prst="rect">
            <a:avLst/>
          </a:prstGeom>
          <a:noFill/>
        </p:spPr>
        <p:txBody>
          <a:bodyPr wrap="square" rtlCol="0">
            <a:spAutoFit/>
          </a:bodyPr>
          <a:lstStyle/>
          <a:p>
            <a:r>
              <a:rPr lang="en-US" dirty="0"/>
              <a:t>1 </a:t>
            </a:r>
          </a:p>
          <a:p>
            <a:r>
              <a:rPr lang="en-US" dirty="0"/>
              <a:t>                     N</a:t>
            </a:r>
          </a:p>
        </p:txBody>
      </p:sp>
      <p:cxnSp>
        <p:nvCxnSpPr>
          <p:cNvPr id="24" name="Straight Arrow Connector 23"/>
          <p:cNvCxnSpPr>
            <a:stCxn id="5" idx="4"/>
          </p:cNvCxnSpPr>
          <p:nvPr/>
        </p:nvCxnSpPr>
        <p:spPr>
          <a:xfrm flipH="1">
            <a:off x="4446896" y="3657600"/>
            <a:ext cx="35256" cy="84601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266296" y="3581400"/>
            <a:ext cx="288962" cy="1200329"/>
          </a:xfrm>
          <a:prstGeom prst="rect">
            <a:avLst/>
          </a:prstGeom>
          <a:noFill/>
        </p:spPr>
        <p:txBody>
          <a:bodyPr wrap="square" rtlCol="0">
            <a:spAutoFit/>
          </a:bodyPr>
          <a:lstStyle/>
          <a:p>
            <a:r>
              <a:rPr lang="en-US" dirty="0"/>
              <a:t>1 </a:t>
            </a:r>
          </a:p>
          <a:p>
            <a:endParaRPr lang="en-US" dirty="0"/>
          </a:p>
          <a:p>
            <a:r>
              <a:rPr lang="en-US" dirty="0"/>
              <a:t>                      N</a:t>
            </a:r>
          </a:p>
        </p:txBody>
      </p:sp>
      <p:cxnSp>
        <p:nvCxnSpPr>
          <p:cNvPr id="29" name="Straight Arrow Connector 28"/>
          <p:cNvCxnSpPr>
            <a:endCxn id="7" idx="4"/>
          </p:cNvCxnSpPr>
          <p:nvPr/>
        </p:nvCxnSpPr>
        <p:spPr>
          <a:xfrm flipV="1">
            <a:off x="7758752" y="3657600"/>
            <a:ext cx="0" cy="10445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459104" y="5536168"/>
            <a:ext cx="117029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410200" y="5193268"/>
            <a:ext cx="1295400" cy="369332"/>
          </a:xfrm>
          <a:prstGeom prst="rect">
            <a:avLst/>
          </a:prstGeom>
          <a:noFill/>
        </p:spPr>
        <p:txBody>
          <a:bodyPr wrap="square" rtlCol="0">
            <a:spAutoFit/>
          </a:bodyPr>
          <a:lstStyle/>
          <a:p>
            <a:r>
              <a:rPr lang="en-US" dirty="0"/>
              <a:t>1              N</a:t>
            </a:r>
          </a:p>
        </p:txBody>
      </p:sp>
      <p:cxnSp>
        <p:nvCxnSpPr>
          <p:cNvPr id="32" name="Straight Arrow Connector 31"/>
          <p:cNvCxnSpPr>
            <a:endCxn id="14" idx="3"/>
          </p:cNvCxnSpPr>
          <p:nvPr/>
        </p:nvCxnSpPr>
        <p:spPr>
          <a:xfrm>
            <a:off x="2109148" y="6461546"/>
            <a:ext cx="4779809" cy="64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231123" y="6488668"/>
            <a:ext cx="4398277" cy="369332"/>
          </a:xfrm>
          <a:prstGeom prst="rect">
            <a:avLst/>
          </a:prstGeom>
          <a:noFill/>
        </p:spPr>
        <p:txBody>
          <a:bodyPr wrap="square" rtlCol="0">
            <a:spAutoFit/>
          </a:bodyPr>
          <a:lstStyle/>
          <a:p>
            <a:r>
              <a:rPr lang="en-US" dirty="0"/>
              <a:t>1                                                                      N</a:t>
            </a:r>
          </a:p>
        </p:txBody>
      </p:sp>
      <p:sp>
        <p:nvSpPr>
          <p:cNvPr id="40" name="Oval 39"/>
          <p:cNvSpPr/>
          <p:nvPr/>
        </p:nvSpPr>
        <p:spPr>
          <a:xfrm>
            <a:off x="1214622" y="6096000"/>
            <a:ext cx="3810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47" name="Oval 46"/>
          <p:cNvSpPr/>
          <p:nvPr/>
        </p:nvSpPr>
        <p:spPr>
          <a:xfrm>
            <a:off x="4291652" y="5727759"/>
            <a:ext cx="3810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48" name="Oval 47"/>
          <p:cNvSpPr/>
          <p:nvPr/>
        </p:nvSpPr>
        <p:spPr>
          <a:xfrm>
            <a:off x="7505700" y="6257793"/>
            <a:ext cx="3810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19" name="TextBox 18"/>
          <p:cNvSpPr txBox="1"/>
          <p:nvPr/>
        </p:nvSpPr>
        <p:spPr>
          <a:xfrm>
            <a:off x="2349463" y="2056197"/>
            <a:ext cx="1148973" cy="461665"/>
          </a:xfrm>
          <a:prstGeom prst="rect">
            <a:avLst/>
          </a:prstGeom>
          <a:noFill/>
        </p:spPr>
        <p:txBody>
          <a:bodyPr wrap="square" rtlCol="0">
            <a:spAutoFit/>
          </a:bodyPr>
          <a:lstStyle/>
          <a:p>
            <a:r>
              <a:rPr lang="en-US" sz="2400" b="1" dirty="0"/>
              <a:t>Has</a:t>
            </a:r>
          </a:p>
        </p:txBody>
      </p:sp>
      <p:sp>
        <p:nvSpPr>
          <p:cNvPr id="34" name="TextBox 33"/>
          <p:cNvSpPr txBox="1"/>
          <p:nvPr/>
        </p:nvSpPr>
        <p:spPr>
          <a:xfrm>
            <a:off x="5595438" y="1982533"/>
            <a:ext cx="1148973" cy="461665"/>
          </a:xfrm>
          <a:prstGeom prst="rect">
            <a:avLst/>
          </a:prstGeom>
          <a:noFill/>
        </p:spPr>
        <p:txBody>
          <a:bodyPr wrap="square" rtlCol="0">
            <a:spAutoFit/>
          </a:bodyPr>
          <a:lstStyle/>
          <a:p>
            <a:r>
              <a:rPr lang="en-US" sz="2400" b="1" dirty="0"/>
              <a:t>Offers</a:t>
            </a:r>
          </a:p>
        </p:txBody>
      </p:sp>
      <p:sp>
        <p:nvSpPr>
          <p:cNvPr id="35" name="TextBox 34"/>
          <p:cNvSpPr txBox="1"/>
          <p:nvPr/>
        </p:nvSpPr>
        <p:spPr>
          <a:xfrm>
            <a:off x="6033161" y="3828905"/>
            <a:ext cx="1785869" cy="461665"/>
          </a:xfrm>
          <a:prstGeom prst="rect">
            <a:avLst/>
          </a:prstGeom>
          <a:noFill/>
        </p:spPr>
        <p:txBody>
          <a:bodyPr wrap="square" rtlCol="0">
            <a:spAutoFit/>
          </a:bodyPr>
          <a:lstStyle/>
          <a:p>
            <a:r>
              <a:rPr lang="en-US" sz="2400" b="1" dirty="0"/>
              <a:t>Instantiates</a:t>
            </a:r>
          </a:p>
        </p:txBody>
      </p:sp>
      <p:sp>
        <p:nvSpPr>
          <p:cNvPr id="37" name="TextBox 36"/>
          <p:cNvSpPr txBox="1"/>
          <p:nvPr/>
        </p:nvSpPr>
        <p:spPr>
          <a:xfrm>
            <a:off x="5533598" y="4797521"/>
            <a:ext cx="1148973" cy="461665"/>
          </a:xfrm>
          <a:prstGeom prst="rect">
            <a:avLst/>
          </a:prstGeom>
          <a:noFill/>
        </p:spPr>
        <p:txBody>
          <a:bodyPr wrap="square" rtlCol="0">
            <a:spAutoFit/>
          </a:bodyPr>
          <a:lstStyle/>
          <a:p>
            <a:r>
              <a:rPr lang="en-US" sz="2400" b="1" dirty="0"/>
              <a:t>Locates</a:t>
            </a:r>
          </a:p>
        </p:txBody>
      </p:sp>
      <p:sp>
        <p:nvSpPr>
          <p:cNvPr id="38" name="TextBox 37"/>
          <p:cNvSpPr txBox="1"/>
          <p:nvPr/>
        </p:nvSpPr>
        <p:spPr>
          <a:xfrm>
            <a:off x="3613649" y="6396335"/>
            <a:ext cx="1737006" cy="461665"/>
          </a:xfrm>
          <a:prstGeom prst="rect">
            <a:avLst/>
          </a:prstGeom>
          <a:noFill/>
        </p:spPr>
        <p:txBody>
          <a:bodyPr wrap="square" rtlCol="0">
            <a:spAutoFit/>
          </a:bodyPr>
          <a:lstStyle/>
          <a:p>
            <a:r>
              <a:rPr lang="en-US" sz="2400" b="1" dirty="0"/>
              <a:t>Instructs</a:t>
            </a:r>
          </a:p>
        </p:txBody>
      </p:sp>
      <p:sp>
        <p:nvSpPr>
          <p:cNvPr id="39" name="TextBox 38"/>
          <p:cNvSpPr txBox="1"/>
          <p:nvPr/>
        </p:nvSpPr>
        <p:spPr>
          <a:xfrm>
            <a:off x="4603840" y="3763869"/>
            <a:ext cx="1148973" cy="461665"/>
          </a:xfrm>
          <a:prstGeom prst="rect">
            <a:avLst/>
          </a:prstGeom>
          <a:noFill/>
        </p:spPr>
        <p:txBody>
          <a:bodyPr wrap="square" rtlCol="0">
            <a:spAutoFit/>
          </a:bodyPr>
          <a:lstStyle/>
          <a:p>
            <a:r>
              <a:rPr lang="en-US" sz="2400" b="1" dirty="0"/>
              <a:t>Owns</a:t>
            </a:r>
          </a:p>
        </p:txBody>
      </p:sp>
      <p:sp>
        <p:nvSpPr>
          <p:cNvPr id="41" name="TextBox 40"/>
          <p:cNvSpPr txBox="1"/>
          <p:nvPr/>
        </p:nvSpPr>
        <p:spPr>
          <a:xfrm>
            <a:off x="2636288" y="3969069"/>
            <a:ext cx="1252755" cy="461665"/>
          </a:xfrm>
          <a:prstGeom prst="rect">
            <a:avLst/>
          </a:prstGeom>
          <a:noFill/>
        </p:spPr>
        <p:txBody>
          <a:bodyPr wrap="square" rtlCol="0">
            <a:spAutoFit/>
          </a:bodyPr>
          <a:lstStyle/>
          <a:p>
            <a:r>
              <a:rPr lang="en-US" sz="2400" b="1" dirty="0"/>
              <a:t>Employs</a:t>
            </a:r>
          </a:p>
        </p:txBody>
      </p:sp>
      <p:sp>
        <p:nvSpPr>
          <p:cNvPr id="42" name="Oval 41">
            <a:extLst>
              <a:ext uri="{FF2B5EF4-FFF2-40B4-BE49-F238E27FC236}">
                <a16:creationId xmlns:a16="http://schemas.microsoft.com/office/drawing/2014/main" id="{EA1EF42C-DDAC-4D1C-B214-60FC931D6365}"/>
              </a:ext>
            </a:extLst>
          </p:cNvPr>
          <p:cNvSpPr/>
          <p:nvPr/>
        </p:nvSpPr>
        <p:spPr>
          <a:xfrm>
            <a:off x="7266296" y="3176446"/>
            <a:ext cx="381000" cy="3048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3" name="Oval 42">
            <a:extLst>
              <a:ext uri="{FF2B5EF4-FFF2-40B4-BE49-F238E27FC236}">
                <a16:creationId xmlns:a16="http://schemas.microsoft.com/office/drawing/2014/main" id="{3B3526A1-50D1-46B9-A16C-0DCAC2037766}"/>
              </a:ext>
            </a:extLst>
          </p:cNvPr>
          <p:cNvSpPr/>
          <p:nvPr/>
        </p:nvSpPr>
        <p:spPr>
          <a:xfrm>
            <a:off x="7696200" y="3197338"/>
            <a:ext cx="381000" cy="3048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4" name="Oval 43">
            <a:extLst>
              <a:ext uri="{FF2B5EF4-FFF2-40B4-BE49-F238E27FC236}">
                <a16:creationId xmlns:a16="http://schemas.microsoft.com/office/drawing/2014/main" id="{A55C1875-DF52-4B65-A167-E2F6B447137B}"/>
              </a:ext>
            </a:extLst>
          </p:cNvPr>
          <p:cNvSpPr/>
          <p:nvPr/>
        </p:nvSpPr>
        <p:spPr>
          <a:xfrm>
            <a:off x="8141344" y="3121264"/>
            <a:ext cx="381000" cy="30480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p>
        </p:txBody>
      </p:sp>
    </p:spTree>
    <p:extLst>
      <p:ext uri="{BB962C8B-B14F-4D97-AF65-F5344CB8AC3E}">
        <p14:creationId xmlns:p14="http://schemas.microsoft.com/office/powerpoint/2010/main" val="1489014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1465"/>
            <a:ext cx="8229600" cy="816735"/>
          </a:xfrm>
        </p:spPr>
        <p:txBody>
          <a:bodyPr>
            <a:normAutofit/>
          </a:bodyPr>
          <a:lstStyle/>
          <a:p>
            <a:pPr marL="0" indent="0"/>
            <a:r>
              <a:rPr lang="en-US" b="1" dirty="0"/>
              <a:t>Object Relationships (#1)</a:t>
            </a:r>
          </a:p>
        </p:txBody>
      </p:sp>
      <p:sp>
        <p:nvSpPr>
          <p:cNvPr id="3" name="Content Placeholder 2"/>
          <p:cNvSpPr>
            <a:spLocks noGrp="1"/>
          </p:cNvSpPr>
          <p:nvPr>
            <p:ph idx="1"/>
          </p:nvPr>
        </p:nvSpPr>
        <p:spPr>
          <a:xfrm>
            <a:off x="152400" y="914400"/>
            <a:ext cx="8915400" cy="5715000"/>
          </a:xfrm>
        </p:spPr>
        <p:txBody>
          <a:bodyPr>
            <a:normAutofit/>
          </a:bodyPr>
          <a:lstStyle/>
          <a:p>
            <a:r>
              <a:rPr lang="en-US" b="1" dirty="0"/>
              <a:t>1:1  (ex:  Every Teacher has 1 Schedule)</a:t>
            </a:r>
          </a:p>
          <a:p>
            <a:pPr marL="400050" lvl="1" indent="0">
              <a:buNone/>
            </a:pPr>
            <a:r>
              <a:rPr lang="en-US" sz="2400" dirty="0"/>
              <a:t>class Teacher  { </a:t>
            </a:r>
          </a:p>
          <a:p>
            <a:pPr marL="400050" lvl="1" indent="0">
              <a:buNone/>
            </a:pPr>
            <a:r>
              <a:rPr lang="en-US" sz="2400" dirty="0"/>
              <a:t>    private:</a:t>
            </a:r>
          </a:p>
          <a:p>
            <a:pPr marL="400050" lvl="1" indent="0">
              <a:buNone/>
            </a:pPr>
            <a:r>
              <a:rPr lang="en-US" sz="2400" dirty="0"/>
              <a:t>	Schedule s;</a:t>
            </a:r>
          </a:p>
          <a:p>
            <a:pPr marL="0" indent="0">
              <a:buNone/>
            </a:pPr>
            <a:endParaRPr lang="en-US" dirty="0"/>
          </a:p>
          <a:p>
            <a:r>
              <a:rPr lang="en-US" b="1" dirty="0"/>
              <a:t>1:N  (ex:  Every Teacher can teach many Sections</a:t>
            </a:r>
          </a:p>
          <a:p>
            <a:pPr marL="0" indent="0">
              <a:buNone/>
            </a:pPr>
            <a:r>
              <a:rPr lang="en-US" b="1" dirty="0"/>
              <a:t>		 but a Section only has 1 Teacher)</a:t>
            </a:r>
          </a:p>
          <a:p>
            <a:pPr marL="400050" lvl="1" indent="0">
              <a:buNone/>
            </a:pPr>
            <a:r>
              <a:rPr lang="en-US" sz="2400" dirty="0"/>
              <a:t> class Teacher {</a:t>
            </a:r>
          </a:p>
          <a:p>
            <a:pPr marL="400050" lvl="1" indent="0">
              <a:buNone/>
            </a:pPr>
            <a:r>
              <a:rPr lang="en-US" sz="2400" dirty="0"/>
              <a:t>    private:</a:t>
            </a:r>
          </a:p>
          <a:p>
            <a:pPr marL="400050" lvl="1" indent="0">
              <a:buNone/>
            </a:pPr>
            <a:r>
              <a:rPr lang="en-US" sz="2400" dirty="0"/>
              <a:t>	Section  *sections[20];</a:t>
            </a:r>
          </a:p>
          <a:p>
            <a:pPr marL="0" indent="0">
              <a:buNone/>
            </a:pPr>
            <a:endParaRPr lang="en-US" dirty="0"/>
          </a:p>
        </p:txBody>
      </p:sp>
    </p:spTree>
    <p:extLst>
      <p:ext uri="{BB962C8B-B14F-4D97-AF65-F5344CB8AC3E}">
        <p14:creationId xmlns:p14="http://schemas.microsoft.com/office/powerpoint/2010/main" val="2219500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1465"/>
            <a:ext cx="8229600" cy="816735"/>
          </a:xfrm>
        </p:spPr>
        <p:txBody>
          <a:bodyPr>
            <a:normAutofit/>
          </a:bodyPr>
          <a:lstStyle/>
          <a:p>
            <a:pPr marL="0" indent="0"/>
            <a:r>
              <a:rPr lang="en-US" b="1" dirty="0"/>
              <a:t>Object Relationships (#2)</a:t>
            </a:r>
          </a:p>
        </p:txBody>
      </p:sp>
      <p:sp>
        <p:nvSpPr>
          <p:cNvPr id="3" name="Content Placeholder 2"/>
          <p:cNvSpPr>
            <a:spLocks noGrp="1"/>
          </p:cNvSpPr>
          <p:nvPr>
            <p:ph idx="1"/>
          </p:nvPr>
        </p:nvSpPr>
        <p:spPr>
          <a:xfrm>
            <a:off x="152400" y="914400"/>
            <a:ext cx="8915400" cy="5715000"/>
          </a:xfrm>
        </p:spPr>
        <p:txBody>
          <a:bodyPr>
            <a:normAutofit/>
          </a:bodyPr>
          <a:lstStyle/>
          <a:p>
            <a:r>
              <a:rPr lang="en-US" b="1" dirty="0"/>
              <a:t>N:1  (ex:  A Department has many Teachers, but a Teacher is only in one Department)</a:t>
            </a:r>
          </a:p>
          <a:p>
            <a:pPr marL="400050" lvl="1" indent="0">
              <a:buNone/>
            </a:pPr>
            <a:r>
              <a:rPr lang="en-US" sz="2400" dirty="0"/>
              <a:t>class Teacher  { </a:t>
            </a:r>
          </a:p>
          <a:p>
            <a:pPr marL="400050" lvl="1" indent="0">
              <a:buNone/>
            </a:pPr>
            <a:r>
              <a:rPr lang="en-US" sz="2400" dirty="0"/>
              <a:t>    private:</a:t>
            </a:r>
          </a:p>
          <a:p>
            <a:pPr marL="400050" lvl="1" indent="0">
              <a:buNone/>
            </a:pPr>
            <a:r>
              <a:rPr lang="en-US" sz="2400" dirty="0"/>
              <a:t>	Department *department;</a:t>
            </a:r>
          </a:p>
          <a:p>
            <a:pPr marL="0" indent="0">
              <a:buNone/>
            </a:pPr>
            <a:endParaRPr lang="en-US" dirty="0"/>
          </a:p>
          <a:p>
            <a:r>
              <a:rPr lang="en-US" b="1" dirty="0"/>
              <a:t>N:N  (ex:  A Student may be enrolled in many Sections, and every Section can have many Students)</a:t>
            </a:r>
          </a:p>
          <a:p>
            <a:pPr marL="400050" lvl="1" indent="0">
              <a:buNone/>
            </a:pPr>
            <a:r>
              <a:rPr lang="en-US" sz="2400" dirty="0"/>
              <a:t> </a:t>
            </a:r>
          </a:p>
          <a:p>
            <a:pPr marL="800100" lvl="2" indent="0">
              <a:buNone/>
            </a:pPr>
            <a:r>
              <a:rPr lang="en-US" sz="3200" dirty="0" err="1"/>
              <a:t>Uhoh</a:t>
            </a:r>
            <a:endParaRPr lang="en-US" sz="3200" dirty="0"/>
          </a:p>
        </p:txBody>
      </p:sp>
    </p:spTree>
    <p:extLst>
      <p:ext uri="{BB962C8B-B14F-4D97-AF65-F5344CB8AC3E}">
        <p14:creationId xmlns:p14="http://schemas.microsoft.com/office/powerpoint/2010/main" val="30359957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6" y="57966"/>
            <a:ext cx="8964304" cy="864248"/>
          </a:xfrm>
        </p:spPr>
        <p:txBody>
          <a:bodyPr>
            <a:normAutofit fontScale="90000"/>
          </a:bodyPr>
          <a:lstStyle/>
          <a:p>
            <a:r>
              <a:rPr lang="en-US" b="1" dirty="0">
                <a:solidFill>
                  <a:srgbClr val="002060"/>
                </a:solidFill>
              </a:rPr>
              <a:t>Conceptual Class Diagram:  Enrollment</a:t>
            </a:r>
          </a:p>
        </p:txBody>
      </p:sp>
      <p:sp>
        <p:nvSpPr>
          <p:cNvPr id="5" name="Oval 4"/>
          <p:cNvSpPr/>
          <p:nvPr/>
        </p:nvSpPr>
        <p:spPr>
          <a:xfrm>
            <a:off x="27296" y="2129783"/>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4" name="Oval 13"/>
          <p:cNvSpPr/>
          <p:nvPr/>
        </p:nvSpPr>
        <p:spPr>
          <a:xfrm>
            <a:off x="6907669" y="1752600"/>
            <a:ext cx="2095304" cy="2142495"/>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48" name="Oval 47"/>
          <p:cNvSpPr/>
          <p:nvPr/>
        </p:nvSpPr>
        <p:spPr>
          <a:xfrm>
            <a:off x="7408190" y="3472179"/>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4" name="Oval 33"/>
          <p:cNvSpPr/>
          <p:nvPr/>
        </p:nvSpPr>
        <p:spPr>
          <a:xfrm>
            <a:off x="1641442" y="3319779"/>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5" name="TextBox 34"/>
          <p:cNvSpPr txBox="1"/>
          <p:nvPr/>
        </p:nvSpPr>
        <p:spPr>
          <a:xfrm>
            <a:off x="2125713" y="2415674"/>
            <a:ext cx="4702335"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N                                                          </a:t>
            </a:r>
            <a:r>
              <a:rPr lang="en-US" sz="2000" b="1" dirty="0" err="1">
                <a:latin typeface="Arial" panose="020B0604020202020204" pitchFamily="34" charset="0"/>
                <a:cs typeface="Arial" panose="020B0604020202020204" pitchFamily="34" charset="0"/>
              </a:rPr>
              <a:t>N</a:t>
            </a:r>
            <a:endParaRPr lang="en-US" sz="2000" b="1" dirty="0">
              <a:latin typeface="Arial" panose="020B0604020202020204" pitchFamily="34" charset="0"/>
              <a:cs typeface="Arial" panose="020B0604020202020204" pitchFamily="34" charset="0"/>
            </a:endParaRPr>
          </a:p>
        </p:txBody>
      </p:sp>
      <p:cxnSp>
        <p:nvCxnSpPr>
          <p:cNvPr id="20" name="Straight Arrow Connector 19"/>
          <p:cNvCxnSpPr/>
          <p:nvPr/>
        </p:nvCxnSpPr>
        <p:spPr>
          <a:xfrm>
            <a:off x="2209800" y="2815784"/>
            <a:ext cx="4618248" cy="8064"/>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641442" y="4814575"/>
            <a:ext cx="7197758" cy="523220"/>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How could we implement this?  **</a:t>
            </a:r>
            <a:endParaRPr lang="en-US" sz="2800" dirty="0">
              <a:latin typeface="Arial" panose="020B0604020202020204" pitchFamily="34" charset="0"/>
              <a:cs typeface="Arial" panose="020B0604020202020204" pitchFamily="34" charset="0"/>
            </a:endParaRPr>
          </a:p>
        </p:txBody>
      </p:sp>
      <p:sp>
        <p:nvSpPr>
          <p:cNvPr id="3" name="TextBox 2"/>
          <p:cNvSpPr txBox="1"/>
          <p:nvPr/>
        </p:nvSpPr>
        <p:spPr>
          <a:xfrm>
            <a:off x="3048000" y="2286000"/>
            <a:ext cx="2971800" cy="461665"/>
          </a:xfrm>
          <a:prstGeom prst="rect">
            <a:avLst/>
          </a:prstGeom>
          <a:noFill/>
        </p:spPr>
        <p:txBody>
          <a:bodyPr wrap="square" rtlCol="0">
            <a:spAutoFit/>
          </a:bodyPr>
          <a:lstStyle/>
          <a:p>
            <a:r>
              <a:rPr lang="en-US" sz="2400" b="1" dirty="0">
                <a:solidFill>
                  <a:srgbClr val="002060"/>
                </a:solidFill>
              </a:rPr>
              <a:t>Takes / Is Taken By</a:t>
            </a:r>
          </a:p>
        </p:txBody>
      </p:sp>
      <p:pic>
        <p:nvPicPr>
          <p:cNvPr id="11" name="Picture 10">
            <a:extLst>
              <a:ext uri="{FF2B5EF4-FFF2-40B4-BE49-F238E27FC236}">
                <a16:creationId xmlns:a16="http://schemas.microsoft.com/office/drawing/2014/main" id="{A36F6AF1-0555-4AAC-B768-0C389663E4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87200" y="5391661"/>
            <a:ext cx="1295400" cy="1295400"/>
          </a:xfrm>
          <a:prstGeom prst="rect">
            <a:avLst/>
          </a:prstGeom>
        </p:spPr>
      </p:pic>
    </p:spTree>
    <p:extLst>
      <p:ext uri="{BB962C8B-B14F-4D97-AF65-F5344CB8AC3E}">
        <p14:creationId xmlns:p14="http://schemas.microsoft.com/office/powerpoint/2010/main" val="1015200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848" y="118945"/>
            <a:ext cx="8964304" cy="864248"/>
          </a:xfrm>
        </p:spPr>
        <p:txBody>
          <a:bodyPr>
            <a:normAutofit fontScale="90000"/>
          </a:bodyPr>
          <a:lstStyle/>
          <a:p>
            <a:r>
              <a:rPr lang="en-US" b="1" dirty="0">
                <a:solidFill>
                  <a:srgbClr val="002060"/>
                </a:solidFill>
              </a:rPr>
              <a:t>Conceptual Class Diagram:  Enrollment</a:t>
            </a:r>
          </a:p>
        </p:txBody>
      </p:sp>
      <p:sp>
        <p:nvSpPr>
          <p:cNvPr id="5" name="Oval 4"/>
          <p:cNvSpPr/>
          <p:nvPr/>
        </p:nvSpPr>
        <p:spPr>
          <a:xfrm>
            <a:off x="27296" y="3855867"/>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4" name="Oval 13"/>
          <p:cNvSpPr/>
          <p:nvPr/>
        </p:nvSpPr>
        <p:spPr>
          <a:xfrm>
            <a:off x="6907669" y="3478684"/>
            <a:ext cx="2095304" cy="2142495"/>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48" name="Oval 47"/>
          <p:cNvSpPr/>
          <p:nvPr/>
        </p:nvSpPr>
        <p:spPr>
          <a:xfrm>
            <a:off x="7723798" y="4967655"/>
            <a:ext cx="463046" cy="37167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4" name="Oval 33"/>
          <p:cNvSpPr/>
          <p:nvPr/>
        </p:nvSpPr>
        <p:spPr>
          <a:xfrm>
            <a:off x="1014661" y="5001094"/>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8" name="TextBox 37"/>
          <p:cNvSpPr txBox="1"/>
          <p:nvPr/>
        </p:nvSpPr>
        <p:spPr>
          <a:xfrm>
            <a:off x="2209800" y="4393084"/>
            <a:ext cx="5330579"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N:N Relationship:</a:t>
            </a:r>
          </a:p>
        </p:txBody>
      </p:sp>
      <p:sp>
        <p:nvSpPr>
          <p:cNvPr id="10" name="TextBox 9"/>
          <p:cNvSpPr txBox="1"/>
          <p:nvPr/>
        </p:nvSpPr>
        <p:spPr>
          <a:xfrm>
            <a:off x="355193" y="2799573"/>
            <a:ext cx="2519149" cy="707886"/>
          </a:xfrm>
          <a:prstGeom prst="rect">
            <a:avLst/>
          </a:prstGeom>
          <a:noFill/>
        </p:spPr>
        <p:txBody>
          <a:bodyPr wrap="square" rtlCol="0">
            <a:spAutoFit/>
          </a:bodyPr>
          <a:lstStyle/>
          <a:p>
            <a:r>
              <a:rPr lang="en-US" sz="2000" dirty="0">
                <a:solidFill>
                  <a:srgbClr val="C00000"/>
                </a:solidFill>
                <a:latin typeface="Arial" panose="020B0604020202020204" pitchFamily="34" charset="0"/>
                <a:cs typeface="Arial" panose="020B0604020202020204" pitchFamily="34" charset="0"/>
              </a:rPr>
              <a:t>Student has array</a:t>
            </a:r>
          </a:p>
          <a:p>
            <a:r>
              <a:rPr lang="en-US" sz="2000" dirty="0">
                <a:solidFill>
                  <a:srgbClr val="C00000"/>
                </a:solidFill>
                <a:latin typeface="Arial" panose="020B0604020202020204" pitchFamily="34" charset="0"/>
                <a:cs typeface="Arial" panose="020B0604020202020204" pitchFamily="34" charset="0"/>
              </a:rPr>
              <a:t> of Section Refs</a:t>
            </a:r>
          </a:p>
        </p:txBody>
      </p:sp>
      <p:sp>
        <p:nvSpPr>
          <p:cNvPr id="11" name="TextBox 10"/>
          <p:cNvSpPr txBox="1"/>
          <p:nvPr/>
        </p:nvSpPr>
        <p:spPr>
          <a:xfrm>
            <a:off x="6828048" y="5845314"/>
            <a:ext cx="2286000" cy="707886"/>
          </a:xfrm>
          <a:prstGeom prst="rect">
            <a:avLst/>
          </a:prstGeom>
          <a:noFill/>
        </p:spPr>
        <p:txBody>
          <a:bodyPr wrap="square" rtlCol="0">
            <a:spAutoFit/>
          </a:bodyPr>
          <a:lstStyle/>
          <a:p>
            <a:r>
              <a:rPr lang="en-US" sz="2000" dirty="0">
                <a:solidFill>
                  <a:srgbClr val="C00000"/>
                </a:solidFill>
                <a:latin typeface="Arial" panose="020B0604020202020204" pitchFamily="34" charset="0"/>
                <a:cs typeface="Arial" panose="020B0604020202020204" pitchFamily="34" charset="0"/>
              </a:rPr>
              <a:t>Section has array</a:t>
            </a:r>
          </a:p>
          <a:p>
            <a:r>
              <a:rPr lang="en-US" sz="2000" dirty="0">
                <a:solidFill>
                  <a:srgbClr val="C00000"/>
                </a:solidFill>
                <a:latin typeface="Arial" panose="020B0604020202020204" pitchFamily="34" charset="0"/>
                <a:cs typeface="Arial" panose="020B0604020202020204" pitchFamily="34" charset="0"/>
              </a:rPr>
              <a:t> of Student Refs</a:t>
            </a:r>
          </a:p>
        </p:txBody>
      </p:sp>
      <p:sp>
        <p:nvSpPr>
          <p:cNvPr id="15" name="TextBox 14">
            <a:extLst>
              <a:ext uri="{FF2B5EF4-FFF2-40B4-BE49-F238E27FC236}">
                <a16:creationId xmlns:a16="http://schemas.microsoft.com/office/drawing/2014/main" id="{4230CEC9-3B61-4443-8EC5-4FD801CADDF6}"/>
              </a:ext>
            </a:extLst>
          </p:cNvPr>
          <p:cNvSpPr txBox="1"/>
          <p:nvPr/>
        </p:nvSpPr>
        <p:spPr>
          <a:xfrm>
            <a:off x="2125713" y="3856129"/>
            <a:ext cx="4702335"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1                                                         N</a:t>
            </a:r>
          </a:p>
        </p:txBody>
      </p:sp>
      <p:cxnSp>
        <p:nvCxnSpPr>
          <p:cNvPr id="16" name="Straight Arrow Connector 15">
            <a:extLst>
              <a:ext uri="{FF2B5EF4-FFF2-40B4-BE49-F238E27FC236}">
                <a16:creationId xmlns:a16="http://schemas.microsoft.com/office/drawing/2014/main" id="{23F8FA51-7820-450F-9D71-7E6F4ECC8DFB}"/>
              </a:ext>
            </a:extLst>
          </p:cNvPr>
          <p:cNvCxnSpPr>
            <a:cxnSpLocks/>
          </p:cNvCxnSpPr>
          <p:nvPr/>
        </p:nvCxnSpPr>
        <p:spPr>
          <a:xfrm flipV="1">
            <a:off x="2046092" y="4264303"/>
            <a:ext cx="4781956" cy="33680"/>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0DA362F-C2F1-4E91-BE74-3F432EAFF6C2}"/>
              </a:ext>
            </a:extLst>
          </p:cNvPr>
          <p:cNvSpPr txBox="1"/>
          <p:nvPr/>
        </p:nvSpPr>
        <p:spPr>
          <a:xfrm>
            <a:off x="3892378" y="3745548"/>
            <a:ext cx="2971800" cy="461665"/>
          </a:xfrm>
          <a:prstGeom prst="rect">
            <a:avLst/>
          </a:prstGeom>
          <a:noFill/>
        </p:spPr>
        <p:txBody>
          <a:bodyPr wrap="square" rtlCol="0">
            <a:spAutoFit/>
          </a:bodyPr>
          <a:lstStyle/>
          <a:p>
            <a:r>
              <a:rPr lang="en-US" sz="2400" b="1" dirty="0">
                <a:solidFill>
                  <a:srgbClr val="002060"/>
                </a:solidFill>
              </a:rPr>
              <a:t>Takes </a:t>
            </a:r>
          </a:p>
        </p:txBody>
      </p:sp>
      <p:sp>
        <p:nvSpPr>
          <p:cNvPr id="18" name="TextBox 17">
            <a:extLst>
              <a:ext uri="{FF2B5EF4-FFF2-40B4-BE49-F238E27FC236}">
                <a16:creationId xmlns:a16="http://schemas.microsoft.com/office/drawing/2014/main" id="{6B4CE6E4-BCCE-438E-820E-727151ACB7CC}"/>
              </a:ext>
            </a:extLst>
          </p:cNvPr>
          <p:cNvSpPr txBox="1"/>
          <p:nvPr/>
        </p:nvSpPr>
        <p:spPr>
          <a:xfrm>
            <a:off x="2368023" y="5191965"/>
            <a:ext cx="4702335"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N                                                         1</a:t>
            </a:r>
          </a:p>
        </p:txBody>
      </p:sp>
      <p:cxnSp>
        <p:nvCxnSpPr>
          <p:cNvPr id="19" name="Straight Arrow Connector 18">
            <a:extLst>
              <a:ext uri="{FF2B5EF4-FFF2-40B4-BE49-F238E27FC236}">
                <a16:creationId xmlns:a16="http://schemas.microsoft.com/office/drawing/2014/main" id="{6EBCC713-8894-44A1-AF6F-1390DC3869E9}"/>
              </a:ext>
            </a:extLst>
          </p:cNvPr>
          <p:cNvCxnSpPr>
            <a:cxnSpLocks/>
          </p:cNvCxnSpPr>
          <p:nvPr/>
        </p:nvCxnSpPr>
        <p:spPr>
          <a:xfrm flipV="1">
            <a:off x="2209800" y="5017329"/>
            <a:ext cx="4792326" cy="10899"/>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D6C23F-A92B-43D8-8C93-4300D458F40A}"/>
              </a:ext>
            </a:extLst>
          </p:cNvPr>
          <p:cNvSpPr txBox="1"/>
          <p:nvPr/>
        </p:nvSpPr>
        <p:spPr>
          <a:xfrm>
            <a:off x="3707269" y="5221962"/>
            <a:ext cx="2399522" cy="461665"/>
          </a:xfrm>
          <a:prstGeom prst="rect">
            <a:avLst/>
          </a:prstGeom>
          <a:noFill/>
        </p:spPr>
        <p:txBody>
          <a:bodyPr wrap="square" rtlCol="0">
            <a:spAutoFit/>
          </a:bodyPr>
          <a:lstStyle/>
          <a:p>
            <a:r>
              <a:rPr lang="en-US" sz="2400" b="1" dirty="0">
                <a:solidFill>
                  <a:srgbClr val="002060"/>
                </a:solidFill>
              </a:rPr>
              <a:t>Is Taken By</a:t>
            </a:r>
          </a:p>
        </p:txBody>
      </p:sp>
      <p:sp>
        <p:nvSpPr>
          <p:cNvPr id="7" name="TextBox 6">
            <a:extLst>
              <a:ext uri="{FF2B5EF4-FFF2-40B4-BE49-F238E27FC236}">
                <a16:creationId xmlns:a16="http://schemas.microsoft.com/office/drawing/2014/main" id="{F33C3F48-C151-4139-9F35-33E26E56DFCB}"/>
              </a:ext>
            </a:extLst>
          </p:cNvPr>
          <p:cNvSpPr txBox="1"/>
          <p:nvPr/>
        </p:nvSpPr>
        <p:spPr>
          <a:xfrm>
            <a:off x="2874342" y="1640487"/>
            <a:ext cx="4460025" cy="1077218"/>
          </a:xfrm>
          <a:prstGeom prst="rect">
            <a:avLst/>
          </a:prstGeom>
          <a:noFill/>
        </p:spPr>
        <p:txBody>
          <a:bodyPr wrap="square" rtlCol="0">
            <a:spAutoFit/>
          </a:bodyPr>
          <a:lstStyle/>
          <a:p>
            <a:r>
              <a:rPr lang="en-US" sz="3200" b="1" dirty="0">
                <a:solidFill>
                  <a:srgbClr val="C00000"/>
                </a:solidFill>
                <a:latin typeface="Arial" panose="020B0604020202020204" pitchFamily="34" charset="0"/>
                <a:cs typeface="Arial" panose="020B0604020202020204" pitchFamily="34" charset="0"/>
              </a:rPr>
              <a:t>Try two separate “Pointer Arrays”</a:t>
            </a:r>
          </a:p>
        </p:txBody>
      </p:sp>
    </p:spTree>
    <p:extLst>
      <p:ext uri="{BB962C8B-B14F-4D97-AF65-F5344CB8AC3E}">
        <p14:creationId xmlns:p14="http://schemas.microsoft.com/office/powerpoint/2010/main" val="238687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6" y="57966"/>
            <a:ext cx="8964304" cy="864248"/>
          </a:xfrm>
        </p:spPr>
        <p:txBody>
          <a:bodyPr>
            <a:normAutofit fontScale="90000"/>
          </a:bodyPr>
          <a:lstStyle/>
          <a:p>
            <a:r>
              <a:rPr lang="en-US" b="1" dirty="0">
                <a:solidFill>
                  <a:srgbClr val="002060"/>
                </a:solidFill>
              </a:rPr>
              <a:t>Conceptual Class Diagram:  Enrollment</a:t>
            </a:r>
          </a:p>
        </p:txBody>
      </p:sp>
      <p:sp>
        <p:nvSpPr>
          <p:cNvPr id="5" name="Oval 4"/>
          <p:cNvSpPr/>
          <p:nvPr/>
        </p:nvSpPr>
        <p:spPr>
          <a:xfrm>
            <a:off x="27296" y="1215383"/>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4" name="Oval 13"/>
          <p:cNvSpPr/>
          <p:nvPr/>
        </p:nvSpPr>
        <p:spPr>
          <a:xfrm>
            <a:off x="6907669" y="838200"/>
            <a:ext cx="2095304" cy="2142495"/>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48" name="Oval 47"/>
          <p:cNvSpPr/>
          <p:nvPr/>
        </p:nvSpPr>
        <p:spPr>
          <a:xfrm>
            <a:off x="7545790" y="2942567"/>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4" name="Oval 33"/>
          <p:cNvSpPr/>
          <p:nvPr/>
        </p:nvSpPr>
        <p:spPr>
          <a:xfrm>
            <a:off x="1524000" y="2405379"/>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8" name="TextBox 37"/>
          <p:cNvSpPr txBox="1"/>
          <p:nvPr/>
        </p:nvSpPr>
        <p:spPr>
          <a:xfrm>
            <a:off x="1752599" y="3274236"/>
            <a:ext cx="5787779" cy="2677656"/>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But this N:N Relationship has its own Data!</a:t>
            </a:r>
          </a:p>
          <a:p>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Final Grade</a:t>
            </a:r>
          </a:p>
          <a:p>
            <a:r>
              <a:rPr lang="en-US" sz="2000" dirty="0">
                <a:latin typeface="Arial" panose="020B0604020202020204" pitchFamily="34" charset="0"/>
                <a:cs typeface="Arial" panose="020B0604020202020204" pitchFamily="34" charset="0"/>
              </a:rPr>
              <a:t>              Attendance Records</a:t>
            </a:r>
          </a:p>
          <a:p>
            <a:r>
              <a:rPr lang="en-US" sz="2000" dirty="0">
                <a:latin typeface="Arial" panose="020B0604020202020204" pitchFamily="34" charset="0"/>
                <a:cs typeface="Arial" panose="020B0604020202020204" pitchFamily="34" charset="0"/>
              </a:rPr>
              <a:t>              Exam Grades</a:t>
            </a:r>
          </a:p>
          <a:p>
            <a:r>
              <a:rPr lang="en-US" sz="2000" dirty="0">
                <a:latin typeface="Arial" panose="020B0604020202020204" pitchFamily="34" charset="0"/>
                <a:cs typeface="Arial" panose="020B0604020202020204" pitchFamily="34" charset="0"/>
              </a:rPr>
              <a:t>              Teacher’s Comments</a:t>
            </a:r>
          </a:p>
          <a:p>
            <a:endParaRPr lang="en-US" sz="2000" dirty="0">
              <a:latin typeface="Arial" panose="020B0604020202020204" pitchFamily="34" charset="0"/>
              <a:cs typeface="Arial" panose="020B0604020202020204" pitchFamily="34" charset="0"/>
            </a:endParaRPr>
          </a:p>
          <a:p>
            <a:r>
              <a:rPr lang="en-US" sz="2800" b="1" dirty="0">
                <a:latin typeface="Arial" panose="020B0604020202020204" pitchFamily="34" charset="0"/>
                <a:cs typeface="Arial" panose="020B0604020202020204" pitchFamily="34" charset="0"/>
              </a:rPr>
              <a:t> </a:t>
            </a:r>
            <a:r>
              <a:rPr lang="en-US" sz="2800" b="1" dirty="0">
                <a:solidFill>
                  <a:srgbClr val="C00000"/>
                </a:solidFill>
                <a:latin typeface="Arial" panose="020B0604020202020204" pitchFamily="34" charset="0"/>
                <a:cs typeface="Arial" panose="020B0604020202020204" pitchFamily="34" charset="0"/>
                <a:sym typeface="Wingdings" panose="05000000000000000000" pitchFamily="2" charset="2"/>
              </a:rPr>
              <a:t> </a:t>
            </a:r>
            <a:r>
              <a:rPr lang="en-US" sz="2800" b="1" dirty="0">
                <a:solidFill>
                  <a:srgbClr val="C00000"/>
                </a:solidFill>
                <a:latin typeface="Arial" panose="020B0604020202020204" pitchFamily="34" charset="0"/>
                <a:cs typeface="Arial" panose="020B0604020202020204" pitchFamily="34" charset="0"/>
              </a:rPr>
              <a:t>Where is this info stored? ***</a:t>
            </a:r>
          </a:p>
        </p:txBody>
      </p:sp>
      <p:sp>
        <p:nvSpPr>
          <p:cNvPr id="3" name="TextBox 2">
            <a:extLst>
              <a:ext uri="{FF2B5EF4-FFF2-40B4-BE49-F238E27FC236}">
                <a16:creationId xmlns:a16="http://schemas.microsoft.com/office/drawing/2014/main" id="{AC399AD0-8F3D-4260-A6C3-7F7011CF5ABC}"/>
              </a:ext>
            </a:extLst>
          </p:cNvPr>
          <p:cNvSpPr txBox="1"/>
          <p:nvPr/>
        </p:nvSpPr>
        <p:spPr>
          <a:xfrm>
            <a:off x="304800" y="6167735"/>
            <a:ext cx="8839200" cy="461665"/>
          </a:xfrm>
          <a:prstGeom prst="rect">
            <a:avLst/>
          </a:prstGeom>
          <a:noFill/>
        </p:spPr>
        <p:txBody>
          <a:bodyPr wrap="square" rtlCol="0">
            <a:spAutoFit/>
          </a:bodyPr>
          <a:lstStyle/>
          <a:p>
            <a:r>
              <a:rPr lang="en-US" sz="2400" b="1" dirty="0">
                <a:solidFill>
                  <a:srgbClr val="002060"/>
                </a:solidFill>
                <a:latin typeface="Arial" panose="020B0604020202020204" pitchFamily="34" charset="0"/>
                <a:cs typeface="Arial" panose="020B0604020202020204" pitchFamily="34" charset="0"/>
              </a:rPr>
              <a:t>Note:  N:N Relationship with data is usually a design error!</a:t>
            </a:r>
          </a:p>
        </p:txBody>
      </p:sp>
      <p:sp>
        <p:nvSpPr>
          <p:cNvPr id="12" name="TextBox 11">
            <a:extLst>
              <a:ext uri="{FF2B5EF4-FFF2-40B4-BE49-F238E27FC236}">
                <a16:creationId xmlns:a16="http://schemas.microsoft.com/office/drawing/2014/main" id="{42D6D5BF-271C-4EC1-8919-3E2AEF7036D2}"/>
              </a:ext>
            </a:extLst>
          </p:cNvPr>
          <p:cNvSpPr txBox="1"/>
          <p:nvPr/>
        </p:nvSpPr>
        <p:spPr>
          <a:xfrm>
            <a:off x="2209800" y="1757457"/>
            <a:ext cx="5330579"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N:N Relationship:</a:t>
            </a:r>
          </a:p>
        </p:txBody>
      </p:sp>
      <p:sp>
        <p:nvSpPr>
          <p:cNvPr id="13" name="TextBox 12">
            <a:extLst>
              <a:ext uri="{FF2B5EF4-FFF2-40B4-BE49-F238E27FC236}">
                <a16:creationId xmlns:a16="http://schemas.microsoft.com/office/drawing/2014/main" id="{85BE80BB-0AEF-4855-8D71-A22E4B07C849}"/>
              </a:ext>
            </a:extLst>
          </p:cNvPr>
          <p:cNvSpPr txBox="1"/>
          <p:nvPr/>
        </p:nvSpPr>
        <p:spPr>
          <a:xfrm>
            <a:off x="2125713" y="1220502"/>
            <a:ext cx="4702335"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1                                                         N</a:t>
            </a:r>
          </a:p>
        </p:txBody>
      </p:sp>
      <p:cxnSp>
        <p:nvCxnSpPr>
          <p:cNvPr id="15" name="Straight Arrow Connector 14">
            <a:extLst>
              <a:ext uri="{FF2B5EF4-FFF2-40B4-BE49-F238E27FC236}">
                <a16:creationId xmlns:a16="http://schemas.microsoft.com/office/drawing/2014/main" id="{BB4EFC56-6AF7-4E48-A731-19EAB59B9688}"/>
              </a:ext>
            </a:extLst>
          </p:cNvPr>
          <p:cNvCxnSpPr>
            <a:cxnSpLocks/>
          </p:cNvCxnSpPr>
          <p:nvPr/>
        </p:nvCxnSpPr>
        <p:spPr>
          <a:xfrm flipV="1">
            <a:off x="2046092" y="1628676"/>
            <a:ext cx="4781956" cy="33680"/>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5D3A886-9F10-4E54-AF42-D0C8AC233BF1}"/>
              </a:ext>
            </a:extLst>
          </p:cNvPr>
          <p:cNvSpPr txBox="1"/>
          <p:nvPr/>
        </p:nvSpPr>
        <p:spPr>
          <a:xfrm>
            <a:off x="3892378" y="1109921"/>
            <a:ext cx="2971800" cy="461665"/>
          </a:xfrm>
          <a:prstGeom prst="rect">
            <a:avLst/>
          </a:prstGeom>
          <a:noFill/>
        </p:spPr>
        <p:txBody>
          <a:bodyPr wrap="square" rtlCol="0">
            <a:spAutoFit/>
          </a:bodyPr>
          <a:lstStyle/>
          <a:p>
            <a:r>
              <a:rPr lang="en-US" sz="2400" b="1" dirty="0">
                <a:solidFill>
                  <a:srgbClr val="002060"/>
                </a:solidFill>
              </a:rPr>
              <a:t>Takes </a:t>
            </a:r>
          </a:p>
        </p:txBody>
      </p:sp>
      <p:sp>
        <p:nvSpPr>
          <p:cNvPr id="17" name="TextBox 16">
            <a:extLst>
              <a:ext uri="{FF2B5EF4-FFF2-40B4-BE49-F238E27FC236}">
                <a16:creationId xmlns:a16="http://schemas.microsoft.com/office/drawing/2014/main" id="{D717AB7E-C5BB-480D-B5AE-B31AA9A89FBB}"/>
              </a:ext>
            </a:extLst>
          </p:cNvPr>
          <p:cNvSpPr txBox="1"/>
          <p:nvPr/>
        </p:nvSpPr>
        <p:spPr>
          <a:xfrm>
            <a:off x="2368023" y="2556338"/>
            <a:ext cx="4702335"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N                                                         1</a:t>
            </a:r>
          </a:p>
        </p:txBody>
      </p:sp>
      <p:cxnSp>
        <p:nvCxnSpPr>
          <p:cNvPr id="18" name="Straight Arrow Connector 17">
            <a:extLst>
              <a:ext uri="{FF2B5EF4-FFF2-40B4-BE49-F238E27FC236}">
                <a16:creationId xmlns:a16="http://schemas.microsoft.com/office/drawing/2014/main" id="{0F2A78D0-D668-482D-ACA1-A2F527AC3A27}"/>
              </a:ext>
            </a:extLst>
          </p:cNvPr>
          <p:cNvCxnSpPr>
            <a:cxnSpLocks/>
          </p:cNvCxnSpPr>
          <p:nvPr/>
        </p:nvCxnSpPr>
        <p:spPr>
          <a:xfrm flipV="1">
            <a:off x="2209800" y="2381702"/>
            <a:ext cx="4792326" cy="10899"/>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43876F0-F985-41A1-8E45-D0E36ED0C038}"/>
              </a:ext>
            </a:extLst>
          </p:cNvPr>
          <p:cNvSpPr txBox="1"/>
          <p:nvPr/>
        </p:nvSpPr>
        <p:spPr>
          <a:xfrm>
            <a:off x="3707269" y="2586335"/>
            <a:ext cx="2399522" cy="461665"/>
          </a:xfrm>
          <a:prstGeom prst="rect">
            <a:avLst/>
          </a:prstGeom>
          <a:noFill/>
        </p:spPr>
        <p:txBody>
          <a:bodyPr wrap="square" rtlCol="0">
            <a:spAutoFit/>
          </a:bodyPr>
          <a:lstStyle/>
          <a:p>
            <a:r>
              <a:rPr lang="en-US" sz="2400" b="1" dirty="0">
                <a:solidFill>
                  <a:srgbClr val="002060"/>
                </a:solidFill>
              </a:rPr>
              <a:t>Is Taken By</a:t>
            </a:r>
          </a:p>
        </p:txBody>
      </p:sp>
      <p:pic>
        <p:nvPicPr>
          <p:cNvPr id="20" name="Picture 19">
            <a:extLst>
              <a:ext uri="{FF2B5EF4-FFF2-40B4-BE49-F238E27FC236}">
                <a16:creationId xmlns:a16="http://schemas.microsoft.com/office/drawing/2014/main" id="{66EAB5E5-8071-4436-B106-D1E76CD862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81544" y="4872335"/>
            <a:ext cx="1295400" cy="1295400"/>
          </a:xfrm>
          <a:prstGeom prst="rect">
            <a:avLst/>
          </a:prstGeom>
        </p:spPr>
      </p:pic>
    </p:spTree>
    <p:extLst>
      <p:ext uri="{BB962C8B-B14F-4D97-AF65-F5344CB8AC3E}">
        <p14:creationId xmlns:p14="http://schemas.microsoft.com/office/powerpoint/2010/main" val="85044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6" y="57966"/>
            <a:ext cx="8964304" cy="864248"/>
          </a:xfrm>
        </p:spPr>
        <p:txBody>
          <a:bodyPr>
            <a:normAutofit fontScale="90000"/>
          </a:bodyPr>
          <a:lstStyle/>
          <a:p>
            <a:r>
              <a:rPr lang="en-US" b="1" dirty="0">
                <a:solidFill>
                  <a:srgbClr val="002060"/>
                </a:solidFill>
              </a:rPr>
              <a:t>Conceptual Class Diagram:  Enrollment</a:t>
            </a:r>
          </a:p>
        </p:txBody>
      </p:sp>
      <p:sp>
        <p:nvSpPr>
          <p:cNvPr id="5" name="Oval 4"/>
          <p:cNvSpPr/>
          <p:nvPr/>
        </p:nvSpPr>
        <p:spPr>
          <a:xfrm>
            <a:off x="27296" y="1520183"/>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4" name="Oval 13"/>
          <p:cNvSpPr/>
          <p:nvPr/>
        </p:nvSpPr>
        <p:spPr>
          <a:xfrm>
            <a:off x="7048696" y="1143000"/>
            <a:ext cx="2095304" cy="2142495"/>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48" name="Oval 47"/>
          <p:cNvSpPr/>
          <p:nvPr/>
        </p:nvSpPr>
        <p:spPr>
          <a:xfrm>
            <a:off x="7621990" y="2819401"/>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4" name="Oval 33"/>
          <p:cNvSpPr/>
          <p:nvPr/>
        </p:nvSpPr>
        <p:spPr>
          <a:xfrm>
            <a:off x="1524000" y="2710179"/>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5" name="TextBox 34"/>
          <p:cNvSpPr txBox="1"/>
          <p:nvPr/>
        </p:nvSpPr>
        <p:spPr>
          <a:xfrm>
            <a:off x="2125713" y="1806074"/>
            <a:ext cx="1684287"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1               N</a:t>
            </a:r>
          </a:p>
        </p:txBody>
      </p:sp>
      <p:cxnSp>
        <p:nvCxnSpPr>
          <p:cNvPr id="20" name="Straight Arrow Connector 19"/>
          <p:cNvCxnSpPr/>
          <p:nvPr/>
        </p:nvCxnSpPr>
        <p:spPr>
          <a:xfrm>
            <a:off x="2209800" y="2206184"/>
            <a:ext cx="1447800" cy="0"/>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933700" y="3369714"/>
            <a:ext cx="5254958" cy="2554545"/>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Design Pattern:  “Junction Class”</a:t>
            </a:r>
          </a:p>
          <a:p>
            <a:r>
              <a:rPr lang="en-US" sz="2000" dirty="0">
                <a:latin typeface="Arial" panose="020B0604020202020204" pitchFamily="34" charset="0"/>
                <a:cs typeface="Arial" panose="020B0604020202020204" pitchFamily="34" charset="0"/>
              </a:rPr>
              <a:t>Final Grade</a:t>
            </a:r>
          </a:p>
          <a:p>
            <a:r>
              <a:rPr lang="en-US" sz="2000" dirty="0">
                <a:latin typeface="Arial" panose="020B0604020202020204" pitchFamily="34" charset="0"/>
                <a:cs typeface="Arial" panose="020B0604020202020204" pitchFamily="34" charset="0"/>
              </a:rPr>
              <a:t>Attendance Records</a:t>
            </a:r>
          </a:p>
          <a:p>
            <a:r>
              <a:rPr lang="en-US" sz="2000" dirty="0">
                <a:latin typeface="Arial" panose="020B0604020202020204" pitchFamily="34" charset="0"/>
                <a:cs typeface="Arial" panose="020B0604020202020204" pitchFamily="34" charset="0"/>
              </a:rPr>
              <a:t>Exam Grades</a:t>
            </a:r>
          </a:p>
          <a:p>
            <a:r>
              <a:rPr lang="en-US" sz="2000" dirty="0">
                <a:latin typeface="Arial" panose="020B0604020202020204" pitchFamily="34" charset="0"/>
                <a:cs typeface="Arial" panose="020B0604020202020204" pitchFamily="34" charset="0"/>
              </a:rPr>
              <a:t>Teacher’s Comments</a:t>
            </a:r>
          </a:p>
          <a:p>
            <a:r>
              <a:rPr lang="en-US"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Student Reference / Pointer</a:t>
            </a:r>
          </a:p>
          <a:p>
            <a:r>
              <a:rPr lang="en-US" sz="2000" dirty="0">
                <a:latin typeface="Arial" panose="020B0604020202020204" pitchFamily="34" charset="0"/>
                <a:cs typeface="Arial" panose="020B0604020202020204" pitchFamily="34" charset="0"/>
              </a:rPr>
              <a:t>Section Reference / Pointer</a:t>
            </a:r>
          </a:p>
        </p:txBody>
      </p:sp>
      <p:sp>
        <p:nvSpPr>
          <p:cNvPr id="11" name="Oval 10"/>
          <p:cNvSpPr/>
          <p:nvPr/>
        </p:nvSpPr>
        <p:spPr>
          <a:xfrm>
            <a:off x="3657600" y="1153312"/>
            <a:ext cx="2095304" cy="2142495"/>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Thing?</a:t>
            </a:r>
            <a:endParaRPr lang="en-US" sz="2000" b="1" dirty="0">
              <a:solidFill>
                <a:schemeClr val="tx1"/>
              </a:solidFill>
            </a:endParaRPr>
          </a:p>
        </p:txBody>
      </p:sp>
      <p:sp>
        <p:nvSpPr>
          <p:cNvPr id="12" name="TextBox 11"/>
          <p:cNvSpPr txBox="1"/>
          <p:nvPr/>
        </p:nvSpPr>
        <p:spPr>
          <a:xfrm>
            <a:off x="5756316" y="1891462"/>
            <a:ext cx="1486096"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N            1</a:t>
            </a:r>
          </a:p>
        </p:txBody>
      </p:sp>
      <p:cxnSp>
        <p:nvCxnSpPr>
          <p:cNvPr id="13" name="Straight Arrow Connector 12"/>
          <p:cNvCxnSpPr>
            <a:stCxn id="11" idx="6"/>
            <a:endCxn id="14" idx="2"/>
          </p:cNvCxnSpPr>
          <p:nvPr/>
        </p:nvCxnSpPr>
        <p:spPr>
          <a:xfrm flipV="1">
            <a:off x="5752904" y="2214248"/>
            <a:ext cx="1295792" cy="10312"/>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150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6" y="57966"/>
            <a:ext cx="8964304" cy="864248"/>
          </a:xfrm>
        </p:spPr>
        <p:txBody>
          <a:bodyPr>
            <a:normAutofit fontScale="90000"/>
          </a:bodyPr>
          <a:lstStyle/>
          <a:p>
            <a:r>
              <a:rPr lang="en-US" b="1" dirty="0">
                <a:solidFill>
                  <a:srgbClr val="002060"/>
                </a:solidFill>
              </a:rPr>
              <a:t>Conceptual Class Diagram:  Enrollment</a:t>
            </a:r>
          </a:p>
        </p:txBody>
      </p:sp>
      <p:sp>
        <p:nvSpPr>
          <p:cNvPr id="5" name="Oval 4"/>
          <p:cNvSpPr/>
          <p:nvPr/>
        </p:nvSpPr>
        <p:spPr>
          <a:xfrm>
            <a:off x="27296" y="1520183"/>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4" name="Oval 13"/>
          <p:cNvSpPr/>
          <p:nvPr/>
        </p:nvSpPr>
        <p:spPr>
          <a:xfrm>
            <a:off x="7048696" y="1143000"/>
            <a:ext cx="2095304" cy="2142495"/>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48" name="Oval 47"/>
          <p:cNvSpPr/>
          <p:nvPr/>
        </p:nvSpPr>
        <p:spPr>
          <a:xfrm>
            <a:off x="7621990" y="2819401"/>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4" name="Oval 33"/>
          <p:cNvSpPr/>
          <p:nvPr/>
        </p:nvSpPr>
        <p:spPr>
          <a:xfrm>
            <a:off x="1524000" y="2710179"/>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5" name="TextBox 34"/>
          <p:cNvSpPr txBox="1"/>
          <p:nvPr/>
        </p:nvSpPr>
        <p:spPr>
          <a:xfrm>
            <a:off x="2125713" y="1806074"/>
            <a:ext cx="1684287"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1               N</a:t>
            </a:r>
          </a:p>
        </p:txBody>
      </p:sp>
      <p:cxnSp>
        <p:nvCxnSpPr>
          <p:cNvPr id="20" name="Straight Arrow Connector 19"/>
          <p:cNvCxnSpPr/>
          <p:nvPr/>
        </p:nvCxnSpPr>
        <p:spPr>
          <a:xfrm>
            <a:off x="2209800" y="2206184"/>
            <a:ext cx="1447800" cy="0"/>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933700" y="3369714"/>
            <a:ext cx="5254958" cy="2985433"/>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Design Pattern:  “Junction Class”</a:t>
            </a:r>
          </a:p>
          <a:p>
            <a:r>
              <a:rPr lang="en-US" sz="2000" dirty="0">
                <a:latin typeface="Arial" panose="020B0604020202020204" pitchFamily="34" charset="0"/>
                <a:cs typeface="Arial" panose="020B0604020202020204" pitchFamily="34" charset="0"/>
              </a:rPr>
              <a:t>Student Reference</a:t>
            </a:r>
          </a:p>
          <a:p>
            <a:r>
              <a:rPr lang="en-US" sz="2000" dirty="0">
                <a:latin typeface="Arial" panose="020B0604020202020204" pitchFamily="34" charset="0"/>
                <a:cs typeface="Arial" panose="020B0604020202020204" pitchFamily="34" charset="0"/>
              </a:rPr>
              <a:t>Section Reference</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Final Grade</a:t>
            </a:r>
          </a:p>
          <a:p>
            <a:r>
              <a:rPr lang="en-US" sz="2000" dirty="0">
                <a:latin typeface="Arial" panose="020B0604020202020204" pitchFamily="34" charset="0"/>
                <a:cs typeface="Arial" panose="020B0604020202020204" pitchFamily="34" charset="0"/>
              </a:rPr>
              <a:t>Attendance Records</a:t>
            </a:r>
          </a:p>
          <a:p>
            <a:r>
              <a:rPr lang="en-US" sz="2000" dirty="0">
                <a:latin typeface="Arial" panose="020B0604020202020204" pitchFamily="34" charset="0"/>
                <a:cs typeface="Arial" panose="020B0604020202020204" pitchFamily="34" charset="0"/>
              </a:rPr>
              <a:t>Exam Grades</a:t>
            </a:r>
          </a:p>
          <a:p>
            <a:r>
              <a:rPr lang="en-US" sz="2000" dirty="0">
                <a:latin typeface="Arial" panose="020B0604020202020204" pitchFamily="34" charset="0"/>
                <a:cs typeface="Arial" panose="020B0604020202020204" pitchFamily="34" charset="0"/>
              </a:rPr>
              <a:t>Teacher’s Comments</a:t>
            </a:r>
          </a:p>
          <a:p>
            <a:r>
              <a:rPr lang="en-US" sz="2800" b="1" dirty="0">
                <a:latin typeface="Arial" panose="020B0604020202020204" pitchFamily="34" charset="0"/>
                <a:cs typeface="Arial" panose="020B0604020202020204" pitchFamily="34" charset="0"/>
              </a:rPr>
              <a:t>So … what is a “Thing”??</a:t>
            </a:r>
          </a:p>
        </p:txBody>
      </p:sp>
      <p:sp>
        <p:nvSpPr>
          <p:cNvPr id="11" name="Oval 10"/>
          <p:cNvSpPr/>
          <p:nvPr/>
        </p:nvSpPr>
        <p:spPr>
          <a:xfrm>
            <a:off x="3657600" y="1153312"/>
            <a:ext cx="2095304" cy="2142495"/>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Thing?</a:t>
            </a:r>
            <a:endParaRPr lang="en-US" sz="2000" b="1" dirty="0">
              <a:solidFill>
                <a:schemeClr val="tx1"/>
              </a:solidFill>
            </a:endParaRPr>
          </a:p>
        </p:txBody>
      </p:sp>
      <p:sp>
        <p:nvSpPr>
          <p:cNvPr id="12" name="TextBox 11"/>
          <p:cNvSpPr txBox="1"/>
          <p:nvPr/>
        </p:nvSpPr>
        <p:spPr>
          <a:xfrm>
            <a:off x="5756316" y="1891462"/>
            <a:ext cx="1486096"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N            1</a:t>
            </a:r>
          </a:p>
        </p:txBody>
      </p:sp>
      <p:cxnSp>
        <p:nvCxnSpPr>
          <p:cNvPr id="13" name="Straight Arrow Connector 12"/>
          <p:cNvCxnSpPr>
            <a:stCxn id="11" idx="6"/>
            <a:endCxn id="14" idx="2"/>
          </p:cNvCxnSpPr>
          <p:nvPr/>
        </p:nvCxnSpPr>
        <p:spPr>
          <a:xfrm flipV="1">
            <a:off x="5752904" y="2214248"/>
            <a:ext cx="1295792" cy="10312"/>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A8C0921-1711-4637-9403-CC4F50FF4EED}"/>
              </a:ext>
            </a:extLst>
          </p:cNvPr>
          <p:cNvSpPr txBox="1"/>
          <p:nvPr/>
        </p:nvSpPr>
        <p:spPr>
          <a:xfrm>
            <a:off x="1219200" y="6365805"/>
            <a:ext cx="79248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Schedule? Transcript?  Roster?  Registration?</a:t>
            </a:r>
            <a:r>
              <a:rPr lang="en-US" sz="2400" b="1" dirty="0">
                <a:latin typeface="Arial" panose="020B0604020202020204" pitchFamily="34" charset="0"/>
                <a:cs typeface="Arial" panose="020B0604020202020204" pitchFamily="34" charset="0"/>
              </a:rPr>
              <a:t> </a:t>
            </a:r>
            <a:endParaRPr lang="en-US" sz="2400" dirty="0"/>
          </a:p>
        </p:txBody>
      </p:sp>
      <p:pic>
        <p:nvPicPr>
          <p:cNvPr id="15" name="Picture 14">
            <a:extLst>
              <a:ext uri="{FF2B5EF4-FFF2-40B4-BE49-F238E27FC236}">
                <a16:creationId xmlns:a16="http://schemas.microsoft.com/office/drawing/2014/main" id="{330EA4BE-FF4E-4A57-818E-B9585B9AB5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5344" y="4800602"/>
            <a:ext cx="1295400" cy="1295400"/>
          </a:xfrm>
          <a:prstGeom prst="rect">
            <a:avLst/>
          </a:prstGeom>
        </p:spPr>
      </p:pic>
    </p:spTree>
    <p:extLst>
      <p:ext uri="{BB962C8B-B14F-4D97-AF65-F5344CB8AC3E}">
        <p14:creationId xmlns:p14="http://schemas.microsoft.com/office/powerpoint/2010/main" val="389008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0B8BBF-51B0-4620-A547-B4C28C9E5E2D}"/>
              </a:ext>
            </a:extLst>
          </p:cNvPr>
          <p:cNvSpPr txBox="1"/>
          <p:nvPr/>
        </p:nvSpPr>
        <p:spPr>
          <a:xfrm>
            <a:off x="0" y="0"/>
            <a:ext cx="9220200"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sym typeface="Wingdings" panose="05000000000000000000" pitchFamily="2" charset="2"/>
              </a:rPr>
              <a:t>But what exactly is a “Thing”??  **</a:t>
            </a:r>
            <a:endParaRPr lang="en-US" sz="4000" b="1" dirty="0">
              <a:solidFill>
                <a:srgbClr val="002060"/>
              </a:solidFill>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DEB98C3B-10E2-42B0-85B1-62AB5BDB7774}"/>
              </a:ext>
            </a:extLst>
          </p:cNvPr>
          <p:cNvSpPr txBox="1">
            <a:spLocks/>
          </p:cNvSpPr>
          <p:nvPr/>
        </p:nvSpPr>
        <p:spPr>
          <a:xfrm>
            <a:off x="0" y="1143000"/>
            <a:ext cx="9144000" cy="5921513"/>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3200" b="1" dirty="0">
                <a:latin typeface="Arial" panose="020B0604020202020204" pitchFamily="34" charset="0"/>
                <a:cs typeface="Arial" panose="020B0604020202020204" pitchFamily="34" charset="0"/>
              </a:rPr>
              <a:t>What “binds” one Student to one Section?</a:t>
            </a:r>
            <a:endParaRPr lang="en-US" dirty="0">
              <a:solidFill>
                <a:srgbClr val="002060"/>
              </a:solidFill>
            </a:endParaRPr>
          </a:p>
          <a:p>
            <a:r>
              <a:rPr lang="en-US" dirty="0"/>
              <a:t>Student has multiple Things, one in each Section</a:t>
            </a:r>
          </a:p>
          <a:p>
            <a:r>
              <a:rPr lang="en-US" dirty="0"/>
              <a:t>Section initially allocated with 55 Things (15 WL)</a:t>
            </a:r>
          </a:p>
          <a:p>
            <a:r>
              <a:rPr lang="en-US" dirty="0"/>
              <a:t>Each Thing is either  “Occupied”  or “Empty”</a:t>
            </a:r>
          </a:p>
          <a:p>
            <a:r>
              <a:rPr lang="en-US" dirty="0"/>
              <a:t>The Thing contains all Student info for that Section</a:t>
            </a:r>
          </a:p>
          <a:p>
            <a:pPr lvl="1"/>
            <a:r>
              <a:rPr lang="en-US" dirty="0"/>
              <a:t>Grade</a:t>
            </a:r>
          </a:p>
          <a:p>
            <a:pPr lvl="1"/>
            <a:r>
              <a:rPr lang="en-US" dirty="0"/>
              <a:t>Attendance Record</a:t>
            </a:r>
          </a:p>
          <a:p>
            <a:pPr lvl="1"/>
            <a:r>
              <a:rPr lang="en-US" dirty="0"/>
              <a:t>Teachers Comments</a:t>
            </a:r>
          </a:p>
          <a:p>
            <a:pPr lvl="1"/>
            <a:r>
              <a:rPr lang="en-US" dirty="0"/>
              <a:t>Final Exam Scores</a:t>
            </a:r>
          </a:p>
          <a:p>
            <a:pPr lvl="1"/>
            <a:r>
              <a:rPr lang="en-US" dirty="0"/>
              <a:t>Teachers Notes</a:t>
            </a:r>
          </a:p>
          <a:p>
            <a:endParaRPr lang="en-US" sz="3200" dirty="0"/>
          </a:p>
        </p:txBody>
      </p:sp>
      <p:pic>
        <p:nvPicPr>
          <p:cNvPr id="5" name="Picture 4">
            <a:extLst>
              <a:ext uri="{FF2B5EF4-FFF2-40B4-BE49-F238E27FC236}">
                <a16:creationId xmlns:a16="http://schemas.microsoft.com/office/drawing/2014/main" id="{E2974FB4-9373-4D26-BDEB-67E4F6689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200" y="4267200"/>
            <a:ext cx="2930618" cy="2305111"/>
          </a:xfrm>
          <a:prstGeom prst="rect">
            <a:avLst/>
          </a:prstGeom>
        </p:spPr>
      </p:pic>
      <p:pic>
        <p:nvPicPr>
          <p:cNvPr id="7" name="Picture 6">
            <a:extLst>
              <a:ext uri="{FF2B5EF4-FFF2-40B4-BE49-F238E27FC236}">
                <a16:creationId xmlns:a16="http://schemas.microsoft.com/office/drawing/2014/main" id="{3D97E85C-D47D-4D64-99AD-2B1B0B51A5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5425851"/>
            <a:ext cx="1295400" cy="1295400"/>
          </a:xfrm>
          <a:prstGeom prst="rect">
            <a:avLst/>
          </a:prstGeom>
        </p:spPr>
      </p:pic>
    </p:spTree>
    <p:extLst>
      <p:ext uri="{BB962C8B-B14F-4D97-AF65-F5344CB8AC3E}">
        <p14:creationId xmlns:p14="http://schemas.microsoft.com/office/powerpoint/2010/main" val="3012814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0B8BBF-51B0-4620-A547-B4C28C9E5E2D}"/>
              </a:ext>
            </a:extLst>
          </p:cNvPr>
          <p:cNvSpPr txBox="1"/>
          <p:nvPr/>
        </p:nvSpPr>
        <p:spPr>
          <a:xfrm>
            <a:off x="0" y="0"/>
            <a:ext cx="9220200" cy="707886"/>
          </a:xfrm>
          <a:prstGeom prst="rect">
            <a:avLst/>
          </a:prstGeom>
          <a:noFill/>
        </p:spPr>
        <p:txBody>
          <a:bodyPr wrap="square" rtlCol="0">
            <a:spAutoFit/>
          </a:bodyPr>
          <a:lstStyle/>
          <a:p>
            <a:r>
              <a:rPr lang="en-US" sz="4000" b="1" dirty="0">
                <a:solidFill>
                  <a:srgbClr val="002060"/>
                </a:solidFill>
                <a:latin typeface="Arial" panose="020B0604020202020204" pitchFamily="34" charset="0"/>
                <a:cs typeface="Arial" panose="020B0604020202020204" pitchFamily="34" charset="0"/>
              </a:rPr>
              <a:t>What “binds” a Student to a Section?</a:t>
            </a:r>
          </a:p>
        </p:txBody>
      </p:sp>
      <p:sp>
        <p:nvSpPr>
          <p:cNvPr id="6" name="Content Placeholder 2">
            <a:extLst>
              <a:ext uri="{FF2B5EF4-FFF2-40B4-BE49-F238E27FC236}">
                <a16:creationId xmlns:a16="http://schemas.microsoft.com/office/drawing/2014/main" id="{DEB98C3B-10E2-42B0-85B1-62AB5BDB7774}"/>
              </a:ext>
            </a:extLst>
          </p:cNvPr>
          <p:cNvSpPr txBox="1">
            <a:spLocks/>
          </p:cNvSpPr>
          <p:nvPr/>
        </p:nvSpPr>
        <p:spPr>
          <a:xfrm>
            <a:off x="152400" y="707886"/>
            <a:ext cx="8915400" cy="6150114"/>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b="1" dirty="0"/>
              <a:t>An Enrollment  (Good)</a:t>
            </a:r>
          </a:p>
          <a:p>
            <a:pPr lvl="1"/>
            <a:r>
              <a:rPr lang="en-US" dirty="0"/>
              <a:t>Student has multiple Enrollments, one in each Section</a:t>
            </a:r>
          </a:p>
          <a:p>
            <a:pPr lvl="1"/>
            <a:r>
              <a:rPr lang="en-US" dirty="0"/>
              <a:t>Section initially allocated with 55 Enrollments (15 are WL)</a:t>
            </a:r>
          </a:p>
          <a:p>
            <a:pPr lvl="1"/>
            <a:r>
              <a:rPr lang="en-US" dirty="0"/>
              <a:t>Each Enrollment is either  “Occupied”  or “Empty”</a:t>
            </a:r>
          </a:p>
          <a:p>
            <a:pPr lvl="1"/>
            <a:endParaRPr lang="en-US" dirty="0"/>
          </a:p>
          <a:p>
            <a:pPr lvl="1"/>
            <a:endParaRPr lang="en-US" b="1" dirty="0"/>
          </a:p>
          <a:p>
            <a:endParaRPr lang="en-US" sz="3200" dirty="0"/>
          </a:p>
        </p:txBody>
      </p:sp>
    </p:spTree>
    <p:extLst>
      <p:ext uri="{BB962C8B-B14F-4D97-AF65-F5344CB8AC3E}">
        <p14:creationId xmlns:p14="http://schemas.microsoft.com/office/powerpoint/2010/main" val="488424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0B8BBF-51B0-4620-A547-B4C28C9E5E2D}"/>
              </a:ext>
            </a:extLst>
          </p:cNvPr>
          <p:cNvSpPr txBox="1"/>
          <p:nvPr/>
        </p:nvSpPr>
        <p:spPr>
          <a:xfrm>
            <a:off x="0" y="0"/>
            <a:ext cx="9220200" cy="707886"/>
          </a:xfrm>
          <a:prstGeom prst="rect">
            <a:avLst/>
          </a:prstGeom>
          <a:noFill/>
        </p:spPr>
        <p:txBody>
          <a:bodyPr wrap="square" rtlCol="0">
            <a:spAutoFit/>
          </a:bodyPr>
          <a:lstStyle/>
          <a:p>
            <a:r>
              <a:rPr lang="en-US" sz="4000" b="1" dirty="0">
                <a:solidFill>
                  <a:srgbClr val="002060"/>
                </a:solidFill>
                <a:latin typeface="Arial" panose="020B0604020202020204" pitchFamily="34" charset="0"/>
                <a:cs typeface="Arial" panose="020B0604020202020204" pitchFamily="34" charset="0"/>
              </a:rPr>
              <a:t>What “binds” a Student to a Section?</a:t>
            </a:r>
          </a:p>
        </p:txBody>
      </p:sp>
      <p:sp>
        <p:nvSpPr>
          <p:cNvPr id="6" name="Content Placeholder 2">
            <a:extLst>
              <a:ext uri="{FF2B5EF4-FFF2-40B4-BE49-F238E27FC236}">
                <a16:creationId xmlns:a16="http://schemas.microsoft.com/office/drawing/2014/main" id="{DEB98C3B-10E2-42B0-85B1-62AB5BDB7774}"/>
              </a:ext>
            </a:extLst>
          </p:cNvPr>
          <p:cNvSpPr txBox="1">
            <a:spLocks/>
          </p:cNvSpPr>
          <p:nvPr/>
        </p:nvSpPr>
        <p:spPr>
          <a:xfrm>
            <a:off x="152400" y="707886"/>
            <a:ext cx="8915400" cy="6150114"/>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b="1" dirty="0"/>
              <a:t>An “Enrollment”  (Good)</a:t>
            </a:r>
          </a:p>
          <a:p>
            <a:pPr lvl="1"/>
            <a:r>
              <a:rPr lang="en-US" dirty="0"/>
              <a:t>Student has multiple Enrollments, one in each Section</a:t>
            </a:r>
          </a:p>
          <a:p>
            <a:pPr lvl="1"/>
            <a:r>
              <a:rPr lang="en-US" dirty="0"/>
              <a:t>Section initially allocated with 55 Enrollments (15 are WL)</a:t>
            </a:r>
          </a:p>
          <a:p>
            <a:pPr lvl="1"/>
            <a:r>
              <a:rPr lang="en-US" dirty="0"/>
              <a:t>Each Enrollment is either  “Occupied”  or “Empty”</a:t>
            </a:r>
          </a:p>
          <a:p>
            <a:pPr lvl="1"/>
            <a:endParaRPr lang="en-US" dirty="0"/>
          </a:p>
          <a:p>
            <a:r>
              <a:rPr lang="en-US" b="1" dirty="0">
                <a:solidFill>
                  <a:srgbClr val="002060"/>
                </a:solidFill>
              </a:rPr>
              <a:t>A “Seat” (Better)</a:t>
            </a:r>
          </a:p>
          <a:p>
            <a:pPr lvl="1"/>
            <a:r>
              <a:rPr lang="en-US" dirty="0">
                <a:solidFill>
                  <a:srgbClr val="002060"/>
                </a:solidFill>
              </a:rPr>
              <a:t>Student has multiple Seats, one in each Section</a:t>
            </a:r>
          </a:p>
          <a:p>
            <a:pPr lvl="1"/>
            <a:r>
              <a:rPr lang="en-US" dirty="0">
                <a:solidFill>
                  <a:srgbClr val="002060"/>
                </a:solidFill>
              </a:rPr>
              <a:t>Section initially allocated with 55 Seats (15 are WL)</a:t>
            </a:r>
          </a:p>
          <a:p>
            <a:pPr lvl="1"/>
            <a:r>
              <a:rPr lang="en-US" dirty="0">
                <a:solidFill>
                  <a:srgbClr val="002060"/>
                </a:solidFill>
              </a:rPr>
              <a:t>Each Seat is either  “Occupied”  or “Empty”</a:t>
            </a:r>
          </a:p>
          <a:p>
            <a:pPr marL="0" indent="0">
              <a:buNone/>
            </a:pPr>
            <a:r>
              <a:rPr lang="en-US" sz="2800" dirty="0">
                <a:sym typeface="Wingdings" panose="05000000000000000000" pitchFamily="2" charset="2"/>
              </a:rPr>
              <a:t></a:t>
            </a:r>
            <a:r>
              <a:rPr lang="en-US" dirty="0">
                <a:solidFill>
                  <a:srgbClr val="002060"/>
                </a:solidFill>
                <a:sym typeface="Wingdings" panose="05000000000000000000" pitchFamily="2" charset="2"/>
              </a:rPr>
              <a:t> </a:t>
            </a:r>
            <a:r>
              <a:rPr lang="en-US" b="1" dirty="0">
                <a:sym typeface="Wingdings" panose="05000000000000000000" pitchFamily="2" charset="2"/>
              </a:rPr>
              <a:t>Note lack of “physicality” + no “Seat ID” here</a:t>
            </a:r>
            <a:endParaRPr lang="en-US" b="1" dirty="0"/>
          </a:p>
          <a:p>
            <a:pPr lvl="1"/>
            <a:endParaRPr lang="en-US" b="1" dirty="0"/>
          </a:p>
          <a:p>
            <a:endParaRPr lang="en-US" sz="3200" dirty="0"/>
          </a:p>
        </p:txBody>
      </p:sp>
    </p:spTree>
    <p:extLst>
      <p:ext uri="{BB962C8B-B14F-4D97-AF65-F5344CB8AC3E}">
        <p14:creationId xmlns:p14="http://schemas.microsoft.com/office/powerpoint/2010/main" val="1552503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6" y="57966"/>
            <a:ext cx="8964304" cy="864248"/>
          </a:xfrm>
        </p:spPr>
        <p:txBody>
          <a:bodyPr>
            <a:normAutofit fontScale="90000"/>
          </a:bodyPr>
          <a:lstStyle/>
          <a:p>
            <a:r>
              <a:rPr lang="en-US" b="1" dirty="0">
                <a:solidFill>
                  <a:srgbClr val="002060"/>
                </a:solidFill>
              </a:rPr>
              <a:t>Conceptual Class Diagram:  Enrollment</a:t>
            </a:r>
          </a:p>
        </p:txBody>
      </p:sp>
      <p:sp>
        <p:nvSpPr>
          <p:cNvPr id="5" name="Oval 4"/>
          <p:cNvSpPr/>
          <p:nvPr/>
        </p:nvSpPr>
        <p:spPr>
          <a:xfrm>
            <a:off x="27296" y="2205983"/>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4" name="Oval 13"/>
          <p:cNvSpPr/>
          <p:nvPr/>
        </p:nvSpPr>
        <p:spPr>
          <a:xfrm>
            <a:off x="7048696" y="1828800"/>
            <a:ext cx="2095304" cy="2142495"/>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a:p>
            <a:pPr algn="ctr"/>
            <a:r>
              <a:rPr lang="en-US" sz="2000" b="1" dirty="0">
                <a:solidFill>
                  <a:schemeClr val="tx1"/>
                </a:solidFill>
              </a:rPr>
              <a:t>(CIS 28 061)</a:t>
            </a:r>
          </a:p>
        </p:txBody>
      </p:sp>
      <p:sp>
        <p:nvSpPr>
          <p:cNvPr id="48" name="Oval 47"/>
          <p:cNvSpPr/>
          <p:nvPr/>
        </p:nvSpPr>
        <p:spPr>
          <a:xfrm>
            <a:off x="7621990" y="3429000"/>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4" name="Oval 33"/>
          <p:cNvSpPr/>
          <p:nvPr/>
        </p:nvSpPr>
        <p:spPr>
          <a:xfrm>
            <a:off x="1447800" y="3429000"/>
            <a:ext cx="37901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p>
        </p:txBody>
      </p:sp>
      <p:sp>
        <p:nvSpPr>
          <p:cNvPr id="35" name="TextBox 34"/>
          <p:cNvSpPr txBox="1"/>
          <p:nvPr/>
        </p:nvSpPr>
        <p:spPr>
          <a:xfrm>
            <a:off x="2125713" y="2491874"/>
            <a:ext cx="1684287"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1               N</a:t>
            </a:r>
          </a:p>
        </p:txBody>
      </p:sp>
      <p:cxnSp>
        <p:nvCxnSpPr>
          <p:cNvPr id="20" name="Straight Arrow Connector 19"/>
          <p:cNvCxnSpPr/>
          <p:nvPr/>
        </p:nvCxnSpPr>
        <p:spPr>
          <a:xfrm>
            <a:off x="2209800" y="2891984"/>
            <a:ext cx="1447800" cy="0"/>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663696" y="4285249"/>
            <a:ext cx="2743200" cy="317009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Student Reference</a:t>
            </a:r>
          </a:p>
          <a:p>
            <a:r>
              <a:rPr lang="en-US" sz="2000" dirty="0">
                <a:latin typeface="Arial" panose="020B0604020202020204" pitchFamily="34" charset="0"/>
                <a:cs typeface="Arial" panose="020B0604020202020204" pitchFamily="34" charset="0"/>
              </a:rPr>
              <a:t>Section Reference</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Final Grade</a:t>
            </a:r>
          </a:p>
          <a:p>
            <a:r>
              <a:rPr lang="en-US" sz="2000" dirty="0">
                <a:latin typeface="Arial" panose="020B0604020202020204" pitchFamily="34" charset="0"/>
                <a:cs typeface="Arial" panose="020B0604020202020204" pitchFamily="34" charset="0"/>
              </a:rPr>
              <a:t>Attendance Records</a:t>
            </a:r>
          </a:p>
          <a:p>
            <a:r>
              <a:rPr lang="en-US" sz="2000" dirty="0">
                <a:latin typeface="Arial" panose="020B0604020202020204" pitchFamily="34" charset="0"/>
                <a:cs typeface="Arial" panose="020B0604020202020204" pitchFamily="34" charset="0"/>
              </a:rPr>
              <a:t>Exam Grades</a:t>
            </a:r>
          </a:p>
          <a:p>
            <a:r>
              <a:rPr lang="en-US" sz="2000" dirty="0">
                <a:latin typeface="Arial" panose="020B0604020202020204" pitchFamily="34" charset="0"/>
                <a:cs typeface="Arial" panose="020B0604020202020204" pitchFamily="34" charset="0"/>
              </a:rPr>
              <a:t>Teacher’s Comments</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11" name="Oval 10"/>
          <p:cNvSpPr/>
          <p:nvPr/>
        </p:nvSpPr>
        <p:spPr>
          <a:xfrm>
            <a:off x="3657600" y="1839112"/>
            <a:ext cx="2095304" cy="2142495"/>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Seat</a:t>
            </a:r>
            <a:endParaRPr lang="en-US" sz="2000" b="1" dirty="0">
              <a:solidFill>
                <a:schemeClr val="tx1"/>
              </a:solidFill>
            </a:endParaRPr>
          </a:p>
        </p:txBody>
      </p:sp>
      <p:sp>
        <p:nvSpPr>
          <p:cNvPr id="12" name="TextBox 11"/>
          <p:cNvSpPr txBox="1"/>
          <p:nvPr/>
        </p:nvSpPr>
        <p:spPr>
          <a:xfrm>
            <a:off x="5756316" y="2577262"/>
            <a:ext cx="1486096"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N            1</a:t>
            </a:r>
          </a:p>
        </p:txBody>
      </p:sp>
      <p:cxnSp>
        <p:nvCxnSpPr>
          <p:cNvPr id="13" name="Straight Arrow Connector 12"/>
          <p:cNvCxnSpPr>
            <a:stCxn id="11" idx="6"/>
            <a:endCxn id="14" idx="2"/>
          </p:cNvCxnSpPr>
          <p:nvPr/>
        </p:nvCxnSpPr>
        <p:spPr>
          <a:xfrm flipV="1">
            <a:off x="5752904" y="2900048"/>
            <a:ext cx="1295792" cy="10312"/>
          </a:xfrm>
          <a:prstGeom prst="straightConnector1">
            <a:avLst/>
          </a:prstGeom>
          <a:ln>
            <a:solidFill>
              <a:srgbClr val="FF0000"/>
            </a:solidFill>
            <a:headEnd type="triangle"/>
            <a:tailEnd type="triangle"/>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85800" y="4358693"/>
            <a:ext cx="2519149" cy="707886"/>
          </a:xfrm>
          <a:prstGeom prst="rect">
            <a:avLst/>
          </a:prstGeom>
          <a:noFill/>
        </p:spPr>
        <p:txBody>
          <a:bodyPr wrap="square" rtlCol="0">
            <a:spAutoFit/>
          </a:bodyPr>
          <a:lstStyle/>
          <a:p>
            <a:r>
              <a:rPr lang="en-US" sz="2000" dirty="0">
                <a:solidFill>
                  <a:srgbClr val="C00000"/>
                </a:solidFill>
                <a:latin typeface="Arial" panose="020B0604020202020204" pitchFamily="34" charset="0"/>
                <a:cs typeface="Arial" panose="020B0604020202020204" pitchFamily="34" charset="0"/>
              </a:rPr>
              <a:t>Student has array</a:t>
            </a:r>
          </a:p>
          <a:p>
            <a:r>
              <a:rPr lang="en-US" sz="2000" dirty="0">
                <a:solidFill>
                  <a:srgbClr val="C00000"/>
                </a:solidFill>
                <a:latin typeface="Arial" panose="020B0604020202020204" pitchFamily="34" charset="0"/>
                <a:cs typeface="Arial" panose="020B0604020202020204" pitchFamily="34" charset="0"/>
              </a:rPr>
              <a:t> of Seat Refs</a:t>
            </a:r>
          </a:p>
        </p:txBody>
      </p:sp>
      <p:sp>
        <p:nvSpPr>
          <p:cNvPr id="16" name="TextBox 15"/>
          <p:cNvSpPr txBox="1"/>
          <p:nvPr/>
        </p:nvSpPr>
        <p:spPr>
          <a:xfrm>
            <a:off x="6953348" y="4285249"/>
            <a:ext cx="2286000" cy="707886"/>
          </a:xfrm>
          <a:prstGeom prst="rect">
            <a:avLst/>
          </a:prstGeom>
          <a:noFill/>
        </p:spPr>
        <p:txBody>
          <a:bodyPr wrap="square" rtlCol="0">
            <a:spAutoFit/>
          </a:bodyPr>
          <a:lstStyle/>
          <a:p>
            <a:r>
              <a:rPr lang="en-US" sz="2000" dirty="0">
                <a:solidFill>
                  <a:srgbClr val="C00000"/>
                </a:solidFill>
                <a:latin typeface="Arial" panose="020B0604020202020204" pitchFamily="34" charset="0"/>
                <a:cs typeface="Arial" panose="020B0604020202020204" pitchFamily="34" charset="0"/>
              </a:rPr>
              <a:t>Section has array</a:t>
            </a:r>
          </a:p>
          <a:p>
            <a:r>
              <a:rPr lang="en-US" sz="2000" dirty="0">
                <a:solidFill>
                  <a:srgbClr val="C00000"/>
                </a:solidFill>
                <a:latin typeface="Arial" panose="020B0604020202020204" pitchFamily="34" charset="0"/>
                <a:cs typeface="Arial" panose="020B0604020202020204" pitchFamily="34" charset="0"/>
              </a:rPr>
              <a:t> of Seat Refs</a:t>
            </a:r>
          </a:p>
        </p:txBody>
      </p:sp>
      <p:sp>
        <p:nvSpPr>
          <p:cNvPr id="3" name="TextBox 2"/>
          <p:cNvSpPr txBox="1"/>
          <p:nvPr/>
        </p:nvSpPr>
        <p:spPr>
          <a:xfrm>
            <a:off x="2209800" y="1975150"/>
            <a:ext cx="1394345" cy="461665"/>
          </a:xfrm>
          <a:prstGeom prst="rect">
            <a:avLst/>
          </a:prstGeom>
          <a:noFill/>
        </p:spPr>
        <p:txBody>
          <a:bodyPr wrap="square" rtlCol="0">
            <a:spAutoFit/>
          </a:bodyPr>
          <a:lstStyle/>
          <a:p>
            <a:r>
              <a:rPr lang="en-US" sz="2400" b="1" dirty="0">
                <a:solidFill>
                  <a:srgbClr val="002060"/>
                </a:solidFill>
              </a:rPr>
              <a:t>Occupies</a:t>
            </a:r>
          </a:p>
        </p:txBody>
      </p:sp>
      <p:sp>
        <p:nvSpPr>
          <p:cNvPr id="17" name="TextBox 16"/>
          <p:cNvSpPr txBox="1"/>
          <p:nvPr/>
        </p:nvSpPr>
        <p:spPr>
          <a:xfrm>
            <a:off x="5806358" y="2030209"/>
            <a:ext cx="1307518" cy="461665"/>
          </a:xfrm>
          <a:prstGeom prst="rect">
            <a:avLst/>
          </a:prstGeom>
          <a:noFill/>
        </p:spPr>
        <p:txBody>
          <a:bodyPr wrap="square" rtlCol="0">
            <a:spAutoFit/>
          </a:bodyPr>
          <a:lstStyle/>
          <a:p>
            <a:r>
              <a:rPr lang="en-US" sz="2400" b="1" dirty="0">
                <a:solidFill>
                  <a:srgbClr val="002060"/>
                </a:solidFill>
              </a:rPr>
              <a:t>Contains</a:t>
            </a:r>
          </a:p>
        </p:txBody>
      </p:sp>
    </p:spTree>
    <p:extLst>
      <p:ext uri="{BB962C8B-B14F-4D97-AF65-F5344CB8AC3E}">
        <p14:creationId xmlns:p14="http://schemas.microsoft.com/office/powerpoint/2010/main" val="4066984653"/>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7248"/>
            <a:ext cx="9296400" cy="1143000"/>
          </a:xfrm>
        </p:spPr>
        <p:txBody>
          <a:bodyPr>
            <a:normAutofit fontScale="90000"/>
          </a:bodyPr>
          <a:lstStyle/>
          <a:p>
            <a:r>
              <a:rPr lang="en-US" b="1" dirty="0">
                <a:solidFill>
                  <a:srgbClr val="002060"/>
                </a:solidFill>
              </a:rPr>
              <a:t>Original Abstractions in Enrollment System</a:t>
            </a:r>
          </a:p>
        </p:txBody>
      </p:sp>
      <p:sp>
        <p:nvSpPr>
          <p:cNvPr id="3" name="Oval 2"/>
          <p:cNvSpPr/>
          <p:nvPr/>
        </p:nvSpPr>
        <p:spPr>
          <a:xfrm>
            <a:off x="119703" y="1106854"/>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sp>
        <p:nvSpPr>
          <p:cNvPr id="5" name="Oval 4"/>
          <p:cNvSpPr/>
          <p:nvPr/>
        </p:nvSpPr>
        <p:spPr>
          <a:xfrm>
            <a:off x="3077146" y="1143266"/>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p:txBody>
      </p:sp>
      <p:sp>
        <p:nvSpPr>
          <p:cNvPr id="7" name="Oval 6"/>
          <p:cNvSpPr/>
          <p:nvPr/>
        </p:nvSpPr>
        <p:spPr>
          <a:xfrm>
            <a:off x="3077146" y="3106003"/>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p:txBody>
      </p:sp>
      <p:sp>
        <p:nvSpPr>
          <p:cNvPr id="14" name="Oval 13"/>
          <p:cNvSpPr/>
          <p:nvPr/>
        </p:nvSpPr>
        <p:spPr>
          <a:xfrm>
            <a:off x="106768" y="3106003"/>
            <a:ext cx="2198427"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5" name="Oval 14"/>
          <p:cNvSpPr/>
          <p:nvPr/>
        </p:nvSpPr>
        <p:spPr>
          <a:xfrm>
            <a:off x="6237444" y="31242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6324600" y="1066800"/>
            <a:ext cx="2253016" cy="18288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sp>
        <p:nvSpPr>
          <p:cNvPr id="17" name="Oval 16"/>
          <p:cNvSpPr/>
          <p:nvPr/>
        </p:nvSpPr>
        <p:spPr>
          <a:xfrm>
            <a:off x="106768" y="5060854"/>
            <a:ext cx="2514600" cy="1752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Schedule</a:t>
            </a:r>
          </a:p>
        </p:txBody>
      </p:sp>
      <p:sp>
        <p:nvSpPr>
          <p:cNvPr id="10" name="Oval 9"/>
          <p:cNvSpPr/>
          <p:nvPr/>
        </p:nvSpPr>
        <p:spPr>
          <a:xfrm>
            <a:off x="2835737" y="5068740"/>
            <a:ext cx="2106304" cy="1752600"/>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p:txBody>
      </p:sp>
      <p:sp>
        <p:nvSpPr>
          <p:cNvPr id="4" name="Oval 3">
            <a:extLst>
              <a:ext uri="{FF2B5EF4-FFF2-40B4-BE49-F238E27FC236}">
                <a16:creationId xmlns:a16="http://schemas.microsoft.com/office/drawing/2014/main" id="{DD3EA413-873E-4830-ADA2-8787E9FAE764}"/>
              </a:ext>
            </a:extLst>
          </p:cNvPr>
          <p:cNvSpPr/>
          <p:nvPr/>
        </p:nvSpPr>
        <p:spPr>
          <a:xfrm>
            <a:off x="5156410" y="5060854"/>
            <a:ext cx="2106304" cy="1752600"/>
          </a:xfrm>
          <a:prstGeom prst="ellipse">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Prereq</a:t>
            </a:r>
            <a:endParaRPr lang="en-US" sz="3200" b="1" dirty="0">
              <a:solidFill>
                <a:schemeClr val="tx1"/>
              </a:solidFill>
            </a:endParaRPr>
          </a:p>
        </p:txBody>
      </p:sp>
    </p:spTree>
    <p:extLst>
      <p:ext uri="{BB962C8B-B14F-4D97-AF65-F5344CB8AC3E}">
        <p14:creationId xmlns:p14="http://schemas.microsoft.com/office/powerpoint/2010/main" val="8624219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75"/>
            <a:ext cx="9144000" cy="1143000"/>
          </a:xfrm>
        </p:spPr>
        <p:txBody>
          <a:bodyPr>
            <a:normAutofit fontScale="90000"/>
          </a:bodyPr>
          <a:lstStyle/>
          <a:p>
            <a:r>
              <a:rPr lang="en-US" b="1" dirty="0">
                <a:solidFill>
                  <a:srgbClr val="002060"/>
                </a:solidFill>
              </a:rPr>
              <a:t>Refined Abstractions in Enrollment System</a:t>
            </a:r>
          </a:p>
        </p:txBody>
      </p:sp>
      <p:sp>
        <p:nvSpPr>
          <p:cNvPr id="3" name="Oval 2"/>
          <p:cNvSpPr/>
          <p:nvPr/>
        </p:nvSpPr>
        <p:spPr>
          <a:xfrm>
            <a:off x="119703" y="1106854"/>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College</a:t>
            </a:r>
          </a:p>
        </p:txBody>
      </p:sp>
      <p:sp>
        <p:nvSpPr>
          <p:cNvPr id="5" name="Oval 4"/>
          <p:cNvSpPr/>
          <p:nvPr/>
        </p:nvSpPr>
        <p:spPr>
          <a:xfrm>
            <a:off x="3077146" y="1143266"/>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Dept</a:t>
            </a:r>
            <a:endParaRPr lang="en-US" sz="3200" b="1" dirty="0">
              <a:solidFill>
                <a:schemeClr val="tx1"/>
              </a:solidFill>
            </a:endParaRPr>
          </a:p>
        </p:txBody>
      </p:sp>
      <p:sp>
        <p:nvSpPr>
          <p:cNvPr id="7" name="Oval 6"/>
          <p:cNvSpPr/>
          <p:nvPr/>
        </p:nvSpPr>
        <p:spPr>
          <a:xfrm>
            <a:off x="3077146" y="3106003"/>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Course</a:t>
            </a:r>
          </a:p>
        </p:txBody>
      </p:sp>
      <p:sp>
        <p:nvSpPr>
          <p:cNvPr id="14" name="Oval 13"/>
          <p:cNvSpPr/>
          <p:nvPr/>
        </p:nvSpPr>
        <p:spPr>
          <a:xfrm>
            <a:off x="106768" y="3106003"/>
            <a:ext cx="2198427"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Student</a:t>
            </a:r>
          </a:p>
        </p:txBody>
      </p:sp>
      <p:sp>
        <p:nvSpPr>
          <p:cNvPr id="15" name="Oval 14"/>
          <p:cNvSpPr/>
          <p:nvPr/>
        </p:nvSpPr>
        <p:spPr>
          <a:xfrm>
            <a:off x="6237444" y="3124200"/>
            <a:ext cx="2106304" cy="17526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Room</a:t>
            </a:r>
          </a:p>
        </p:txBody>
      </p:sp>
      <p:sp>
        <p:nvSpPr>
          <p:cNvPr id="16" name="Oval 15"/>
          <p:cNvSpPr/>
          <p:nvPr/>
        </p:nvSpPr>
        <p:spPr>
          <a:xfrm>
            <a:off x="6324600" y="1066800"/>
            <a:ext cx="2253016" cy="1828800"/>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Teacher</a:t>
            </a:r>
          </a:p>
        </p:txBody>
      </p:sp>
      <p:sp>
        <p:nvSpPr>
          <p:cNvPr id="17" name="Oval 16"/>
          <p:cNvSpPr/>
          <p:nvPr/>
        </p:nvSpPr>
        <p:spPr>
          <a:xfrm>
            <a:off x="106768" y="5060854"/>
            <a:ext cx="2514600" cy="175260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Schedule</a:t>
            </a:r>
          </a:p>
        </p:txBody>
      </p:sp>
      <p:sp>
        <p:nvSpPr>
          <p:cNvPr id="10" name="Oval 9"/>
          <p:cNvSpPr/>
          <p:nvPr/>
        </p:nvSpPr>
        <p:spPr>
          <a:xfrm>
            <a:off x="2716209" y="5105400"/>
            <a:ext cx="2106304" cy="1752600"/>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Section</a:t>
            </a:r>
          </a:p>
        </p:txBody>
      </p:sp>
      <p:sp>
        <p:nvSpPr>
          <p:cNvPr id="11" name="Oval 10"/>
          <p:cNvSpPr/>
          <p:nvPr/>
        </p:nvSpPr>
        <p:spPr>
          <a:xfrm>
            <a:off x="7121276" y="5027208"/>
            <a:ext cx="1915956" cy="1819892"/>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Seat</a:t>
            </a:r>
            <a:endParaRPr lang="en-US" sz="2000" b="1" dirty="0">
              <a:solidFill>
                <a:schemeClr val="tx1"/>
              </a:solidFill>
            </a:endParaRPr>
          </a:p>
        </p:txBody>
      </p:sp>
      <p:sp>
        <p:nvSpPr>
          <p:cNvPr id="12" name="Oval 11">
            <a:extLst>
              <a:ext uri="{FF2B5EF4-FFF2-40B4-BE49-F238E27FC236}">
                <a16:creationId xmlns:a16="http://schemas.microsoft.com/office/drawing/2014/main" id="{737BC860-DD56-4EB7-96C1-4F851E1DA100}"/>
              </a:ext>
            </a:extLst>
          </p:cNvPr>
          <p:cNvSpPr/>
          <p:nvPr/>
        </p:nvSpPr>
        <p:spPr>
          <a:xfrm>
            <a:off x="4889484" y="5049881"/>
            <a:ext cx="2106304" cy="1752600"/>
          </a:xfrm>
          <a:prstGeom prst="ellipse">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solidFill>
                  <a:schemeClr val="tx1"/>
                </a:solidFill>
              </a:rPr>
              <a:t>Prereq</a:t>
            </a:r>
            <a:endParaRPr lang="en-US" sz="3200" b="1" dirty="0">
              <a:solidFill>
                <a:schemeClr val="tx1"/>
              </a:solidFill>
            </a:endParaRPr>
          </a:p>
        </p:txBody>
      </p:sp>
    </p:spTree>
    <p:extLst>
      <p:ext uri="{BB962C8B-B14F-4D97-AF65-F5344CB8AC3E}">
        <p14:creationId xmlns:p14="http://schemas.microsoft.com/office/powerpoint/2010/main" val="1533670770"/>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197"/>
            <a:ext cx="9144000" cy="820003"/>
          </a:xfrm>
        </p:spPr>
        <p:txBody>
          <a:bodyPr>
            <a:normAutofit fontScale="90000"/>
          </a:bodyPr>
          <a:lstStyle/>
          <a:p>
            <a:r>
              <a:rPr lang="en-US" b="1" dirty="0">
                <a:solidFill>
                  <a:srgbClr val="002060"/>
                </a:solidFill>
              </a:rPr>
              <a:t>FS:  Enrollment System at De Anza College</a:t>
            </a:r>
          </a:p>
        </p:txBody>
      </p:sp>
      <p:sp>
        <p:nvSpPr>
          <p:cNvPr id="3" name="TextBox 2"/>
          <p:cNvSpPr txBox="1"/>
          <p:nvPr/>
        </p:nvSpPr>
        <p:spPr>
          <a:xfrm>
            <a:off x="10236" y="917912"/>
            <a:ext cx="9144000" cy="5909310"/>
          </a:xfrm>
          <a:prstGeom prst="rect">
            <a:avLst/>
          </a:prstGeom>
          <a:noFill/>
        </p:spPr>
        <p:txBody>
          <a:bodyPr wrap="square" rtlCol="0">
            <a:spAutoFit/>
          </a:bodyPr>
          <a:lstStyle/>
          <a:p>
            <a:r>
              <a:rPr lang="en-US" sz="2000" dirty="0"/>
              <a:t>In De Anza </a:t>
            </a:r>
            <a:r>
              <a:rPr lang="en-US" sz="2000" b="1" dirty="0">
                <a:solidFill>
                  <a:srgbClr val="C00000"/>
                </a:solidFill>
              </a:rPr>
              <a:t>College</a:t>
            </a:r>
            <a:r>
              <a:rPr lang="en-US" sz="2000" b="1" dirty="0"/>
              <a:t>,</a:t>
            </a:r>
            <a:r>
              <a:rPr lang="en-US" sz="2000" b="1" dirty="0">
                <a:solidFill>
                  <a:srgbClr val="C00000"/>
                </a:solidFill>
              </a:rPr>
              <a:t>  Courses</a:t>
            </a:r>
            <a:r>
              <a:rPr lang="en-US" sz="2000" dirty="0"/>
              <a:t> are offered by its </a:t>
            </a:r>
            <a:r>
              <a:rPr lang="en-US" sz="2000" b="1" dirty="0">
                <a:solidFill>
                  <a:srgbClr val="C00000"/>
                </a:solidFill>
              </a:rPr>
              <a:t>Departments</a:t>
            </a:r>
            <a:r>
              <a:rPr lang="en-US" sz="2000" dirty="0"/>
              <a:t> (Ex:  CIS) and available Quarterly (Ex:  Fall and Winter).  Each Course has an identifying number (ex: 28), a  Name (Ex: Object Oriented Analysis and Design), a description, a number of credits and an optional set of required prerequisites. </a:t>
            </a:r>
          </a:p>
          <a:p>
            <a:endParaRPr lang="en-US" sz="2000" dirty="0"/>
          </a:p>
          <a:p>
            <a:r>
              <a:rPr lang="en-US" sz="2000" dirty="0"/>
              <a:t>Each offered Course is “instantiated” by one or more “</a:t>
            </a:r>
            <a:r>
              <a:rPr lang="en-US" sz="2000" b="1" dirty="0">
                <a:solidFill>
                  <a:srgbClr val="C00000"/>
                </a:solidFill>
              </a:rPr>
              <a:t>Sections</a:t>
            </a:r>
            <a:r>
              <a:rPr lang="en-US" sz="2000" dirty="0"/>
              <a:t>”.  Each Section is assigned  a Section number (ex: 061), and a </a:t>
            </a:r>
            <a:r>
              <a:rPr lang="en-US" sz="2000" b="1" dirty="0">
                <a:solidFill>
                  <a:srgbClr val="C00000"/>
                </a:solidFill>
              </a:rPr>
              <a:t>Schedule</a:t>
            </a:r>
            <a:r>
              <a:rPr lang="en-US" sz="2000" dirty="0"/>
              <a:t> which defines the set of times during the week when it meets.  It is also assigned a </a:t>
            </a:r>
            <a:r>
              <a:rPr lang="en-US" sz="2000" b="1" dirty="0">
                <a:solidFill>
                  <a:srgbClr val="C00000"/>
                </a:solidFill>
              </a:rPr>
              <a:t>Teacher</a:t>
            </a:r>
            <a:r>
              <a:rPr lang="en-US" sz="2000" dirty="0"/>
              <a:t> who is both qualified and willing to teach that course, and who has no Schedule conflicts with it.  It is also assigned a </a:t>
            </a:r>
            <a:r>
              <a:rPr lang="en-US" sz="2000" b="1" dirty="0">
                <a:solidFill>
                  <a:srgbClr val="C00000"/>
                </a:solidFill>
              </a:rPr>
              <a:t>Room</a:t>
            </a:r>
            <a:r>
              <a:rPr lang="en-US" sz="2000" dirty="0"/>
              <a:t>, which also must be free during those times the Section meets.</a:t>
            </a:r>
          </a:p>
          <a:p>
            <a:endParaRPr lang="en-US" sz="900" dirty="0"/>
          </a:p>
          <a:p>
            <a:r>
              <a:rPr lang="en-US" sz="2000" b="1" dirty="0">
                <a:solidFill>
                  <a:srgbClr val="C00000"/>
                </a:solidFill>
              </a:rPr>
              <a:t>Students</a:t>
            </a:r>
            <a:r>
              <a:rPr lang="en-US" sz="2000" dirty="0"/>
              <a:t> may then attempt to enroll in a Section if they are paid up, have taken all its required </a:t>
            </a:r>
            <a:r>
              <a:rPr lang="en-US" sz="2000" b="1" dirty="0">
                <a:solidFill>
                  <a:srgbClr val="C00000"/>
                </a:solidFill>
              </a:rPr>
              <a:t>Prerequisites</a:t>
            </a:r>
            <a:r>
              <a:rPr lang="en-US" sz="2000" dirty="0"/>
              <a:t>, are not currently enrolled in any Section of the course, and if they are not already enrolled in another Section with a conflicting Schedule .</a:t>
            </a:r>
          </a:p>
          <a:p>
            <a:endParaRPr lang="en-US" sz="900" dirty="0"/>
          </a:p>
          <a:p>
            <a:r>
              <a:rPr lang="en-US" sz="2000" dirty="0"/>
              <a:t>Depending upon the size of the Section and the number of Students already enrolled, the Student’s enrollment request may either be accepted, or the Student may be wait listed, or the request may be denied.  If the Student is accepted, she will be assigned a </a:t>
            </a:r>
            <a:r>
              <a:rPr lang="en-US" sz="2000" b="1" dirty="0">
                <a:solidFill>
                  <a:srgbClr val="C00000"/>
                </a:solidFill>
              </a:rPr>
              <a:t>Seat</a:t>
            </a:r>
            <a:r>
              <a:rPr lang="en-US" sz="2000" dirty="0"/>
              <a:t>, her attendance will be tracked and at the end of the academic quarter she will receive a final grade for the Section.</a:t>
            </a:r>
          </a:p>
        </p:txBody>
      </p:sp>
    </p:spTree>
    <p:extLst>
      <p:ext uri="{BB962C8B-B14F-4D97-AF65-F5344CB8AC3E}">
        <p14:creationId xmlns:p14="http://schemas.microsoft.com/office/powerpoint/2010/main" val="3845276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6" y="57966"/>
            <a:ext cx="8964304" cy="864248"/>
          </a:xfrm>
        </p:spPr>
        <p:txBody>
          <a:bodyPr>
            <a:normAutofit fontScale="90000"/>
          </a:bodyPr>
          <a:lstStyle/>
          <a:p>
            <a:r>
              <a:rPr lang="en-US" b="1" dirty="0">
                <a:solidFill>
                  <a:srgbClr val="002060"/>
                </a:solidFill>
              </a:rPr>
              <a:t>Common Application-specific Vocabulary</a:t>
            </a:r>
            <a:br>
              <a:rPr lang="en-US" b="1" dirty="0">
                <a:solidFill>
                  <a:srgbClr val="002060"/>
                </a:solidFill>
              </a:rPr>
            </a:br>
            <a:r>
              <a:rPr lang="en-US" sz="3200" b="1" dirty="0">
                <a:solidFill>
                  <a:srgbClr val="002060"/>
                </a:solidFill>
              </a:rPr>
              <a:t>(created by Software Architect, spoken by everyone)</a:t>
            </a:r>
            <a:endParaRPr lang="en-US" b="1" dirty="0">
              <a:solidFill>
                <a:srgbClr val="002060"/>
              </a:solidFill>
            </a:endParaRPr>
          </a:p>
        </p:txBody>
      </p:sp>
      <p:sp>
        <p:nvSpPr>
          <p:cNvPr id="5" name="Oval 4"/>
          <p:cNvSpPr/>
          <p:nvPr/>
        </p:nvSpPr>
        <p:spPr>
          <a:xfrm>
            <a:off x="139040" y="1300855"/>
            <a:ext cx="2182504" cy="1752600"/>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Domain Expert</a:t>
            </a:r>
          </a:p>
        </p:txBody>
      </p:sp>
      <p:sp>
        <p:nvSpPr>
          <p:cNvPr id="14" name="Oval 13"/>
          <p:cNvSpPr/>
          <p:nvPr/>
        </p:nvSpPr>
        <p:spPr>
          <a:xfrm>
            <a:off x="6248400" y="1277735"/>
            <a:ext cx="2895600" cy="177572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Programmer</a:t>
            </a:r>
          </a:p>
        </p:txBody>
      </p:sp>
      <p:sp>
        <p:nvSpPr>
          <p:cNvPr id="11" name="Oval 10"/>
          <p:cNvSpPr/>
          <p:nvPr/>
        </p:nvSpPr>
        <p:spPr>
          <a:xfrm>
            <a:off x="2913372" y="1219200"/>
            <a:ext cx="2743200" cy="1915909"/>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Software</a:t>
            </a:r>
          </a:p>
          <a:p>
            <a:pPr algn="ctr"/>
            <a:r>
              <a:rPr lang="en-US" sz="2800" b="1" dirty="0">
                <a:solidFill>
                  <a:schemeClr val="tx1"/>
                </a:solidFill>
              </a:rPr>
              <a:t>Architect</a:t>
            </a:r>
          </a:p>
        </p:txBody>
      </p:sp>
      <p:sp>
        <p:nvSpPr>
          <p:cNvPr id="15" name="TextBox 14"/>
          <p:cNvSpPr txBox="1"/>
          <p:nvPr/>
        </p:nvSpPr>
        <p:spPr>
          <a:xfrm>
            <a:off x="889948" y="3322159"/>
            <a:ext cx="7239000" cy="3477875"/>
          </a:xfrm>
          <a:prstGeom prst="rect">
            <a:avLst/>
          </a:prstGeom>
          <a:noFill/>
        </p:spPr>
        <p:txBody>
          <a:bodyPr wrap="square" rtlCol="0">
            <a:spAutoFit/>
          </a:bodyPr>
          <a:lstStyle/>
          <a:p>
            <a:r>
              <a:rPr lang="en-US" sz="2000" b="1" dirty="0">
                <a:solidFill>
                  <a:srgbClr val="C00000"/>
                </a:solidFill>
                <a:latin typeface="Arial" panose="020B0604020202020204" pitchFamily="34" charset="0"/>
                <a:cs typeface="Arial" panose="020B0604020202020204" pitchFamily="34" charset="0"/>
                <a:sym typeface="Wingdings" panose="05000000000000000000" pitchFamily="2" charset="2"/>
              </a:rPr>
              <a:t>  &lt;Noun = Class / Verb = “method”  / Adjective = “type of”&gt;</a:t>
            </a:r>
          </a:p>
          <a:p>
            <a:endParaRPr lang="en-US" sz="2000" b="1" dirty="0">
              <a:solidFill>
                <a:srgbClr val="C00000"/>
              </a:solidFill>
              <a:latin typeface="Arial" panose="020B0604020202020204" pitchFamily="34" charset="0"/>
              <a:cs typeface="Arial" panose="020B0604020202020204" pitchFamily="34" charset="0"/>
              <a:sym typeface="Wingdings" panose="05000000000000000000" pitchFamily="2" charset="2"/>
            </a:endParaRPr>
          </a:p>
          <a:p>
            <a:r>
              <a:rPr lang="en-US" sz="2000" b="1" dirty="0">
                <a:solidFill>
                  <a:srgbClr val="C00000"/>
                </a:solidFill>
                <a:latin typeface="Arial" panose="020B0604020202020204" pitchFamily="34" charset="0"/>
                <a:cs typeface="Arial" panose="020B0604020202020204" pitchFamily="34" charset="0"/>
              </a:rPr>
              <a:t> Ex: </a:t>
            </a:r>
            <a:r>
              <a:rPr lang="en-US" sz="2000" b="1" i="1" dirty="0">
                <a:solidFill>
                  <a:srgbClr val="C00000"/>
                </a:solidFill>
                <a:latin typeface="Arial" panose="020B0604020202020204" pitchFamily="34" charset="0"/>
                <a:cs typeface="Arial" panose="020B0604020202020204" pitchFamily="34" charset="0"/>
              </a:rPr>
              <a:t>“A foreign student enrolls in a virtual section”</a:t>
            </a:r>
          </a:p>
          <a:p>
            <a:endParaRPr lang="en-US" sz="2000" b="1" i="1" dirty="0">
              <a:solidFill>
                <a:srgbClr val="C00000"/>
              </a:solidFill>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“Student” </a:t>
            </a:r>
            <a:r>
              <a:rPr lang="en-US" sz="2000" b="1" dirty="0">
                <a:solidFill>
                  <a:srgbClr val="002060"/>
                </a:solidFill>
                <a:latin typeface="Arial" panose="020B0604020202020204" pitchFamily="34" charset="0"/>
                <a:cs typeface="Arial" panose="020B0604020202020204" pitchFamily="34" charset="0"/>
              </a:rPr>
              <a:t>is a class</a:t>
            </a:r>
          </a:p>
          <a:p>
            <a:pPr marL="800100" lvl="1"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“Foreign” </a:t>
            </a:r>
            <a:r>
              <a:rPr lang="en-US" sz="2000" b="1" dirty="0">
                <a:solidFill>
                  <a:srgbClr val="002060"/>
                </a:solidFill>
                <a:latin typeface="Arial" panose="020B0604020202020204" pitchFamily="34" charset="0"/>
                <a:cs typeface="Arial" panose="020B0604020202020204" pitchFamily="34" charset="0"/>
              </a:rPr>
              <a:t>is a type of </a:t>
            </a:r>
            <a:r>
              <a:rPr lang="en-US" sz="2000" b="1" i="1" dirty="0">
                <a:solidFill>
                  <a:srgbClr val="002060"/>
                </a:solidFill>
                <a:latin typeface="Arial" panose="020B0604020202020204" pitchFamily="34" charset="0"/>
                <a:cs typeface="Arial" panose="020B0604020202020204" pitchFamily="34" charset="0"/>
              </a:rPr>
              <a:t>Student (child class?)</a:t>
            </a:r>
          </a:p>
          <a:p>
            <a:pPr marL="800100" lvl="1"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“Section” </a:t>
            </a:r>
            <a:r>
              <a:rPr lang="en-US" sz="2000" b="1" dirty="0">
                <a:solidFill>
                  <a:srgbClr val="002060"/>
                </a:solidFill>
                <a:latin typeface="Arial" panose="020B0604020202020204" pitchFamily="34" charset="0"/>
                <a:cs typeface="Arial" panose="020B0604020202020204" pitchFamily="34" charset="0"/>
              </a:rPr>
              <a:t>is a class</a:t>
            </a:r>
          </a:p>
          <a:p>
            <a:pPr marL="800100" lvl="1"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“Virtual” </a:t>
            </a:r>
            <a:r>
              <a:rPr lang="en-US" sz="2000" b="1" dirty="0">
                <a:solidFill>
                  <a:srgbClr val="002060"/>
                </a:solidFill>
                <a:latin typeface="Arial" panose="020B0604020202020204" pitchFamily="34" charset="0"/>
                <a:cs typeface="Arial" panose="020B0604020202020204" pitchFamily="34" charset="0"/>
              </a:rPr>
              <a:t>is a type of </a:t>
            </a:r>
            <a:r>
              <a:rPr lang="en-US" sz="2000" b="1" i="1" dirty="0">
                <a:solidFill>
                  <a:srgbClr val="002060"/>
                </a:solidFill>
                <a:latin typeface="Arial" panose="020B0604020202020204" pitchFamily="34" charset="0"/>
                <a:cs typeface="Arial" panose="020B0604020202020204" pitchFamily="34" charset="0"/>
              </a:rPr>
              <a:t>Section</a:t>
            </a:r>
            <a:r>
              <a:rPr lang="en-US" sz="2000" b="1" dirty="0">
                <a:solidFill>
                  <a:srgbClr val="002060"/>
                </a:solidFill>
                <a:latin typeface="Arial" panose="020B0604020202020204" pitchFamily="34" charset="0"/>
                <a:cs typeface="Arial" panose="020B0604020202020204" pitchFamily="34" charset="0"/>
              </a:rPr>
              <a:t> </a:t>
            </a:r>
            <a:r>
              <a:rPr lang="en-US" sz="2000" b="1" i="1" dirty="0">
                <a:solidFill>
                  <a:srgbClr val="002060"/>
                </a:solidFill>
                <a:latin typeface="Arial" panose="020B0604020202020204" pitchFamily="34" charset="0"/>
                <a:cs typeface="Arial" panose="020B0604020202020204" pitchFamily="34" charset="0"/>
              </a:rPr>
              <a:t>(child class?)</a:t>
            </a:r>
          </a:p>
          <a:p>
            <a:pPr marL="800100" lvl="1"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“Enroll” is a public method of either:</a:t>
            </a:r>
          </a:p>
          <a:p>
            <a:pPr marL="1257300" lvl="2"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Student:: enroll (Section&amp;)</a:t>
            </a:r>
          </a:p>
          <a:p>
            <a:pPr marL="1257300" lvl="2" indent="-342900">
              <a:buFont typeface="Arial" panose="020B0604020202020204" pitchFamily="34" charset="0"/>
              <a:buChar char="•"/>
            </a:pPr>
            <a:r>
              <a:rPr lang="en-US" sz="2000" b="1" i="1" dirty="0">
                <a:solidFill>
                  <a:srgbClr val="002060"/>
                </a:solidFill>
                <a:latin typeface="Arial" panose="020B0604020202020204" pitchFamily="34" charset="0"/>
                <a:cs typeface="Arial" panose="020B0604020202020204" pitchFamily="34" charset="0"/>
              </a:rPr>
              <a:t>Section:: enroll (Student&amp;)</a:t>
            </a:r>
          </a:p>
        </p:txBody>
      </p:sp>
    </p:spTree>
    <p:extLst>
      <p:ext uri="{BB962C8B-B14F-4D97-AF65-F5344CB8AC3E}">
        <p14:creationId xmlns:p14="http://schemas.microsoft.com/office/powerpoint/2010/main" val="1478466488"/>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b="1" dirty="0"/>
              <a:t>Design Patterns</a:t>
            </a:r>
          </a:p>
        </p:txBody>
      </p:sp>
      <p:sp>
        <p:nvSpPr>
          <p:cNvPr id="3" name="Content Placeholder 2"/>
          <p:cNvSpPr>
            <a:spLocks noGrp="1"/>
          </p:cNvSpPr>
          <p:nvPr>
            <p:ph idx="1"/>
          </p:nvPr>
        </p:nvSpPr>
        <p:spPr>
          <a:xfrm>
            <a:off x="0" y="990601"/>
            <a:ext cx="9296400" cy="5867400"/>
          </a:xfrm>
        </p:spPr>
        <p:txBody>
          <a:bodyPr/>
          <a:lstStyle/>
          <a:p>
            <a:r>
              <a:rPr lang="en-US" dirty="0"/>
              <a:t>Provide solutions to </a:t>
            </a:r>
            <a:r>
              <a:rPr lang="en-US" b="1" dirty="0"/>
              <a:t>software design problems</a:t>
            </a:r>
            <a:r>
              <a:rPr lang="en-US" dirty="0"/>
              <a:t> that pop up again and again in real-world application development (like “N:N relationships”). </a:t>
            </a:r>
          </a:p>
          <a:p>
            <a:r>
              <a:rPr lang="en-US" dirty="0"/>
              <a:t>Formally document these designs so they can be reused (in the same way Object Libraries allow code to be reused).</a:t>
            </a:r>
          </a:p>
          <a:p>
            <a:r>
              <a:rPr lang="en-US" dirty="0"/>
              <a:t>Design Patterns (Elements of Reusable OO Software)</a:t>
            </a:r>
          </a:p>
          <a:p>
            <a:pPr lvl="1"/>
            <a:r>
              <a:rPr lang="en-US" dirty="0"/>
              <a:t>Gamma, Helm, Johnson, </a:t>
            </a:r>
            <a:r>
              <a:rPr lang="en-US" dirty="0" err="1"/>
              <a:t>Vlissides</a:t>
            </a:r>
            <a:r>
              <a:rPr lang="en-US" dirty="0"/>
              <a:t> (Gang of 4)</a:t>
            </a:r>
          </a:p>
          <a:p>
            <a:pPr marL="0" indent="0">
              <a:buNone/>
            </a:pPr>
            <a:r>
              <a:rPr lang="en-US" dirty="0">
                <a:hlinkClick r:id="rId2"/>
              </a:rPr>
              <a:t>http://www.uml.org.cn/c++/pdf/DesignPatterns.pdf</a:t>
            </a:r>
            <a:endParaRPr lang="en-US" dirty="0"/>
          </a:p>
          <a:p>
            <a:endParaRPr lang="en-US" dirty="0"/>
          </a:p>
        </p:txBody>
      </p:sp>
    </p:spTree>
    <p:extLst>
      <p:ext uri="{BB962C8B-B14F-4D97-AF65-F5344CB8AC3E}">
        <p14:creationId xmlns:p14="http://schemas.microsoft.com/office/powerpoint/2010/main" val="261675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067800" cy="762000"/>
          </a:xfrm>
        </p:spPr>
        <p:txBody>
          <a:bodyPr>
            <a:normAutofit/>
          </a:bodyPr>
          <a:lstStyle/>
          <a:p>
            <a:r>
              <a:rPr lang="en-US" sz="4000" b="1" dirty="0">
                <a:solidFill>
                  <a:srgbClr val="002060"/>
                </a:solidFill>
                <a:latin typeface="Arial" panose="020B0604020202020204" pitchFamily="34" charset="0"/>
                <a:cs typeface="Arial" panose="020B0604020202020204" pitchFamily="34" charset="0"/>
              </a:rPr>
              <a:t>Ex: Policy Customization</a:t>
            </a:r>
          </a:p>
        </p:txBody>
      </p:sp>
      <p:sp>
        <p:nvSpPr>
          <p:cNvPr id="3" name="Content Placeholder 2"/>
          <p:cNvSpPr>
            <a:spLocks noGrp="1"/>
          </p:cNvSpPr>
          <p:nvPr>
            <p:ph idx="1"/>
          </p:nvPr>
        </p:nvSpPr>
        <p:spPr>
          <a:xfrm>
            <a:off x="0" y="762000"/>
            <a:ext cx="9144000" cy="6096000"/>
          </a:xfrm>
        </p:spPr>
        <p:txBody>
          <a:bodyPr>
            <a:normAutofit/>
          </a:bodyPr>
          <a:lstStyle/>
          <a:p>
            <a:pPr marL="0" indent="0">
              <a:buNone/>
            </a:pPr>
            <a:r>
              <a:rPr lang="en-US" sz="2000" dirty="0">
                <a:latin typeface="Arial" panose="020B0604020202020204" pitchFamily="34" charset="0"/>
                <a:cs typeface="Arial" panose="020B0604020202020204" pitchFamily="34" charset="0"/>
              </a:rPr>
              <a:t>We hope to resell our Enrollment System to other city and county Colleges, educational training departments and educational institutions. Each of these will have different policies regarding things like:</a:t>
            </a:r>
          </a:p>
          <a:p>
            <a:pPr marL="0" indent="0">
              <a:buNone/>
            </a:pPr>
            <a:endParaRPr lang="en-US" sz="9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Maximum number of credits a Student can take in a given term</a:t>
            </a:r>
          </a:p>
          <a:p>
            <a:pPr lvl="1"/>
            <a:r>
              <a:rPr lang="en-US" sz="2000" dirty="0">
                <a:latin typeface="Arial" panose="020B0604020202020204" pitchFamily="34" charset="0"/>
                <a:cs typeface="Arial" panose="020B0604020202020204" pitchFamily="34" charset="0"/>
              </a:rPr>
              <a:t>Minimum number of office hours made available to Students in a Section</a:t>
            </a:r>
          </a:p>
          <a:p>
            <a:pPr lvl="1"/>
            <a:r>
              <a:rPr lang="en-US" sz="2000" dirty="0">
                <a:latin typeface="Arial" panose="020B0604020202020204" pitchFamily="34" charset="0"/>
                <a:cs typeface="Arial" panose="020B0604020202020204" pitchFamily="34" charset="0"/>
              </a:rPr>
              <a:t>Minimum number of enrolled Students a Section needs for it not to be cancelled.</a:t>
            </a:r>
          </a:p>
          <a:p>
            <a:pPr marL="0" indent="0">
              <a:buNone/>
            </a:pPr>
            <a:r>
              <a:rPr lang="en-US" sz="2000" b="1" dirty="0">
                <a:latin typeface="Arial" panose="020B0604020202020204" pitchFamily="34" charset="0"/>
                <a:cs typeface="Arial" panose="020B0604020202020204" pitchFamily="34" charset="0"/>
              </a:rPr>
              <a:t>So how do we avoid / minimize “recoding” parts of our application every time we make a new sale, to reflect the set of policies in place within the new customer’s organization?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(Note:  Eliminating ALL such policy-based coding changes pays huge dividends.  We can then have a common source code tree for all our customers, greatly reducing costs concerned with adding new features and issuing patches, because we would only have to “stage” one version of the code for testing the effects of any new code change across our entire customer base.)</a:t>
            </a:r>
          </a:p>
          <a:p>
            <a:pPr lvl="1"/>
            <a:endParaRPr lang="en-US" b="1" dirty="0">
              <a:solidFill>
                <a:srgbClr val="C00000"/>
              </a:solidFill>
            </a:endParaRPr>
          </a:p>
          <a:p>
            <a:endParaRPr lang="en-US" b="1" dirty="0"/>
          </a:p>
          <a:p>
            <a:pPr lvl="1"/>
            <a:endParaRPr lang="en-US" dirty="0"/>
          </a:p>
        </p:txBody>
      </p:sp>
      <p:pic>
        <p:nvPicPr>
          <p:cNvPr id="5" name="Picture 4">
            <a:extLst>
              <a:ext uri="{FF2B5EF4-FFF2-40B4-BE49-F238E27FC236}">
                <a16:creationId xmlns:a16="http://schemas.microsoft.com/office/drawing/2014/main" id="{551FC6F7-660B-4606-A799-67890F239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7200" y="4114800"/>
            <a:ext cx="887901" cy="1028096"/>
          </a:xfrm>
          <a:prstGeom prst="rect">
            <a:avLst/>
          </a:prstGeom>
        </p:spPr>
      </p:pic>
    </p:spTree>
    <p:extLst>
      <p:ext uri="{BB962C8B-B14F-4D97-AF65-F5344CB8AC3E}">
        <p14:creationId xmlns:p14="http://schemas.microsoft.com/office/powerpoint/2010/main" val="3024901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273" y="0"/>
            <a:ext cx="8229600" cy="868362"/>
          </a:xfrm>
        </p:spPr>
        <p:txBody>
          <a:bodyPr/>
          <a:lstStyle/>
          <a:p>
            <a:r>
              <a:rPr lang="en-US" b="1" dirty="0"/>
              <a:t>Fixed Property Design Pattern</a:t>
            </a:r>
          </a:p>
        </p:txBody>
      </p:sp>
      <p:sp>
        <p:nvSpPr>
          <p:cNvPr id="3" name="Content Placeholder 2"/>
          <p:cNvSpPr>
            <a:spLocks noGrp="1"/>
          </p:cNvSpPr>
          <p:nvPr>
            <p:ph idx="1"/>
          </p:nvPr>
        </p:nvSpPr>
        <p:spPr>
          <a:xfrm>
            <a:off x="0" y="868362"/>
            <a:ext cx="9144000" cy="5989638"/>
          </a:xfrm>
        </p:spPr>
        <p:txBody>
          <a:bodyPr>
            <a:normAutofit fontScale="92500"/>
          </a:bodyPr>
          <a:lstStyle/>
          <a:p>
            <a:r>
              <a:rPr lang="en-US" b="1" dirty="0"/>
              <a:t>Name</a:t>
            </a:r>
            <a:r>
              <a:rPr lang="en-US" dirty="0"/>
              <a:t>:  Fixed Property</a:t>
            </a:r>
          </a:p>
          <a:p>
            <a:r>
              <a:rPr lang="en-US" b="1" dirty="0"/>
              <a:t>Classification</a:t>
            </a:r>
            <a:r>
              <a:rPr lang="en-US" dirty="0"/>
              <a:t>:  Structural</a:t>
            </a:r>
          </a:p>
          <a:p>
            <a:r>
              <a:rPr lang="en-US" b="1" dirty="0"/>
              <a:t>Intent:</a:t>
            </a:r>
            <a:r>
              <a:rPr lang="en-US" dirty="0"/>
              <a:t> Minimize changes by encapsulating Site Policies </a:t>
            </a:r>
          </a:p>
          <a:p>
            <a:r>
              <a:rPr lang="en-US" b="1" dirty="0"/>
              <a:t>Applicability (use when)</a:t>
            </a:r>
          </a:p>
          <a:p>
            <a:pPr lvl="1"/>
            <a:r>
              <a:rPr lang="en-US" dirty="0"/>
              <a:t>Many business constants are site specific</a:t>
            </a:r>
          </a:p>
          <a:p>
            <a:pPr lvl="1"/>
            <a:r>
              <a:rPr lang="en-US" dirty="0"/>
              <a:t>Many business constants actually change on a regular basis</a:t>
            </a:r>
          </a:p>
          <a:p>
            <a:r>
              <a:rPr lang="en-US" b="1" dirty="0"/>
              <a:t>Participants / Collaborations:   </a:t>
            </a:r>
            <a:r>
              <a:rPr lang="en-US" dirty="0"/>
              <a:t>N/A</a:t>
            </a:r>
          </a:p>
          <a:p>
            <a:r>
              <a:rPr lang="en-US" b="1" dirty="0"/>
              <a:t>Implementation Guide</a:t>
            </a:r>
          </a:p>
          <a:p>
            <a:pPr lvl="1"/>
            <a:r>
              <a:rPr lang="en-US" dirty="0"/>
              <a:t>Single “value = get (key)” method</a:t>
            </a:r>
          </a:p>
          <a:p>
            <a:r>
              <a:rPr lang="en-US" b="1" dirty="0"/>
              <a:t>Known Uses</a:t>
            </a:r>
          </a:p>
          <a:p>
            <a:pPr lvl="1"/>
            <a:r>
              <a:rPr lang="en-US" dirty="0"/>
              <a:t>Reduces support costs for multi-site application software</a:t>
            </a:r>
          </a:p>
        </p:txBody>
      </p:sp>
    </p:spTree>
    <p:extLst>
      <p:ext uri="{BB962C8B-B14F-4D97-AF65-F5344CB8AC3E}">
        <p14:creationId xmlns:p14="http://schemas.microsoft.com/office/powerpoint/2010/main" val="10567882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491"/>
            <a:ext cx="9144000" cy="1006091"/>
          </a:xfrm>
        </p:spPr>
        <p:txBody>
          <a:bodyPr>
            <a:noAutofit/>
          </a:bodyPr>
          <a:lstStyle/>
          <a:p>
            <a:r>
              <a:rPr lang="en-US" sz="3200" b="1" dirty="0">
                <a:solidFill>
                  <a:srgbClr val="002060"/>
                </a:solidFill>
              </a:rPr>
              <a:t>Encapsulate the Site Policy: </a:t>
            </a:r>
            <a:br>
              <a:rPr lang="en-US" sz="3200" b="1" dirty="0">
                <a:solidFill>
                  <a:srgbClr val="002060"/>
                </a:solidFill>
              </a:rPr>
            </a:br>
            <a:r>
              <a:rPr lang="en-US" sz="3200" b="1" dirty="0">
                <a:solidFill>
                  <a:srgbClr val="002060"/>
                </a:solidFill>
              </a:rPr>
              <a:t>“Fixed Property” Design Pattern</a:t>
            </a:r>
          </a:p>
        </p:txBody>
      </p:sp>
      <p:sp>
        <p:nvSpPr>
          <p:cNvPr id="5" name="Right Arrow 4"/>
          <p:cNvSpPr/>
          <p:nvPr/>
        </p:nvSpPr>
        <p:spPr>
          <a:xfrm rot="10800000">
            <a:off x="3778876" y="2220674"/>
            <a:ext cx="1021724" cy="6858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6" name="Table 5"/>
          <p:cNvGraphicFramePr>
            <a:graphicFrameLocks noGrp="1"/>
          </p:cNvGraphicFramePr>
          <p:nvPr/>
        </p:nvGraphicFramePr>
        <p:xfrm>
          <a:off x="4953000" y="1493014"/>
          <a:ext cx="4038600" cy="2258775"/>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775415">
                <a:tc>
                  <a:txBody>
                    <a:bodyPr/>
                    <a:lstStyle/>
                    <a:p>
                      <a:pPr algn="ctr"/>
                      <a:r>
                        <a:rPr lang="en-US" dirty="0">
                          <a:solidFill>
                            <a:srgbClr val="002060"/>
                          </a:solidFill>
                        </a:rPr>
                        <a:t>         Key</a:t>
                      </a:r>
                    </a:p>
                    <a:p>
                      <a:pPr algn="ctr"/>
                      <a:r>
                        <a:rPr lang="en-US" baseline="0" dirty="0">
                          <a:solidFill>
                            <a:srgbClr val="002060"/>
                          </a:solidFill>
                        </a:rPr>
                        <a:t>(</a:t>
                      </a:r>
                      <a:r>
                        <a:rPr lang="en-US" i="1" dirty="0" err="1">
                          <a:solidFill>
                            <a:srgbClr val="002060"/>
                          </a:solidFill>
                        </a:rPr>
                        <a:t>PolicyName</a:t>
                      </a:r>
                      <a:r>
                        <a:rPr lang="en-US" dirty="0">
                          <a:solidFill>
                            <a:srgbClr val="002060"/>
                          </a:solidFill>
                        </a:rPr>
                        <a:t> String)</a:t>
                      </a:r>
                    </a:p>
                  </a:txBody>
                  <a:tcPr>
                    <a:solidFill>
                      <a:schemeClr val="bg2">
                        <a:lumMod val="75000"/>
                      </a:schemeClr>
                    </a:solidFill>
                  </a:tcPr>
                </a:tc>
                <a:tc>
                  <a:txBody>
                    <a:bodyPr/>
                    <a:lstStyle/>
                    <a:p>
                      <a:pPr algn="ctr"/>
                      <a:r>
                        <a:rPr lang="en-US" baseline="0" dirty="0">
                          <a:solidFill>
                            <a:srgbClr val="002060"/>
                          </a:solidFill>
                        </a:rPr>
                        <a:t>        Value</a:t>
                      </a:r>
                    </a:p>
                    <a:p>
                      <a:pPr algn="ctr"/>
                      <a:r>
                        <a:rPr lang="en-US" baseline="0" dirty="0">
                          <a:solidFill>
                            <a:srgbClr val="002060"/>
                          </a:solidFill>
                        </a:rPr>
                        <a:t>   (Site Specific)</a:t>
                      </a:r>
                      <a:endParaRPr lang="en-US" dirty="0">
                        <a:solidFill>
                          <a:srgbClr val="002060"/>
                        </a:solidFill>
                      </a:endParaRPr>
                    </a:p>
                  </a:txBody>
                  <a:tcPr>
                    <a:solidFill>
                      <a:schemeClr val="bg2">
                        <a:lumMod val="75000"/>
                      </a:schemeClr>
                    </a:solidFill>
                  </a:tcPr>
                </a:tc>
                <a:extLst>
                  <a:ext uri="{0D108BD9-81ED-4DB2-BD59-A6C34878D82A}">
                    <a16:rowId xmlns:a16="http://schemas.microsoft.com/office/drawing/2014/main" val="10000"/>
                  </a:ext>
                </a:extLst>
              </a:tr>
              <a:tr h="370840">
                <a:tc>
                  <a:txBody>
                    <a:bodyPr/>
                    <a:lstStyle/>
                    <a:p>
                      <a:r>
                        <a:rPr lang="en-US" dirty="0" err="1">
                          <a:solidFill>
                            <a:srgbClr val="002060"/>
                          </a:solidFill>
                        </a:rPr>
                        <a:t>MaxDaysOnLoan</a:t>
                      </a:r>
                      <a:endParaRPr lang="en-US" dirty="0">
                        <a:solidFill>
                          <a:srgbClr val="002060"/>
                        </a:solidFill>
                      </a:endParaRPr>
                    </a:p>
                  </a:txBody>
                  <a:tcPr/>
                </a:tc>
                <a:tc>
                  <a:txBody>
                    <a:bodyPr/>
                    <a:lstStyle/>
                    <a:p>
                      <a:pPr algn="ctr"/>
                      <a:r>
                        <a:rPr lang="en-US" dirty="0">
                          <a:solidFill>
                            <a:srgbClr val="002060"/>
                          </a:solidFill>
                        </a:rPr>
                        <a:t>10</a:t>
                      </a:r>
                    </a:p>
                  </a:txBody>
                  <a:tcPr/>
                </a:tc>
                <a:extLst>
                  <a:ext uri="{0D108BD9-81ED-4DB2-BD59-A6C34878D82A}">
                    <a16:rowId xmlns:a16="http://schemas.microsoft.com/office/drawing/2014/main" val="10001"/>
                  </a:ext>
                </a:extLst>
              </a:tr>
              <a:tr h="370840">
                <a:tc>
                  <a:txBody>
                    <a:bodyPr/>
                    <a:lstStyle/>
                    <a:p>
                      <a:r>
                        <a:rPr lang="en-US" dirty="0" err="1">
                          <a:solidFill>
                            <a:srgbClr val="002060"/>
                          </a:solidFill>
                        </a:rPr>
                        <a:t>FinePerDay</a:t>
                      </a:r>
                      <a:endParaRPr lang="en-US" dirty="0">
                        <a:solidFill>
                          <a:srgbClr val="002060"/>
                        </a:solidFill>
                      </a:endParaRPr>
                    </a:p>
                  </a:txBody>
                  <a:tcPr/>
                </a:tc>
                <a:tc>
                  <a:txBody>
                    <a:bodyPr/>
                    <a:lstStyle/>
                    <a:p>
                      <a:pPr algn="ctr"/>
                      <a:r>
                        <a:rPr lang="en-US" dirty="0">
                          <a:solidFill>
                            <a:srgbClr val="002060"/>
                          </a:solidFill>
                        </a:rPr>
                        <a:t>25</a:t>
                      </a:r>
                    </a:p>
                  </a:txBody>
                  <a:tcPr/>
                </a:tc>
                <a:extLst>
                  <a:ext uri="{0D108BD9-81ED-4DB2-BD59-A6C34878D82A}">
                    <a16:rowId xmlns:a16="http://schemas.microsoft.com/office/drawing/2014/main" val="10002"/>
                  </a:ext>
                </a:extLst>
              </a:tr>
              <a:tr h="370840">
                <a:tc>
                  <a:txBody>
                    <a:bodyPr/>
                    <a:lstStyle/>
                    <a:p>
                      <a:r>
                        <a:rPr lang="en-US" dirty="0" err="1">
                          <a:solidFill>
                            <a:srgbClr val="002060"/>
                          </a:solidFill>
                        </a:rPr>
                        <a:t>LibCardExpireMnth</a:t>
                      </a:r>
                      <a:endParaRPr lang="en-US" dirty="0">
                        <a:solidFill>
                          <a:srgbClr val="002060"/>
                        </a:solidFill>
                      </a:endParaRPr>
                    </a:p>
                  </a:txBody>
                  <a:tcPr/>
                </a:tc>
                <a:tc>
                  <a:txBody>
                    <a:bodyPr/>
                    <a:lstStyle/>
                    <a:p>
                      <a:pPr algn="ctr"/>
                      <a:r>
                        <a:rPr lang="en-US" dirty="0">
                          <a:solidFill>
                            <a:srgbClr val="002060"/>
                          </a:solidFill>
                        </a:rPr>
                        <a:t>18</a:t>
                      </a:r>
                    </a:p>
                  </a:txBody>
                  <a:tcPr/>
                </a:tc>
                <a:extLst>
                  <a:ext uri="{0D108BD9-81ED-4DB2-BD59-A6C34878D82A}">
                    <a16:rowId xmlns:a16="http://schemas.microsoft.com/office/drawing/2014/main" val="10003"/>
                  </a:ext>
                </a:extLst>
              </a:tr>
              <a:tr h="370840">
                <a:tc>
                  <a:txBody>
                    <a:bodyPr/>
                    <a:lstStyle/>
                    <a:p>
                      <a:r>
                        <a:rPr lang="en-US" dirty="0" err="1">
                          <a:solidFill>
                            <a:srgbClr val="002060"/>
                          </a:solidFill>
                        </a:rPr>
                        <a:t>SiteLicense</a:t>
                      </a:r>
                      <a:endParaRPr lang="en-US" dirty="0">
                        <a:solidFill>
                          <a:srgbClr val="002060"/>
                        </a:solidFill>
                      </a:endParaRPr>
                    </a:p>
                  </a:txBody>
                  <a:tcPr/>
                </a:tc>
                <a:tc>
                  <a:txBody>
                    <a:bodyPr/>
                    <a:lstStyle/>
                    <a:p>
                      <a:pPr algn="ctr"/>
                      <a:r>
                        <a:rPr lang="en-US" dirty="0">
                          <a:solidFill>
                            <a:srgbClr val="002060"/>
                          </a:solidFill>
                        </a:rPr>
                        <a:t>X31PGJ6</a:t>
                      </a:r>
                    </a:p>
                  </a:txBody>
                  <a:tcPr/>
                </a:tc>
                <a:extLst>
                  <a:ext uri="{0D108BD9-81ED-4DB2-BD59-A6C34878D82A}">
                    <a16:rowId xmlns:a16="http://schemas.microsoft.com/office/drawing/2014/main" val="10004"/>
                  </a:ext>
                </a:extLst>
              </a:tr>
            </a:tbl>
          </a:graphicData>
        </a:graphic>
      </p:graphicFrame>
      <p:sp>
        <p:nvSpPr>
          <p:cNvPr id="7" name="Rectangle 6"/>
          <p:cNvSpPr/>
          <p:nvPr/>
        </p:nvSpPr>
        <p:spPr>
          <a:xfrm>
            <a:off x="2061693" y="1562100"/>
            <a:ext cx="1676400" cy="2209800"/>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Site Policy Object </a:t>
            </a:r>
          </a:p>
        </p:txBody>
      </p:sp>
      <p:sp>
        <p:nvSpPr>
          <p:cNvPr id="8" name="TextBox 7"/>
          <p:cNvSpPr txBox="1"/>
          <p:nvPr/>
        </p:nvSpPr>
        <p:spPr>
          <a:xfrm>
            <a:off x="5347952" y="1143000"/>
            <a:ext cx="32266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On Disk Site Configuration File</a:t>
            </a:r>
          </a:p>
        </p:txBody>
      </p:sp>
      <p:sp>
        <p:nvSpPr>
          <p:cNvPr id="9" name="Rectangle 8"/>
          <p:cNvSpPr/>
          <p:nvPr/>
        </p:nvSpPr>
        <p:spPr>
          <a:xfrm>
            <a:off x="1680693" y="1562100"/>
            <a:ext cx="381000" cy="22098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I</a:t>
            </a:r>
          </a:p>
        </p:txBody>
      </p:sp>
      <p:sp>
        <p:nvSpPr>
          <p:cNvPr id="10" name="TextBox 9"/>
          <p:cNvSpPr txBox="1"/>
          <p:nvPr/>
        </p:nvSpPr>
        <p:spPr>
          <a:xfrm>
            <a:off x="482958" y="3962400"/>
            <a:ext cx="8103494"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The Site Policy Object has a Hash Table API with only a single method: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String Value = Policy::get(String Key);</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Any LIS28 object relying on a site-specific policy value may get that value by going to the Site Policy object, which reads and saves the contents of the Site Configuration File as part of its constructor logic.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a:t>
            </a:r>
            <a:r>
              <a:rPr kumimoji="0" lang="en-US" sz="2000" b="0" i="0" u="none" strike="noStrike" kern="1200" cap="none" spc="0" normalizeH="0" baseline="0" noProof="0" dirty="0">
                <a:ln>
                  <a:noFill/>
                </a:ln>
                <a:solidFill>
                  <a:prstClr val="black"/>
                </a:solidFill>
                <a:effectLst/>
                <a:uLnTx/>
                <a:uFillTx/>
                <a:latin typeface="Calibri"/>
                <a:ea typeface="+mn-ea"/>
                <a:cs typeface="+mn-cs"/>
              </a:rPr>
              <a:t>No code needs to change when application is run at a new site!</a:t>
            </a:r>
          </a:p>
        </p:txBody>
      </p:sp>
      <p:sp>
        <p:nvSpPr>
          <p:cNvPr id="11" name="TextBox 10"/>
          <p:cNvSpPr txBox="1"/>
          <p:nvPr/>
        </p:nvSpPr>
        <p:spPr>
          <a:xfrm>
            <a:off x="0" y="1149230"/>
            <a:ext cx="485479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http://martinfowler.com/apsupp/properties.pdf </a:t>
            </a:r>
          </a:p>
        </p:txBody>
      </p:sp>
    </p:spTree>
    <p:extLst>
      <p:ext uri="{BB962C8B-B14F-4D97-AF65-F5344CB8AC3E}">
        <p14:creationId xmlns:p14="http://schemas.microsoft.com/office/powerpoint/2010/main" val="16523267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4123" y="3164497"/>
            <a:ext cx="4355594" cy="3030557"/>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in a suit holding a microphone&#10;&#10;Description automatically generated">
            <a:extLst>
              <a:ext uri="{FF2B5EF4-FFF2-40B4-BE49-F238E27FC236}">
                <a16:creationId xmlns:a16="http://schemas.microsoft.com/office/drawing/2014/main" id="{7563DD15-1EE4-B2C7-F7CA-B72D5594DAC9}"/>
              </a:ext>
            </a:extLst>
          </p:cNvPr>
          <p:cNvPicPr>
            <a:picLocks noChangeAspect="1"/>
          </p:cNvPicPr>
          <p:nvPr/>
        </p:nvPicPr>
        <p:blipFill rotWithShape="1">
          <a:blip r:embed="rId2">
            <a:extLst>
              <a:ext uri="{28A0092B-C50C-407E-A947-70E740481C1C}">
                <a14:useLocalDpi xmlns:a14="http://schemas.microsoft.com/office/drawing/2010/main" val="0"/>
              </a:ext>
            </a:extLst>
          </a:blip>
          <a:srcRect l="4884"/>
          <a:stretch/>
        </p:blipFill>
        <p:spPr>
          <a:xfrm>
            <a:off x="3028949" y="10"/>
            <a:ext cx="6120019"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B0077C1-65A3-8FCB-00C5-33CADAE84399}"/>
              </a:ext>
            </a:extLst>
          </p:cNvPr>
          <p:cNvSpPr>
            <a:spLocks noGrp="1"/>
          </p:cNvSpPr>
          <p:nvPr>
            <p:ph type="title"/>
          </p:nvPr>
        </p:nvSpPr>
        <p:spPr>
          <a:xfrm>
            <a:off x="400854" y="2950387"/>
            <a:ext cx="2289220" cy="3531403"/>
          </a:xfrm>
        </p:spPr>
        <p:txBody>
          <a:bodyPr vert="horz" lIns="91440" tIns="45720" rIns="91440" bIns="45720" rtlCol="0" anchor="t">
            <a:normAutofit/>
          </a:bodyPr>
          <a:lstStyle/>
          <a:p>
            <a:pPr algn="r">
              <a:lnSpc>
                <a:spcPct val="90000"/>
              </a:lnSpc>
            </a:pPr>
            <a:r>
              <a:rPr lang="en-US" sz="3200">
                <a:solidFill>
                  <a:srgbClr val="FFFFFF"/>
                </a:solidFill>
              </a:rPr>
              <a:t>Can you architect a software Application?</a:t>
            </a:r>
          </a:p>
        </p:txBody>
      </p:sp>
    </p:spTree>
    <p:extLst>
      <p:ext uri="{BB962C8B-B14F-4D97-AF65-F5344CB8AC3E}">
        <p14:creationId xmlns:p14="http://schemas.microsoft.com/office/powerpoint/2010/main" val="4085017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838200"/>
          </a:xfrm>
        </p:spPr>
        <p:txBody>
          <a:bodyPr/>
          <a:lstStyle/>
          <a:p>
            <a:r>
              <a:rPr lang="en-US" b="1" dirty="0">
                <a:solidFill>
                  <a:srgbClr val="002060"/>
                </a:solidFill>
              </a:rPr>
              <a:t>Questions?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820" y="1219200"/>
            <a:ext cx="5614759" cy="5412164"/>
          </a:xfrm>
          <a:prstGeom prst="rect">
            <a:avLst/>
          </a:prstGeom>
        </p:spPr>
      </p:pic>
    </p:spTree>
    <p:extLst>
      <p:ext uri="{BB962C8B-B14F-4D97-AF65-F5344CB8AC3E}">
        <p14:creationId xmlns:p14="http://schemas.microsoft.com/office/powerpoint/2010/main" val="3434401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1446</TotalTime>
  <Words>3417</Words>
  <Application>Microsoft Office PowerPoint</Application>
  <PresentationFormat>On-screen Show (4:3)</PresentationFormat>
  <Paragraphs>534</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Wingdings</vt:lpstr>
      <vt:lpstr>Office Theme</vt:lpstr>
      <vt:lpstr>   Software Architecture</vt:lpstr>
      <vt:lpstr>Goal</vt:lpstr>
      <vt:lpstr>A useful Analogy: Architecting a House</vt:lpstr>
      <vt:lpstr>Home Buyer’s Functional Specification</vt:lpstr>
      <vt:lpstr>WRONG!!!</vt:lpstr>
      <vt:lpstr>So what does a Building Architect actually DO when starting the design of  a new building?</vt:lpstr>
      <vt:lpstr>A New Home</vt:lpstr>
      <vt:lpstr>Solidify the Functional Specification!</vt:lpstr>
      <vt:lpstr>Building Architect Deliverables</vt:lpstr>
      <vt:lpstr>So what does a Software Architect actually DO when starting development of a new software application?</vt:lpstr>
      <vt:lpstr>A New Home</vt:lpstr>
      <vt:lpstr>Taking the first Step on the road ahead</vt:lpstr>
      <vt:lpstr>FS: College Enrollment System</vt:lpstr>
      <vt:lpstr>WRONG!!!</vt:lpstr>
      <vt:lpstr>Software Architect Responsibilities</vt:lpstr>
      <vt:lpstr>Software Architect Responsibilities</vt:lpstr>
      <vt:lpstr>FS:  Enrollment System at De Anza College</vt:lpstr>
      <vt:lpstr>Basic Abstractions in Enrollment System</vt:lpstr>
      <vt:lpstr>Refining the Abstractions (1)</vt:lpstr>
      <vt:lpstr>Refining the Abstractions (2)</vt:lpstr>
      <vt:lpstr>Refining the Abstractions (3)</vt:lpstr>
      <vt:lpstr>Refining the Abstractions</vt:lpstr>
      <vt:lpstr>Refining the Abstractions</vt:lpstr>
      <vt:lpstr>Refining the Abstractions</vt:lpstr>
      <vt:lpstr>Basic Abstractions in Enrollment System</vt:lpstr>
      <vt:lpstr>Refined Abstractions in Enrollment System</vt:lpstr>
      <vt:lpstr>Re-Refining the Abstractions</vt:lpstr>
      <vt:lpstr>Re-Refining the Abstractions</vt:lpstr>
      <vt:lpstr>What exactly is a Prereq?</vt:lpstr>
      <vt:lpstr>Re-refined Abstractions in the De Anza Enrollment System</vt:lpstr>
      <vt:lpstr>CCD: Schedule of Classes</vt:lpstr>
      <vt:lpstr>Questions?</vt:lpstr>
      <vt:lpstr>   Software Architecture</vt:lpstr>
      <vt:lpstr>Goal</vt:lpstr>
      <vt:lpstr>CCD: Schedule of Classes</vt:lpstr>
      <vt:lpstr>Object Relationships (#1)</vt:lpstr>
      <vt:lpstr>Object Relationships (#2)</vt:lpstr>
      <vt:lpstr>Conceptual Class Diagram:  Enrollment</vt:lpstr>
      <vt:lpstr>Conceptual Class Diagram:  Enrollment</vt:lpstr>
      <vt:lpstr>Conceptual Class Diagram:  Enrollment</vt:lpstr>
      <vt:lpstr>Conceptual Class Diagram:  Enrollment</vt:lpstr>
      <vt:lpstr>Conceptual Class Diagram:  Enrollment</vt:lpstr>
      <vt:lpstr>PowerPoint Presentation</vt:lpstr>
      <vt:lpstr>PowerPoint Presentation</vt:lpstr>
      <vt:lpstr>PowerPoint Presentation</vt:lpstr>
      <vt:lpstr>Conceptual Class Diagram:  Enrollment</vt:lpstr>
      <vt:lpstr>Original Abstractions in Enrollment System</vt:lpstr>
      <vt:lpstr>Refined Abstractions in Enrollment System</vt:lpstr>
      <vt:lpstr>FS:  Enrollment System at De Anza College</vt:lpstr>
      <vt:lpstr>Common Application-specific Vocabulary (created by Software Architect, spoken by everyone)</vt:lpstr>
      <vt:lpstr>Design Patterns</vt:lpstr>
      <vt:lpstr>Ex: Policy Customization</vt:lpstr>
      <vt:lpstr>Fixed Property Design Pattern</vt:lpstr>
      <vt:lpstr>Encapsulate the Site Policy:  “Fixed Property” Design Pattern</vt:lpstr>
      <vt:lpstr>Can you architect a software Application?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28-061</dc:title>
  <dc:creator>Vicki</dc:creator>
  <cp:lastModifiedBy>VKleinman</cp:lastModifiedBy>
  <cp:revision>20</cp:revision>
  <dcterms:created xsi:type="dcterms:W3CDTF">2020-09-15T07:12:59Z</dcterms:created>
  <dcterms:modified xsi:type="dcterms:W3CDTF">2023-11-06T21:36:17Z</dcterms:modified>
</cp:coreProperties>
</file>